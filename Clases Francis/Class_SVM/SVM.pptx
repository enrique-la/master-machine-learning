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9"/>
  </p:notesMasterIdLst>
  <p:handoutMasterIdLst>
    <p:handoutMasterId r:id="rId40"/>
  </p:handoutMasterIdLst>
  <p:sldIdLst>
    <p:sldId id="256" r:id="rId2"/>
    <p:sldId id="323" r:id="rId3"/>
    <p:sldId id="415" r:id="rId4"/>
    <p:sldId id="418" r:id="rId5"/>
    <p:sldId id="417" r:id="rId6"/>
    <p:sldId id="416" r:id="rId7"/>
    <p:sldId id="419" r:id="rId8"/>
    <p:sldId id="420" r:id="rId9"/>
    <p:sldId id="421" r:id="rId10"/>
    <p:sldId id="422" r:id="rId11"/>
    <p:sldId id="424" r:id="rId12"/>
    <p:sldId id="423" r:id="rId13"/>
    <p:sldId id="425" r:id="rId14"/>
    <p:sldId id="427" r:id="rId15"/>
    <p:sldId id="428" r:id="rId16"/>
    <p:sldId id="429" r:id="rId17"/>
    <p:sldId id="431" r:id="rId18"/>
    <p:sldId id="430" r:id="rId19"/>
    <p:sldId id="432" r:id="rId20"/>
    <p:sldId id="433" r:id="rId21"/>
    <p:sldId id="434" r:id="rId22"/>
    <p:sldId id="435" r:id="rId23"/>
    <p:sldId id="436" r:id="rId24"/>
    <p:sldId id="437" r:id="rId25"/>
    <p:sldId id="438" r:id="rId26"/>
    <p:sldId id="439" r:id="rId27"/>
    <p:sldId id="440" r:id="rId28"/>
    <p:sldId id="441" r:id="rId29"/>
    <p:sldId id="442" r:id="rId30"/>
    <p:sldId id="443" r:id="rId31"/>
    <p:sldId id="444" r:id="rId32"/>
    <p:sldId id="445" r:id="rId33"/>
    <p:sldId id="449" r:id="rId34"/>
    <p:sldId id="446" r:id="rId35"/>
    <p:sldId id="447" r:id="rId36"/>
    <p:sldId id="448" r:id="rId37"/>
    <p:sldId id="426" r:id="rId3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0" autoAdjust="0"/>
    <p:restoredTop sz="94654" autoAdjust="0"/>
  </p:normalViewPr>
  <p:slideViewPr>
    <p:cSldViewPr>
      <p:cViewPr>
        <p:scale>
          <a:sx n="100" d="100"/>
          <a:sy n="100" d="100"/>
        </p:scale>
        <p:origin x="1848"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204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DF95B52-4E4D-40CD-8EC9-B40083EF0972}" type="datetimeFigureOut">
              <a:rPr lang="en-US" smtClean="0"/>
              <a:pPr/>
              <a:t>10/18/2024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0082F9-F1FA-45C1-8E83-E880322F1B59}" type="slidenum">
              <a:rPr lang="en-US" smtClean="0"/>
              <a:pPr/>
              <a:t>‹Nº›</a:t>
            </a:fld>
            <a:endParaRPr lang="en-US"/>
          </a:p>
        </p:txBody>
      </p:sp>
    </p:spTree>
    <p:extLst>
      <p:ext uri="{BB962C8B-B14F-4D97-AF65-F5344CB8AC3E}">
        <p14:creationId xmlns:p14="http://schemas.microsoft.com/office/powerpoint/2010/main" val="36519148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C322B3-2C68-480C-AFC4-4BA2BBFEC4E2}" type="datetimeFigureOut">
              <a:rPr lang="en-US" smtClean="0"/>
              <a:pPr/>
              <a:t>10/18/2024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B269E7-43CC-408F-B60F-57725599F1FB}" type="slidenum">
              <a:rPr lang="en-US" smtClean="0"/>
              <a:pPr/>
              <a:t>‹Nº›</a:t>
            </a:fld>
            <a:endParaRPr lang="en-US"/>
          </a:p>
        </p:txBody>
      </p:sp>
    </p:spTree>
    <p:extLst>
      <p:ext uri="{BB962C8B-B14F-4D97-AF65-F5344CB8AC3E}">
        <p14:creationId xmlns:p14="http://schemas.microsoft.com/office/powerpoint/2010/main" val="1134117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a:t>
            </a:fld>
            <a:endParaRPr lang="en-US"/>
          </a:p>
        </p:txBody>
      </p:sp>
    </p:spTree>
    <p:extLst>
      <p:ext uri="{BB962C8B-B14F-4D97-AF65-F5344CB8AC3E}">
        <p14:creationId xmlns:p14="http://schemas.microsoft.com/office/powerpoint/2010/main" val="3839459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a:t>
            </a:fld>
            <a:endParaRPr lang="en-US"/>
          </a:p>
        </p:txBody>
      </p:sp>
    </p:spTree>
    <p:extLst>
      <p:ext uri="{BB962C8B-B14F-4D97-AF65-F5344CB8AC3E}">
        <p14:creationId xmlns:p14="http://schemas.microsoft.com/office/powerpoint/2010/main" val="2365212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a:t>
            </a:fld>
            <a:endParaRPr lang="en-US"/>
          </a:p>
        </p:txBody>
      </p:sp>
    </p:spTree>
    <p:extLst>
      <p:ext uri="{BB962C8B-B14F-4D97-AF65-F5344CB8AC3E}">
        <p14:creationId xmlns:p14="http://schemas.microsoft.com/office/powerpoint/2010/main" val="670013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4</a:t>
            </a:fld>
            <a:endParaRPr lang="en-US"/>
          </a:p>
        </p:txBody>
      </p:sp>
    </p:spTree>
    <p:extLst>
      <p:ext uri="{BB962C8B-B14F-4D97-AF65-F5344CB8AC3E}">
        <p14:creationId xmlns:p14="http://schemas.microsoft.com/office/powerpoint/2010/main" val="1538649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5</a:t>
            </a:fld>
            <a:endParaRPr lang="en-US"/>
          </a:p>
        </p:txBody>
      </p:sp>
    </p:spTree>
    <p:extLst>
      <p:ext uri="{BB962C8B-B14F-4D97-AF65-F5344CB8AC3E}">
        <p14:creationId xmlns:p14="http://schemas.microsoft.com/office/powerpoint/2010/main" val="1479717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6</a:t>
            </a:fld>
            <a:endParaRPr lang="en-US"/>
          </a:p>
        </p:txBody>
      </p:sp>
    </p:spTree>
    <p:extLst>
      <p:ext uri="{BB962C8B-B14F-4D97-AF65-F5344CB8AC3E}">
        <p14:creationId xmlns:p14="http://schemas.microsoft.com/office/powerpoint/2010/main" val="3286785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7</a:t>
            </a:fld>
            <a:endParaRPr lang="en-US"/>
          </a:p>
        </p:txBody>
      </p:sp>
    </p:spTree>
    <p:extLst>
      <p:ext uri="{BB962C8B-B14F-4D97-AF65-F5344CB8AC3E}">
        <p14:creationId xmlns:p14="http://schemas.microsoft.com/office/powerpoint/2010/main" val="3613103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8</a:t>
            </a:fld>
            <a:endParaRPr lang="en-US"/>
          </a:p>
        </p:txBody>
      </p:sp>
    </p:spTree>
    <p:extLst>
      <p:ext uri="{BB962C8B-B14F-4D97-AF65-F5344CB8AC3E}">
        <p14:creationId xmlns:p14="http://schemas.microsoft.com/office/powerpoint/2010/main" val="3997391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9</a:t>
            </a:fld>
            <a:endParaRPr lang="en-US"/>
          </a:p>
        </p:txBody>
      </p:sp>
    </p:spTree>
    <p:extLst>
      <p:ext uri="{BB962C8B-B14F-4D97-AF65-F5344CB8AC3E}">
        <p14:creationId xmlns:p14="http://schemas.microsoft.com/office/powerpoint/2010/main" val="3690282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10</a:t>
            </a:fld>
            <a:endParaRPr lang="en-US"/>
          </a:p>
        </p:txBody>
      </p:sp>
    </p:spTree>
    <p:extLst>
      <p:ext uri="{BB962C8B-B14F-4D97-AF65-F5344CB8AC3E}">
        <p14:creationId xmlns:p14="http://schemas.microsoft.com/office/powerpoint/2010/main" val="1367680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11</a:t>
            </a:fld>
            <a:endParaRPr lang="en-US"/>
          </a:p>
        </p:txBody>
      </p:sp>
    </p:spTree>
    <p:extLst>
      <p:ext uri="{BB962C8B-B14F-4D97-AF65-F5344CB8AC3E}">
        <p14:creationId xmlns:p14="http://schemas.microsoft.com/office/powerpoint/2010/main" val="89934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12</a:t>
            </a:fld>
            <a:endParaRPr lang="en-US"/>
          </a:p>
        </p:txBody>
      </p:sp>
    </p:spTree>
    <p:extLst>
      <p:ext uri="{BB962C8B-B14F-4D97-AF65-F5344CB8AC3E}">
        <p14:creationId xmlns:p14="http://schemas.microsoft.com/office/powerpoint/2010/main" val="2353100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13</a:t>
            </a:fld>
            <a:endParaRPr lang="en-US"/>
          </a:p>
        </p:txBody>
      </p:sp>
    </p:spTree>
    <p:extLst>
      <p:ext uri="{BB962C8B-B14F-4D97-AF65-F5344CB8AC3E}">
        <p14:creationId xmlns:p14="http://schemas.microsoft.com/office/powerpoint/2010/main" val="1084707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14</a:t>
            </a:fld>
            <a:endParaRPr lang="en-US"/>
          </a:p>
        </p:txBody>
      </p:sp>
    </p:spTree>
    <p:extLst>
      <p:ext uri="{BB962C8B-B14F-4D97-AF65-F5344CB8AC3E}">
        <p14:creationId xmlns:p14="http://schemas.microsoft.com/office/powerpoint/2010/main" val="1520456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15</a:t>
            </a:fld>
            <a:endParaRPr lang="en-US"/>
          </a:p>
        </p:txBody>
      </p:sp>
    </p:spTree>
    <p:extLst>
      <p:ext uri="{BB962C8B-B14F-4D97-AF65-F5344CB8AC3E}">
        <p14:creationId xmlns:p14="http://schemas.microsoft.com/office/powerpoint/2010/main" val="1968024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16</a:t>
            </a:fld>
            <a:endParaRPr lang="en-US"/>
          </a:p>
        </p:txBody>
      </p:sp>
    </p:spTree>
    <p:extLst>
      <p:ext uri="{BB962C8B-B14F-4D97-AF65-F5344CB8AC3E}">
        <p14:creationId xmlns:p14="http://schemas.microsoft.com/office/powerpoint/2010/main" val="935829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17</a:t>
            </a:fld>
            <a:endParaRPr lang="en-US"/>
          </a:p>
        </p:txBody>
      </p:sp>
    </p:spTree>
    <p:extLst>
      <p:ext uri="{BB962C8B-B14F-4D97-AF65-F5344CB8AC3E}">
        <p14:creationId xmlns:p14="http://schemas.microsoft.com/office/powerpoint/2010/main" val="3710659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18</a:t>
            </a:fld>
            <a:endParaRPr lang="en-US"/>
          </a:p>
        </p:txBody>
      </p:sp>
    </p:spTree>
    <p:extLst>
      <p:ext uri="{BB962C8B-B14F-4D97-AF65-F5344CB8AC3E}">
        <p14:creationId xmlns:p14="http://schemas.microsoft.com/office/powerpoint/2010/main" val="1847166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19</a:t>
            </a:fld>
            <a:endParaRPr lang="en-US"/>
          </a:p>
        </p:txBody>
      </p:sp>
    </p:spTree>
    <p:extLst>
      <p:ext uri="{BB962C8B-B14F-4D97-AF65-F5344CB8AC3E}">
        <p14:creationId xmlns:p14="http://schemas.microsoft.com/office/powerpoint/2010/main" val="2475935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20</a:t>
            </a:fld>
            <a:endParaRPr lang="en-US"/>
          </a:p>
        </p:txBody>
      </p:sp>
    </p:spTree>
    <p:extLst>
      <p:ext uri="{BB962C8B-B14F-4D97-AF65-F5344CB8AC3E}">
        <p14:creationId xmlns:p14="http://schemas.microsoft.com/office/powerpoint/2010/main" val="3025506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21</a:t>
            </a:fld>
            <a:endParaRPr lang="en-US"/>
          </a:p>
        </p:txBody>
      </p:sp>
    </p:spTree>
    <p:extLst>
      <p:ext uri="{BB962C8B-B14F-4D97-AF65-F5344CB8AC3E}">
        <p14:creationId xmlns:p14="http://schemas.microsoft.com/office/powerpoint/2010/main" val="939367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22</a:t>
            </a:fld>
            <a:endParaRPr lang="en-US"/>
          </a:p>
        </p:txBody>
      </p:sp>
    </p:spTree>
    <p:extLst>
      <p:ext uri="{BB962C8B-B14F-4D97-AF65-F5344CB8AC3E}">
        <p14:creationId xmlns:p14="http://schemas.microsoft.com/office/powerpoint/2010/main" val="2230522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23</a:t>
            </a:fld>
            <a:endParaRPr lang="en-US"/>
          </a:p>
        </p:txBody>
      </p:sp>
    </p:spTree>
    <p:extLst>
      <p:ext uri="{BB962C8B-B14F-4D97-AF65-F5344CB8AC3E}">
        <p14:creationId xmlns:p14="http://schemas.microsoft.com/office/powerpoint/2010/main" val="2888758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24</a:t>
            </a:fld>
            <a:endParaRPr lang="en-US"/>
          </a:p>
        </p:txBody>
      </p:sp>
    </p:spTree>
    <p:extLst>
      <p:ext uri="{BB962C8B-B14F-4D97-AF65-F5344CB8AC3E}">
        <p14:creationId xmlns:p14="http://schemas.microsoft.com/office/powerpoint/2010/main" val="1018908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25</a:t>
            </a:fld>
            <a:endParaRPr lang="en-US"/>
          </a:p>
        </p:txBody>
      </p:sp>
    </p:spTree>
    <p:extLst>
      <p:ext uri="{BB962C8B-B14F-4D97-AF65-F5344CB8AC3E}">
        <p14:creationId xmlns:p14="http://schemas.microsoft.com/office/powerpoint/2010/main" val="2145683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26</a:t>
            </a:fld>
            <a:endParaRPr lang="en-US"/>
          </a:p>
        </p:txBody>
      </p:sp>
    </p:spTree>
    <p:extLst>
      <p:ext uri="{BB962C8B-B14F-4D97-AF65-F5344CB8AC3E}">
        <p14:creationId xmlns:p14="http://schemas.microsoft.com/office/powerpoint/2010/main" val="3123351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27</a:t>
            </a:fld>
            <a:endParaRPr lang="en-US"/>
          </a:p>
        </p:txBody>
      </p:sp>
    </p:spTree>
    <p:extLst>
      <p:ext uri="{BB962C8B-B14F-4D97-AF65-F5344CB8AC3E}">
        <p14:creationId xmlns:p14="http://schemas.microsoft.com/office/powerpoint/2010/main" val="42029038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28</a:t>
            </a:fld>
            <a:endParaRPr lang="en-US"/>
          </a:p>
        </p:txBody>
      </p:sp>
    </p:spTree>
    <p:extLst>
      <p:ext uri="{BB962C8B-B14F-4D97-AF65-F5344CB8AC3E}">
        <p14:creationId xmlns:p14="http://schemas.microsoft.com/office/powerpoint/2010/main" val="1894610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29</a:t>
            </a:fld>
            <a:endParaRPr lang="en-US"/>
          </a:p>
        </p:txBody>
      </p:sp>
    </p:spTree>
    <p:extLst>
      <p:ext uri="{BB962C8B-B14F-4D97-AF65-F5344CB8AC3E}">
        <p14:creationId xmlns:p14="http://schemas.microsoft.com/office/powerpoint/2010/main" val="12129915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30</a:t>
            </a:fld>
            <a:endParaRPr lang="en-US"/>
          </a:p>
        </p:txBody>
      </p:sp>
    </p:spTree>
    <p:extLst>
      <p:ext uri="{BB962C8B-B14F-4D97-AF65-F5344CB8AC3E}">
        <p14:creationId xmlns:p14="http://schemas.microsoft.com/office/powerpoint/2010/main" val="6767342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31</a:t>
            </a:fld>
            <a:endParaRPr lang="en-US"/>
          </a:p>
        </p:txBody>
      </p:sp>
    </p:spTree>
    <p:extLst>
      <p:ext uri="{BB962C8B-B14F-4D97-AF65-F5344CB8AC3E}">
        <p14:creationId xmlns:p14="http://schemas.microsoft.com/office/powerpoint/2010/main" val="40237088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32</a:t>
            </a:fld>
            <a:endParaRPr lang="en-US"/>
          </a:p>
        </p:txBody>
      </p:sp>
    </p:spTree>
    <p:extLst>
      <p:ext uri="{BB962C8B-B14F-4D97-AF65-F5344CB8AC3E}">
        <p14:creationId xmlns:p14="http://schemas.microsoft.com/office/powerpoint/2010/main" val="33257772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33</a:t>
            </a:fld>
            <a:endParaRPr lang="en-US"/>
          </a:p>
        </p:txBody>
      </p:sp>
    </p:spTree>
    <p:extLst>
      <p:ext uri="{BB962C8B-B14F-4D97-AF65-F5344CB8AC3E}">
        <p14:creationId xmlns:p14="http://schemas.microsoft.com/office/powerpoint/2010/main" val="31776833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34</a:t>
            </a:fld>
            <a:endParaRPr lang="en-US"/>
          </a:p>
        </p:txBody>
      </p:sp>
    </p:spTree>
    <p:extLst>
      <p:ext uri="{BB962C8B-B14F-4D97-AF65-F5344CB8AC3E}">
        <p14:creationId xmlns:p14="http://schemas.microsoft.com/office/powerpoint/2010/main" val="33873350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35</a:t>
            </a:fld>
            <a:endParaRPr lang="en-US"/>
          </a:p>
        </p:txBody>
      </p:sp>
    </p:spTree>
    <p:extLst>
      <p:ext uri="{BB962C8B-B14F-4D97-AF65-F5344CB8AC3E}">
        <p14:creationId xmlns:p14="http://schemas.microsoft.com/office/powerpoint/2010/main" val="644398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36</a:t>
            </a:fld>
            <a:endParaRPr lang="en-US"/>
          </a:p>
        </p:txBody>
      </p:sp>
    </p:spTree>
    <p:extLst>
      <p:ext uri="{BB962C8B-B14F-4D97-AF65-F5344CB8AC3E}">
        <p14:creationId xmlns:p14="http://schemas.microsoft.com/office/powerpoint/2010/main" val="4676061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B269E7-43CC-408F-B60F-57725599F1FB}" type="slidenum">
              <a:rPr lang="en-US" smtClean="0"/>
              <a:pPr/>
              <a:t>37</a:t>
            </a:fld>
            <a:endParaRPr lang="en-US"/>
          </a:p>
        </p:txBody>
      </p:sp>
    </p:spTree>
    <p:extLst>
      <p:ext uri="{BB962C8B-B14F-4D97-AF65-F5344CB8AC3E}">
        <p14:creationId xmlns:p14="http://schemas.microsoft.com/office/powerpoint/2010/main" val="685612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descr="ceit.jpg"/>
          <p:cNvPicPr>
            <a:picLocks/>
          </p:cNvPicPr>
          <p:nvPr userDrawn="1"/>
        </p:nvPicPr>
        <p:blipFill>
          <a:blip r:embed="rId2" cstate="print"/>
          <a:stretch>
            <a:fillRect/>
          </a:stretch>
        </p:blipFill>
        <p:spPr>
          <a:xfrm>
            <a:off x="0" y="0"/>
            <a:ext cx="9144033" cy="6858000"/>
          </a:xfrm>
          <a:prstGeom prst="rect">
            <a:avLst/>
          </a:prstGeom>
        </p:spPr>
      </p:pic>
      <p:sp>
        <p:nvSpPr>
          <p:cNvPr id="11" name="Rectangle 10"/>
          <p:cNvSpPr/>
          <p:nvPr userDrawn="1"/>
        </p:nvSpPr>
        <p:spPr>
          <a:xfrm>
            <a:off x="0" y="0"/>
            <a:ext cx="9144000" cy="6858000"/>
          </a:xfrm>
          <a:prstGeom prst="rect">
            <a:avLst/>
          </a:prstGeom>
          <a:solidFill>
            <a:schemeClr val="bg1">
              <a:lumMod val="85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angle 11"/>
          <p:cNvSpPr/>
          <p:nvPr userDrawn="1"/>
        </p:nvSpPr>
        <p:spPr>
          <a:xfrm>
            <a:off x="0" y="2857496"/>
            <a:ext cx="9144000" cy="571504"/>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angle 12"/>
          <p:cNvSpPr/>
          <p:nvPr userDrawn="1"/>
        </p:nvSpPr>
        <p:spPr>
          <a:xfrm>
            <a:off x="2582" y="2857496"/>
            <a:ext cx="9144000" cy="1785950"/>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angle 13"/>
          <p:cNvSpPr/>
          <p:nvPr userDrawn="1"/>
        </p:nvSpPr>
        <p:spPr>
          <a:xfrm>
            <a:off x="5357818" y="2857496"/>
            <a:ext cx="3786182" cy="571504"/>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1"/>
          <p:cNvSpPr>
            <a:spLocks noGrp="1"/>
          </p:cNvSpPr>
          <p:nvPr>
            <p:ph type="ctrTitle"/>
          </p:nvPr>
        </p:nvSpPr>
        <p:spPr>
          <a:xfrm>
            <a:off x="4191000" y="3429000"/>
            <a:ext cx="4953000" cy="1219200"/>
          </a:xfrm>
          <a:prstGeom prst="rect">
            <a:avLst/>
          </a:prstGeom>
        </p:spPr>
        <p:txBody>
          <a:bodyPr>
            <a:noAutofit/>
          </a:bodyPr>
          <a:lstStyle>
            <a:lvl1pPr algn="r">
              <a:defRPr sz="4000">
                <a:solidFill>
                  <a:schemeClr val="accent6">
                    <a:lumMod val="75000"/>
                  </a:schemeClr>
                </a:solidFill>
              </a:defRPr>
            </a:lvl1pPr>
          </a:lstStyle>
          <a:p>
            <a:r>
              <a:rPr lang="en-US" dirty="0"/>
              <a:t>Click to edit Master title style</a:t>
            </a:r>
            <a:endParaRPr lang="es-ES" dirty="0"/>
          </a:p>
        </p:txBody>
      </p:sp>
      <p:sp>
        <p:nvSpPr>
          <p:cNvPr id="3" name="Subtitle 2"/>
          <p:cNvSpPr>
            <a:spLocks noGrp="1"/>
          </p:cNvSpPr>
          <p:nvPr>
            <p:ph type="subTitle" idx="1"/>
          </p:nvPr>
        </p:nvSpPr>
        <p:spPr>
          <a:xfrm>
            <a:off x="5334000" y="2876938"/>
            <a:ext cx="3810000" cy="533400"/>
          </a:xfrm>
        </p:spPr>
        <p:txBody>
          <a:bodyP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ES"/>
          </a:p>
        </p:txBody>
      </p:sp>
      <p:sp>
        <p:nvSpPr>
          <p:cNvPr id="15" name="Date Placeholder 3"/>
          <p:cNvSpPr>
            <a:spLocks noGrp="1"/>
          </p:cNvSpPr>
          <p:nvPr>
            <p:ph type="dt" sz="half" idx="10"/>
          </p:nvPr>
        </p:nvSpPr>
        <p:spPr>
          <a:xfrm>
            <a:off x="8153400" y="6492875"/>
            <a:ext cx="990600" cy="365125"/>
          </a:xfrm>
          <a:prstGeom prst="rect">
            <a:avLst/>
          </a:prstGeom>
        </p:spPr>
        <p:txBody>
          <a:bodyPr/>
          <a:lstStyle>
            <a:lvl1pPr>
              <a:defRPr>
                <a:solidFill>
                  <a:schemeClr val="tx1"/>
                </a:solidFill>
              </a:defRPr>
            </a:lvl1pPr>
          </a:lstStyle>
          <a:p>
            <a:endParaRPr lang="es-E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10" name="Picture 9" descr="ceit.jpg"/>
          <p:cNvPicPr>
            <a:picLocks/>
          </p:cNvPicPr>
          <p:nvPr userDrawn="1"/>
        </p:nvPicPr>
        <p:blipFill>
          <a:blip r:embed="rId2" cstate="print"/>
          <a:stretch>
            <a:fillRect/>
          </a:stretch>
        </p:blipFill>
        <p:spPr>
          <a:xfrm>
            <a:off x="0" y="0"/>
            <a:ext cx="9144033" cy="6858000"/>
          </a:xfrm>
          <a:prstGeom prst="rect">
            <a:avLst/>
          </a:prstGeom>
        </p:spPr>
      </p:pic>
      <p:sp>
        <p:nvSpPr>
          <p:cNvPr id="16" name="Rectangle 15"/>
          <p:cNvSpPr/>
          <p:nvPr userDrawn="1"/>
        </p:nvSpPr>
        <p:spPr>
          <a:xfrm>
            <a:off x="0" y="2857496"/>
            <a:ext cx="9144000" cy="1785950"/>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1"/>
          <p:cNvSpPr>
            <a:spLocks noGrp="1"/>
          </p:cNvSpPr>
          <p:nvPr>
            <p:ph type="ctrTitle"/>
          </p:nvPr>
        </p:nvSpPr>
        <p:spPr>
          <a:xfrm>
            <a:off x="2286000" y="2858276"/>
            <a:ext cx="6858000" cy="1219200"/>
          </a:xfrm>
          <a:prstGeom prst="rect">
            <a:avLst/>
          </a:prstGeom>
        </p:spPr>
        <p:txBody>
          <a:bodyPr anchor="ctr">
            <a:noAutofit/>
          </a:bodyPr>
          <a:lstStyle>
            <a:lvl1pPr algn="r">
              <a:defRPr sz="3000">
                <a:solidFill>
                  <a:schemeClr val="bg1"/>
                </a:solidFill>
              </a:defRPr>
            </a:lvl1pPr>
          </a:lstStyle>
          <a:p>
            <a:r>
              <a:rPr lang="en-US" dirty="0"/>
              <a:t>Click to edit Master title style</a:t>
            </a:r>
            <a:endParaRPr lang="es-ES" dirty="0"/>
          </a:p>
        </p:txBody>
      </p:sp>
      <p:sp>
        <p:nvSpPr>
          <p:cNvPr id="3" name="Subtitle 2"/>
          <p:cNvSpPr>
            <a:spLocks noGrp="1"/>
          </p:cNvSpPr>
          <p:nvPr>
            <p:ph type="subTitle" idx="1"/>
          </p:nvPr>
        </p:nvSpPr>
        <p:spPr>
          <a:xfrm>
            <a:off x="3048000" y="4114800"/>
            <a:ext cx="6096000" cy="533400"/>
          </a:xfrm>
        </p:spPr>
        <p:txBody>
          <a:bodyPr>
            <a:normAutofit/>
          </a:bodyPr>
          <a:lstStyle>
            <a:lvl1pPr marL="0" indent="0" algn="r">
              <a:buNone/>
              <a:defRPr sz="2200" b="1">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s-E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2" cstate="print"/>
          <a:srcRect/>
          <a:stretch>
            <a:fillRect/>
          </a:stretch>
        </p:blipFill>
        <p:spPr bwMode="auto">
          <a:xfrm>
            <a:off x="0" y="6406179"/>
            <a:ext cx="9144000" cy="451821"/>
          </a:xfrm>
          <a:prstGeom prst="rect">
            <a:avLst/>
          </a:prstGeom>
          <a:noFill/>
          <a:ln w="9525">
            <a:noFill/>
            <a:miter lim="800000"/>
            <a:headEnd/>
            <a:tailEnd/>
          </a:ln>
          <a:effectLst/>
        </p:spPr>
      </p:pic>
      <p:pic>
        <p:nvPicPr>
          <p:cNvPr id="7" name="Picture 2"/>
          <p:cNvPicPr>
            <a:picLocks noChangeAspect="1" noChangeArrowheads="1"/>
          </p:cNvPicPr>
          <p:nvPr userDrawn="1"/>
        </p:nvPicPr>
        <p:blipFill>
          <a:blip r:embed="rId3" cstate="print"/>
          <a:srcRect/>
          <a:stretch>
            <a:fillRect/>
          </a:stretch>
        </p:blipFill>
        <p:spPr bwMode="auto">
          <a:xfrm>
            <a:off x="0" y="2590"/>
            <a:ext cx="9144000" cy="714379"/>
          </a:xfrm>
          <a:prstGeom prst="rect">
            <a:avLst/>
          </a:prstGeom>
          <a:noFill/>
          <a:ln w="9525">
            <a:noFill/>
            <a:miter lim="800000"/>
            <a:headEnd/>
            <a:tailEnd/>
          </a:ln>
          <a:effectLst/>
        </p:spPr>
      </p:pic>
      <p:sp>
        <p:nvSpPr>
          <p:cNvPr id="8" name="Rectangle 7"/>
          <p:cNvSpPr/>
          <p:nvPr userDrawn="1"/>
        </p:nvSpPr>
        <p:spPr>
          <a:xfrm>
            <a:off x="0" y="2590"/>
            <a:ext cx="9144000" cy="71438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Straight Connector 8"/>
          <p:cNvCxnSpPr/>
          <p:nvPr userDrawn="1"/>
        </p:nvCxnSpPr>
        <p:spPr>
          <a:xfrm>
            <a:off x="0" y="714356"/>
            <a:ext cx="9144000" cy="158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91656" y="76200"/>
            <a:ext cx="8114144" cy="609600"/>
          </a:xfrm>
          <a:prstGeom prst="rect">
            <a:avLst/>
          </a:prstGeom>
        </p:spPr>
        <p:txBody>
          <a:bodyPr/>
          <a:lstStyle/>
          <a:p>
            <a:r>
              <a:rPr lang="en-US" dirty="0"/>
              <a:t>Click to edit Master title style</a:t>
            </a:r>
            <a:endParaRPr lang="es-ES" dirty="0"/>
          </a:p>
        </p:txBody>
      </p:sp>
      <p:sp>
        <p:nvSpPr>
          <p:cNvPr id="3" name="Content Placeholder 2"/>
          <p:cNvSpPr>
            <a:spLocks noGrp="1"/>
          </p:cNvSpPr>
          <p:nvPr>
            <p:ph idx="1"/>
          </p:nvPr>
        </p:nvSpPr>
        <p:spPr/>
        <p:txBody>
          <a:bodyPr/>
          <a:lstStyle>
            <a:lvl1pPr marL="233363" indent="-233363">
              <a:defRPr/>
            </a:lvl1pPr>
            <a:lvl2pPr marL="569913" indent="-280988">
              <a:defRPr/>
            </a:lvl2pPr>
            <a:lvl3pPr marL="801688" indent="-231775">
              <a:defRPr/>
            </a:lvl3pPr>
            <a:lvl4pPr marL="1027113" indent="-225425">
              <a:defRPr/>
            </a:lvl4pPr>
            <a:lvl5pPr marL="1203325" indent="-17621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ES" dirty="0"/>
          </a:p>
        </p:txBody>
      </p:sp>
      <p:sp>
        <p:nvSpPr>
          <p:cNvPr id="6" name="Slide Number Placeholder 5"/>
          <p:cNvSpPr>
            <a:spLocks noGrp="1"/>
          </p:cNvSpPr>
          <p:nvPr>
            <p:ph type="sldNum" sz="quarter" idx="12"/>
          </p:nvPr>
        </p:nvSpPr>
        <p:spPr>
          <a:xfrm>
            <a:off x="8686800" y="6096000"/>
            <a:ext cx="457200" cy="365125"/>
          </a:xfrm>
          <a:prstGeom prst="rect">
            <a:avLst/>
          </a:prstGeom>
        </p:spPr>
        <p:txBody>
          <a:bodyPr/>
          <a:lstStyle>
            <a:lvl1pPr algn="r">
              <a:defRPr sz="1400">
                <a:solidFill>
                  <a:schemeClr val="tx1"/>
                </a:solidFill>
              </a:defRPr>
            </a:lvl1pPr>
          </a:lstStyle>
          <a:p>
            <a:fld id="{6FB5620F-4174-48AE-86D3-F3DEDF94E7FC}" type="slidenum">
              <a:rPr lang="es-ES" smtClean="0"/>
              <a:pPr/>
              <a:t>‹Nº›</a:t>
            </a:fld>
            <a:endParaRPr lang="es-E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656" y="76200"/>
            <a:ext cx="8229600" cy="609600"/>
          </a:xfrm>
          <a:prstGeom prst="rect">
            <a:avLst/>
          </a:prstGeom>
        </p:spPr>
        <p:txBody>
          <a:bodyPr/>
          <a:lstStyle/>
          <a:p>
            <a:r>
              <a:rPr lang="en-US" dirty="0"/>
              <a:t>Click to edit Master title style</a:t>
            </a:r>
            <a:endParaRPr lang="es-ES" dirty="0"/>
          </a:p>
        </p:txBody>
      </p:sp>
      <p:sp>
        <p:nvSpPr>
          <p:cNvPr id="4" name="Content Placeholder 3"/>
          <p:cNvSpPr>
            <a:spLocks noGrp="1"/>
          </p:cNvSpPr>
          <p:nvPr>
            <p:ph sz="half" idx="2"/>
          </p:nvPr>
        </p:nvSpPr>
        <p:spPr>
          <a:xfrm>
            <a:off x="1600200" y="762000"/>
            <a:ext cx="75438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ES" dirty="0"/>
          </a:p>
        </p:txBody>
      </p:sp>
      <p:sp>
        <p:nvSpPr>
          <p:cNvPr id="8" name="Rectangle 7"/>
          <p:cNvSpPr/>
          <p:nvPr userDrawn="1"/>
        </p:nvSpPr>
        <p:spPr>
          <a:xfrm>
            <a:off x="0" y="714356"/>
            <a:ext cx="1571604" cy="5686444"/>
          </a:xfrm>
          <a:prstGeom prst="rect">
            <a:avLst/>
          </a:prstGeom>
          <a:solidFill>
            <a:schemeClr val="accent1">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ontent Placeholder 2"/>
          <p:cNvSpPr>
            <a:spLocks noGrp="1"/>
          </p:cNvSpPr>
          <p:nvPr>
            <p:ph sz="half" idx="1"/>
          </p:nvPr>
        </p:nvSpPr>
        <p:spPr>
          <a:xfrm>
            <a:off x="0" y="762000"/>
            <a:ext cx="1524000" cy="5638800"/>
          </a:xfrm>
        </p:spPr>
        <p:txBody>
          <a:bodyPr>
            <a:normAutofit/>
          </a:bodyPr>
          <a:lstStyle>
            <a:lvl1pPr marL="176213" indent="-176213">
              <a:buFont typeface="+mj-lt"/>
              <a:buAutoNum type="arabicPeriod"/>
              <a:defRPr sz="1000">
                <a:solidFill>
                  <a:schemeClr val="accent1">
                    <a:lumMod val="75000"/>
                  </a:schemeClr>
                </a:solidFill>
              </a:defRPr>
            </a:lvl1pPr>
            <a:lvl2pPr marL="341313" indent="-111125">
              <a:defRPr sz="1000">
                <a:solidFill>
                  <a:schemeClr val="accent1">
                    <a:lumMod val="75000"/>
                  </a:schemeClr>
                </a:solidFill>
              </a:defRPr>
            </a:lvl2pPr>
            <a:lvl3pPr marL="461963" indent="-120650">
              <a:defRPr sz="1000">
                <a:solidFill>
                  <a:schemeClr val="accent1">
                    <a:lumMod val="75000"/>
                  </a:schemeClr>
                </a:solidFill>
              </a:defRPr>
            </a:lvl3pPr>
            <a:lvl4pPr marL="573088" indent="-111125">
              <a:defRPr sz="1000">
                <a:solidFill>
                  <a:schemeClr val="accent1">
                    <a:lumMod val="75000"/>
                  </a:schemeClr>
                </a:solidFill>
              </a:defRPr>
            </a:lvl4pPr>
            <a:lvl5pPr marL="684213" indent="-111125">
              <a:defRPr sz="1000">
                <a:solidFill>
                  <a:schemeClr val="accent1">
                    <a:lumMod val="75000"/>
                  </a:schemeClr>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E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838200"/>
            <a:ext cx="8686800" cy="5410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ES" dirty="0"/>
          </a:p>
        </p:txBody>
      </p:sp>
      <p:pic>
        <p:nvPicPr>
          <p:cNvPr id="12" name="Picture 2"/>
          <p:cNvPicPr>
            <a:picLocks noChangeAspect="1" noChangeArrowheads="1"/>
          </p:cNvPicPr>
          <p:nvPr/>
        </p:nvPicPr>
        <p:blipFill>
          <a:blip r:embed="rId6" cstate="print"/>
          <a:srcRect/>
          <a:stretch>
            <a:fillRect/>
          </a:stretch>
        </p:blipFill>
        <p:spPr bwMode="auto">
          <a:xfrm>
            <a:off x="0" y="2590"/>
            <a:ext cx="9144000" cy="714379"/>
          </a:xfrm>
          <a:prstGeom prst="rect">
            <a:avLst/>
          </a:prstGeom>
          <a:noFill/>
          <a:ln w="9525">
            <a:noFill/>
            <a:miter lim="800000"/>
            <a:headEnd/>
            <a:tailEnd/>
          </a:ln>
          <a:effectLst/>
        </p:spPr>
      </p:pic>
      <p:sp>
        <p:nvSpPr>
          <p:cNvPr id="13" name="Rectangle 12"/>
          <p:cNvSpPr/>
          <p:nvPr/>
        </p:nvSpPr>
        <p:spPr>
          <a:xfrm>
            <a:off x="0" y="2590"/>
            <a:ext cx="9144000" cy="71438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Straight Connector 13"/>
          <p:cNvCxnSpPr/>
          <p:nvPr/>
        </p:nvCxnSpPr>
        <p:spPr>
          <a:xfrm>
            <a:off x="0" y="714356"/>
            <a:ext cx="9144000" cy="1588"/>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7" name="Picture 2"/>
          <p:cNvPicPr>
            <a:picLocks noChangeAspect="1" noChangeArrowheads="1"/>
          </p:cNvPicPr>
          <p:nvPr/>
        </p:nvPicPr>
        <p:blipFill>
          <a:blip r:embed="rId7" cstate="print"/>
          <a:srcRect/>
          <a:stretch>
            <a:fillRect/>
          </a:stretch>
        </p:blipFill>
        <p:spPr bwMode="auto">
          <a:xfrm>
            <a:off x="0" y="6406179"/>
            <a:ext cx="9144000" cy="451821"/>
          </a:xfrm>
          <a:prstGeom prst="rect">
            <a:avLst/>
          </a:prstGeom>
          <a:noFill/>
          <a:ln w="9525">
            <a:noFill/>
            <a:miter lim="800000"/>
            <a:headEnd/>
            <a:tailEnd/>
          </a:ln>
          <a:effectLst/>
        </p:spPr>
      </p:pic>
      <p:sp>
        <p:nvSpPr>
          <p:cNvPr id="18" name="Date Placeholder 3"/>
          <p:cNvSpPr>
            <a:spLocks noGrp="1"/>
          </p:cNvSpPr>
          <p:nvPr>
            <p:ph type="dt" sz="half" idx="2"/>
          </p:nvPr>
        </p:nvSpPr>
        <p:spPr>
          <a:xfrm>
            <a:off x="7010400" y="6492875"/>
            <a:ext cx="1143000" cy="365125"/>
          </a:xfrm>
          <a:prstGeom prst="rect">
            <a:avLst/>
          </a:prstGeom>
        </p:spPr>
        <p:txBody>
          <a:bodyPr anchor="ctr"/>
          <a:lstStyle>
            <a:lvl1pPr>
              <a:defRPr sz="1200">
                <a:solidFill>
                  <a:schemeClr val="tx1"/>
                </a:solidFill>
              </a:defRPr>
            </a:lvl1pPr>
          </a:lstStyle>
          <a:p>
            <a:endParaRPr lang="es-ES"/>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0" r:id="rId3"/>
    <p:sldLayoutId id="2147483652" r:id="rId4"/>
  </p:sldLayoutIdLst>
  <p:transition>
    <p:fade/>
  </p:transition>
  <p:hf hdr="0" ftr="0" dt="0"/>
  <p:txStyles>
    <p:titleStyle>
      <a:lvl1pPr algn="l" defTabSz="914400" rtl="0" eaLnBrk="1" latinLnBrk="0" hangingPunct="1">
        <a:spcBef>
          <a:spcPct val="0"/>
        </a:spcBef>
        <a:buNone/>
        <a:defRPr sz="3000" b="1" kern="1200">
          <a:solidFill>
            <a:schemeClr val="accent1">
              <a:lumMod val="7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3.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0.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3.xml"/><Relationship Id="rId11" Type="http://schemas.openxmlformats.org/officeDocument/2006/relationships/image" Target="../media/image56.png"/><Relationship Id="rId5" Type="http://schemas.openxmlformats.org/officeDocument/2006/relationships/image" Target="../media/image53.png"/><Relationship Id="rId10" Type="http://schemas.openxmlformats.org/officeDocument/2006/relationships/image" Target="../media/image55.png"/><Relationship Id="rId4" Type="http://schemas.openxmlformats.org/officeDocument/2006/relationships/image" Target="../media/image17.png"/><Relationship Id="rId9"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17.xml"/><Relationship Id="rId1" Type="http://schemas.openxmlformats.org/officeDocument/2006/relationships/slideLayout" Target="../slideLayouts/slideLayout3.xml"/><Relationship Id="rId11" Type="http://schemas.openxmlformats.org/officeDocument/2006/relationships/image" Target="../media/image59.png"/><Relationship Id="rId5" Type="http://schemas.openxmlformats.org/officeDocument/2006/relationships/image" Target="../media/image570.png"/><Relationship Id="rId10" Type="http://schemas.openxmlformats.org/officeDocument/2006/relationships/image" Target="../media/image58.png"/><Relationship Id="rId4" Type="http://schemas.openxmlformats.org/officeDocument/2006/relationships/image" Target="../media/image560.png"/><Relationship Id="rId9" Type="http://schemas.openxmlformats.org/officeDocument/2006/relationships/image" Target="../media/image61.png"/></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80.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0.png"/><Relationship Id="rId4" Type="http://schemas.openxmlformats.org/officeDocument/2006/relationships/image" Target="../media/image590.png"/><Relationship Id="rId9" Type="http://schemas.openxmlformats.org/officeDocument/2006/relationships/image" Target="../media/image65.png"/></Relationships>
</file>

<file path=ppt/slides/_rels/slide19.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5.png"/><Relationship Id="rId7" Type="http://schemas.openxmlformats.org/officeDocument/2006/relationships/image" Target="../media/image73.png"/><Relationship Id="rId12" Type="http://schemas.openxmlformats.org/officeDocument/2006/relationships/image" Target="../media/image77.png"/><Relationship Id="rId17" Type="http://schemas.openxmlformats.org/officeDocument/2006/relationships/image" Target="../media/image59.png"/><Relationship Id="rId2" Type="http://schemas.openxmlformats.org/officeDocument/2006/relationships/notesSlide" Target="../notesSlides/notesSlide19.xml"/><Relationship Id="rId16"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72.png"/><Relationship Id="rId15" Type="http://schemas.openxmlformats.org/officeDocument/2006/relationships/image" Target="../media/image57.png"/><Relationship Id="rId9" Type="http://schemas.openxmlformats.org/officeDocument/2006/relationships/image" Target="../media/image74.png"/><Relationship Id="rId1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0.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84.png"/><Relationship Id="rId12"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3.xml"/><Relationship Id="rId11" Type="http://schemas.openxmlformats.org/officeDocument/2006/relationships/image" Target="../media/image75.png"/><Relationship Id="rId15" Type="http://schemas.openxmlformats.org/officeDocument/2006/relationships/image" Target="../media/image86.png"/><Relationship Id="rId10" Type="http://schemas.openxmlformats.org/officeDocument/2006/relationships/image" Target="../media/image96.png"/><Relationship Id="rId9" Type="http://schemas.openxmlformats.org/officeDocument/2006/relationships/image" Target="../media/image95.png"/><Relationship Id="rId14" Type="http://schemas.openxmlformats.org/officeDocument/2006/relationships/image" Target="../media/image85.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0.png"/></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50.emf"/><Relationship Id="rId5" Type="http://schemas.openxmlformats.org/officeDocument/2006/relationships/image" Target="../media/image46.png"/><Relationship Id="rId4" Type="http://schemas.openxmlformats.org/officeDocument/2006/relationships/image" Target="../media/image100.png"/></Relationships>
</file>

<file path=ppt/slides/_rels/slide30.xml.rels><?xml version="1.0" encoding="UTF-8" standalone="yes"?>
<Relationships xmlns="http://schemas.openxmlformats.org/package/2006/relationships"><Relationship Id="rId3" Type="http://schemas.openxmlformats.org/officeDocument/2006/relationships/image" Target="../media/image50.emf"/><Relationship Id="rId7" Type="http://schemas.openxmlformats.org/officeDocument/2006/relationships/image" Target="../media/image105.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3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109.png"/><Relationship Id="rId4" Type="http://schemas.openxmlformats.org/officeDocument/2006/relationships/image" Target="../media/image108.png"/></Relationships>
</file>

<file path=ppt/slides/_rels/slide33.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piskvorky/gensim-data"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276600"/>
            <a:ext cx="6858000" cy="1219200"/>
          </a:xfrm>
        </p:spPr>
        <p:txBody>
          <a:bodyPr/>
          <a:lstStyle/>
          <a:p>
            <a:r>
              <a:rPr lang="en-US" dirty="0"/>
              <a:t>Supervised Learning - SVM</a:t>
            </a:r>
          </a:p>
        </p:txBody>
      </p:sp>
      <p:sp>
        <p:nvSpPr>
          <p:cNvPr id="3" name="Subtitle 2"/>
          <p:cNvSpPr>
            <a:spLocks noGrp="1"/>
          </p:cNvSpPr>
          <p:nvPr>
            <p:ph type="subTitle" idx="1"/>
          </p:nvPr>
        </p:nvSpPr>
        <p:spPr/>
        <p:txBody>
          <a:bodyPr/>
          <a:lstStyle/>
          <a:p>
            <a:r>
              <a:rPr lang="es-ES" dirty="0"/>
              <a:t>17/10/2024</a:t>
            </a:r>
          </a:p>
        </p:txBody>
      </p:sp>
      <p:sp>
        <p:nvSpPr>
          <p:cNvPr id="8" name="TextBox 4"/>
          <p:cNvSpPr txBox="1"/>
          <p:nvPr/>
        </p:nvSpPr>
        <p:spPr>
          <a:xfrm>
            <a:off x="152400" y="2819400"/>
            <a:ext cx="4267200" cy="338554"/>
          </a:xfrm>
          <a:prstGeom prst="rect">
            <a:avLst/>
          </a:prstGeom>
          <a:noFill/>
        </p:spPr>
        <p:txBody>
          <a:bodyPr wrap="square" rtlCol="0">
            <a:spAutoFit/>
          </a:bodyPr>
          <a:lstStyle/>
          <a:p>
            <a:r>
              <a:rPr lang="en-US" sz="1600" b="1" dirty="0">
                <a:solidFill>
                  <a:schemeClr val="bg1">
                    <a:lumMod val="85000"/>
                  </a:schemeClr>
                </a:solidFill>
              </a:rPr>
              <a:t>Machine Learning</a:t>
            </a:r>
          </a:p>
        </p:txBody>
      </p:sp>
      <p:sp>
        <p:nvSpPr>
          <p:cNvPr id="10" name="TextBox 4"/>
          <p:cNvSpPr txBox="1"/>
          <p:nvPr/>
        </p:nvSpPr>
        <p:spPr>
          <a:xfrm>
            <a:off x="152400" y="3817203"/>
            <a:ext cx="4267200" cy="338554"/>
          </a:xfrm>
          <a:prstGeom prst="rect">
            <a:avLst/>
          </a:prstGeom>
          <a:noFill/>
        </p:spPr>
        <p:txBody>
          <a:bodyPr wrap="square" rtlCol="0">
            <a:spAutoFit/>
          </a:bodyPr>
          <a:lstStyle/>
          <a:p>
            <a:r>
              <a:rPr lang="en-US" sz="1600" b="1" dirty="0">
                <a:solidFill>
                  <a:schemeClr val="bg1">
                    <a:lumMod val="85000"/>
                  </a:schemeClr>
                </a:solidFill>
              </a:rPr>
              <a:t>F.J. Planes       	fplanes@tecnun.es </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Introduction</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066800"/>
            <a:ext cx="7848600" cy="1477328"/>
          </a:xfrm>
          <a:prstGeom prst="rect">
            <a:avLst/>
          </a:prstGeom>
        </p:spPr>
        <p:txBody>
          <a:bodyPr wrap="square">
            <a:spAutoFit/>
          </a:bodyPr>
          <a:lstStyle/>
          <a:p>
            <a:pPr marL="355600" indent="-355600" algn="just">
              <a:spcBef>
                <a:spcPct val="50000"/>
              </a:spcBef>
              <a:buFontTx/>
              <a:buChar char="•"/>
            </a:pPr>
            <a:r>
              <a:rPr lang="en-US" b="1" dirty="0"/>
              <a:t>SVM</a:t>
            </a:r>
            <a:r>
              <a:rPr lang="en-US" dirty="0"/>
              <a:t> (</a:t>
            </a:r>
            <a:r>
              <a:rPr lang="en-US" b="1" dirty="0"/>
              <a:t>Support Vector Machines</a:t>
            </a:r>
            <a:r>
              <a:rPr lang="en-US" dirty="0"/>
              <a:t>): decision support boundaries to separate data into different classes.</a:t>
            </a:r>
          </a:p>
          <a:p>
            <a:pPr marL="355600" indent="-355600" algn="just">
              <a:spcBef>
                <a:spcPct val="50000"/>
              </a:spcBef>
              <a:buFontTx/>
              <a:buChar char="•"/>
            </a:pPr>
            <a:r>
              <a:rPr lang="en-US" dirty="0"/>
              <a:t>AT&amp;T Bell Laboratories by Vladimir </a:t>
            </a:r>
            <a:r>
              <a:rPr lang="en-US" dirty="0" err="1"/>
              <a:t>Vapnik</a:t>
            </a:r>
            <a:r>
              <a:rPr lang="en-US" dirty="0"/>
              <a:t> (</a:t>
            </a:r>
            <a:r>
              <a:rPr lang="en-US" dirty="0" err="1"/>
              <a:t>Vapnik</a:t>
            </a:r>
            <a:r>
              <a:rPr lang="en-US" dirty="0"/>
              <a:t> et al. 1997):</a:t>
            </a:r>
          </a:p>
          <a:p>
            <a:pPr algn="just">
              <a:spcBef>
                <a:spcPct val="50000"/>
              </a:spcBef>
            </a:pPr>
            <a:endParaRPr lang="es-ES" b="1" dirty="0"/>
          </a:p>
        </p:txBody>
      </p:sp>
      <p:sp>
        <p:nvSpPr>
          <p:cNvPr id="2" name="Rectángulo 1">
            <a:extLst>
              <a:ext uri="{FF2B5EF4-FFF2-40B4-BE49-F238E27FC236}">
                <a16:creationId xmlns:a16="http://schemas.microsoft.com/office/drawing/2014/main" id="{B0942C8D-FE6C-4263-BADC-3B0B829F9EBC}"/>
              </a:ext>
            </a:extLst>
          </p:cNvPr>
          <p:cNvSpPr/>
          <p:nvPr/>
        </p:nvSpPr>
        <p:spPr>
          <a:xfrm>
            <a:off x="840129" y="2362200"/>
            <a:ext cx="6477000" cy="3139321"/>
          </a:xfrm>
          <a:prstGeom prst="rect">
            <a:avLst/>
          </a:prstGeom>
        </p:spPr>
        <p:txBody>
          <a:bodyPr wrap="square">
            <a:spAutoFit/>
          </a:bodyPr>
          <a:lstStyle/>
          <a:p>
            <a:pPr algn="just"/>
            <a:r>
              <a:rPr lang="en-US" dirty="0">
                <a:solidFill>
                  <a:srgbClr val="222222"/>
                </a:solidFill>
                <a:latin typeface="Merriweather"/>
              </a:rPr>
              <a:t>“The Support Vector (SV) method is a new general method of function estimation which does not depend explicitly on the dimensionality of input space. It was applied for pattern recognition, regression estimation, and density estimation problems as well as for problems of solving linear operator equations. In this article we describe the general idea of the SV method and present theorems demonstrating that the generalization ability of the SV method is based on factors which classical statistics do not take into account. We also describe the SV method for density estimation in a set of functions defined by a mixture of an infinite number of Gaussians.”</a:t>
            </a:r>
            <a:endParaRPr lang="es-ES_tradnl" dirty="0"/>
          </a:p>
        </p:txBody>
      </p:sp>
      <p:cxnSp>
        <p:nvCxnSpPr>
          <p:cNvPr id="10" name="Conector recto 9">
            <a:extLst>
              <a:ext uri="{FF2B5EF4-FFF2-40B4-BE49-F238E27FC236}">
                <a16:creationId xmlns:a16="http://schemas.microsoft.com/office/drawing/2014/main" id="{84BF4ED9-B777-4679-9566-FE1B0B6BCEFE}"/>
              </a:ext>
            </a:extLst>
          </p:cNvPr>
          <p:cNvCxnSpPr>
            <a:cxnSpLocks/>
          </p:cNvCxnSpPr>
          <p:nvPr/>
        </p:nvCxnSpPr>
        <p:spPr>
          <a:xfrm>
            <a:off x="3733800" y="2971800"/>
            <a:ext cx="3429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3F6C1544-E27D-46F3-A430-62836E78FE4F}"/>
              </a:ext>
            </a:extLst>
          </p:cNvPr>
          <p:cNvCxnSpPr>
            <a:cxnSpLocks/>
          </p:cNvCxnSpPr>
          <p:nvPr/>
        </p:nvCxnSpPr>
        <p:spPr>
          <a:xfrm>
            <a:off x="990600" y="3276600"/>
            <a:ext cx="33528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8962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Introduction</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marL="355600" indent="-355600" algn="just">
              <a:spcBef>
                <a:spcPct val="50000"/>
              </a:spcBef>
              <a:buFontTx/>
              <a:buChar char="•"/>
            </a:pPr>
            <a:r>
              <a:rPr lang="en-US" dirty="0"/>
              <a:t>Linear and non-linear classification and regression problems</a:t>
            </a:r>
          </a:p>
          <a:p>
            <a:pPr algn="just">
              <a:spcBef>
                <a:spcPct val="50000"/>
              </a:spcBef>
            </a:pPr>
            <a:endParaRPr lang="es-ES" b="1" dirty="0"/>
          </a:p>
        </p:txBody>
      </p:sp>
      <p:pic>
        <p:nvPicPr>
          <p:cNvPr id="8196" name="Picture 4" descr="https://ars.els-cdn.com/content/image/1-s2.0-S0925231220307153-gr3.jpg">
            <a:extLst>
              <a:ext uri="{FF2B5EF4-FFF2-40B4-BE49-F238E27FC236}">
                <a16:creationId xmlns:a16="http://schemas.microsoft.com/office/drawing/2014/main" id="{FA6C0C08-EF74-474A-A1CF-3DADA1862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2472642"/>
            <a:ext cx="3171825" cy="222885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s://ars.els-cdn.com/content/image/1-s2.0-S0925231220307153-gr4.jpg">
            <a:extLst>
              <a:ext uri="{FF2B5EF4-FFF2-40B4-BE49-F238E27FC236}">
                <a16:creationId xmlns:a16="http://schemas.microsoft.com/office/drawing/2014/main" id="{B862A429-CE70-4A5C-97C6-936D961358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362200"/>
            <a:ext cx="3171825" cy="24003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3">
            <a:extLst>
              <a:ext uri="{FF2B5EF4-FFF2-40B4-BE49-F238E27FC236}">
                <a16:creationId xmlns:a16="http://schemas.microsoft.com/office/drawing/2014/main" id="{D9A7289D-6DE0-4003-BA8E-7E6DE88A9BA8}"/>
              </a:ext>
            </a:extLst>
          </p:cNvPr>
          <p:cNvSpPr txBox="1">
            <a:spLocks noChangeArrowheads="1"/>
          </p:cNvSpPr>
          <p:nvPr/>
        </p:nvSpPr>
        <p:spPr bwMode="auto">
          <a:xfrm>
            <a:off x="647700" y="5140848"/>
            <a:ext cx="7848600" cy="1061829"/>
          </a:xfrm>
          <a:prstGeom prst="rect">
            <a:avLst/>
          </a:prstGeom>
        </p:spPr>
        <p:txBody>
          <a:bodyPr wrap="square">
            <a:spAutoFit/>
          </a:bodyPr>
          <a:lstStyle/>
          <a:p>
            <a:pPr marL="355600" indent="-355600" algn="just">
              <a:spcBef>
                <a:spcPct val="50000"/>
              </a:spcBef>
              <a:buFontTx/>
              <a:buChar char="•"/>
            </a:pPr>
            <a:r>
              <a:rPr lang="en-US" dirty="0"/>
              <a:t>Image classification, text recognition, fraud detection, system recommenders, bioinformatics. </a:t>
            </a:r>
          </a:p>
          <a:p>
            <a:pPr algn="just">
              <a:spcBef>
                <a:spcPct val="50000"/>
              </a:spcBef>
            </a:pPr>
            <a:endParaRPr lang="es-ES" b="1" dirty="0"/>
          </a:p>
        </p:txBody>
      </p:sp>
    </p:spTree>
    <p:extLst>
      <p:ext uri="{BB962C8B-B14F-4D97-AF65-F5344CB8AC3E}">
        <p14:creationId xmlns:p14="http://schemas.microsoft.com/office/powerpoint/2010/main" val="374352617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just">
              <a:spcBef>
                <a:spcPct val="50000"/>
              </a:spcBef>
            </a:pPr>
            <a:r>
              <a:rPr lang="en-US" dirty="0"/>
              <a:t>Optimal Separating Hyperplanes</a:t>
            </a:r>
          </a:p>
        </p:txBody>
      </p:sp>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B2E7D5CD-7099-48A2-ABA9-A46A56971AE3}"/>
                  </a:ext>
                </a:extLst>
              </p:cNvPr>
              <p:cNvSpPr txBox="1"/>
              <p:nvPr/>
            </p:nvSpPr>
            <p:spPr>
              <a:xfrm>
                <a:off x="4953967" y="2967334"/>
                <a:ext cx="349505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𝐿</m:t>
                      </m:r>
                      <m:r>
                        <a:rPr lang="es-ES" sz="2000" b="0" i="1" smtClean="0">
                          <a:latin typeface="Cambria Math" panose="02040503050406030204" pitchFamily="18" charset="0"/>
                        </a:rPr>
                        <m:t>={</m:t>
                      </m:r>
                      <m:r>
                        <a:rPr lang="es-ES" sz="2000" b="0" i="1" smtClean="0">
                          <a:latin typeface="Cambria Math" panose="02040503050406030204" pitchFamily="18" charset="0"/>
                        </a:rPr>
                        <m:t>𝑥</m:t>
                      </m:r>
                      <m:r>
                        <a:rPr lang="es-ES" sz="2000" b="0" i="1" smtClean="0">
                          <a:latin typeface="Cambria Math" panose="02040503050406030204" pitchFamily="18" charset="0"/>
                        </a:rPr>
                        <m:t>:</m:t>
                      </m:r>
                      <m:sSub>
                        <m:sSubPr>
                          <m:ctrlPr>
                            <a:rPr lang="es-ES_tradnl" sz="2000" i="1">
                              <a:latin typeface="Cambria Math" panose="02040503050406030204" pitchFamily="18" charset="0"/>
                            </a:rPr>
                          </m:ctrlPr>
                        </m:sSubPr>
                        <m:e>
                          <m:r>
                            <a:rPr lang="es-ES" sz="2000" b="0" i="1" smtClean="0">
                              <a:latin typeface="Cambria Math" panose="02040503050406030204" pitchFamily="18" charset="0"/>
                            </a:rPr>
                            <m:t>𝑓</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𝑥</m:t>
                              </m:r>
                            </m:e>
                          </m:d>
                          <m:r>
                            <a:rPr lang="es-ES" sz="2000" b="0" i="1" smtClean="0">
                              <a:latin typeface="Cambria Math" panose="02040503050406030204" pitchFamily="18" charset="0"/>
                            </a:rPr>
                            <m:t>=</m:t>
                          </m:r>
                          <m:r>
                            <a:rPr lang="es-ES_tradnl"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rPr>
                            <m:t>0</m:t>
                          </m:r>
                        </m:sub>
                      </m:sSub>
                      <m:r>
                        <a:rPr lang="es-ES" sz="2000" i="1">
                          <a:latin typeface="Cambria Math" panose="02040503050406030204" pitchFamily="18" charset="0"/>
                        </a:rPr>
                        <m:t>+</m:t>
                      </m:r>
                      <m:sSup>
                        <m:sSupPr>
                          <m:ctrlPr>
                            <a:rPr lang="es-ES" sz="2000" i="1">
                              <a:latin typeface="Cambria Math" panose="02040503050406030204" pitchFamily="18" charset="0"/>
                            </a:rPr>
                          </m:ctrlPr>
                        </m:sSupPr>
                        <m:e>
                          <m:r>
                            <a:rPr lang="es-ES" sz="2000" i="1">
                              <a:latin typeface="Cambria Math" panose="02040503050406030204" pitchFamily="18" charset="0"/>
                              <a:ea typeface="Cambria Math" panose="02040503050406030204" pitchFamily="18" charset="0"/>
                            </a:rPr>
                            <m:t>𝛽</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=0}</m:t>
                      </m:r>
                    </m:oMath>
                  </m:oMathPara>
                </a14:m>
                <a:endParaRPr lang="es-ES_tradnl" sz="2000" dirty="0"/>
              </a:p>
            </p:txBody>
          </p:sp>
        </mc:Choice>
        <mc:Fallback xmlns="">
          <p:sp>
            <p:nvSpPr>
              <p:cNvPr id="38" name="CuadroTexto 37">
                <a:extLst>
                  <a:ext uri="{FF2B5EF4-FFF2-40B4-BE49-F238E27FC236}">
                    <a16:creationId xmlns:a16="http://schemas.microsoft.com/office/drawing/2014/main" id="{B2E7D5CD-7099-48A2-ABA9-A46A56971AE3}"/>
                  </a:ext>
                </a:extLst>
              </p:cNvPr>
              <p:cNvSpPr txBox="1">
                <a:spLocks noRot="1" noChangeAspect="1" noMove="1" noResize="1" noEditPoints="1" noAdjustHandles="1" noChangeArrowheads="1" noChangeShapeType="1" noTextEdit="1"/>
              </p:cNvSpPr>
              <p:nvPr/>
            </p:nvSpPr>
            <p:spPr>
              <a:xfrm>
                <a:off x="4953967" y="2967334"/>
                <a:ext cx="3495059" cy="307777"/>
              </a:xfrm>
              <a:prstGeom prst="rect">
                <a:avLst/>
              </a:prstGeom>
              <a:blipFill>
                <a:blip r:embed="rId3"/>
                <a:stretch>
                  <a:fillRect l="-1396" t="-4000" r="-2269" b="-36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E597D54A-9992-4AE0-813D-E790051EB24B}"/>
                  </a:ext>
                </a:extLst>
              </p:cNvPr>
              <p:cNvSpPr txBox="1"/>
              <p:nvPr/>
            </p:nvSpPr>
            <p:spPr>
              <a:xfrm>
                <a:off x="4953002" y="2336393"/>
                <a:ext cx="2088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𝑓</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𝑥</m:t>
                          </m:r>
                        </m:e>
                      </m:d>
                      <m:r>
                        <a:rPr lang="es-ES" sz="2000" b="0" i="1" smtClean="0">
                          <a:latin typeface="Cambria Math" panose="02040503050406030204" pitchFamily="18" charset="0"/>
                        </a:rPr>
                        <m:t>=</m:t>
                      </m:r>
                      <m:sSub>
                        <m:sSubPr>
                          <m:ctrlPr>
                            <a:rPr lang="es-ES_tradnl" sz="2000" i="1">
                              <a:latin typeface="Cambria Math" panose="02040503050406030204" pitchFamily="18" charset="0"/>
                            </a:rPr>
                          </m:ctrlPr>
                        </m:sSubPr>
                        <m:e>
                          <m:r>
                            <a:rPr lang="es-ES_tradnl"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rPr>
                            <m:t>0</m:t>
                          </m:r>
                        </m:sub>
                      </m:sSub>
                      <m:r>
                        <a:rPr lang="es-ES" sz="2000" i="1">
                          <a:latin typeface="Cambria Math" panose="02040503050406030204" pitchFamily="18" charset="0"/>
                        </a:rPr>
                        <m:t>+</m:t>
                      </m:r>
                      <m:sSup>
                        <m:sSupPr>
                          <m:ctrlPr>
                            <a:rPr lang="es-ES" sz="2000" i="1">
                              <a:latin typeface="Cambria Math" panose="02040503050406030204" pitchFamily="18" charset="0"/>
                            </a:rPr>
                          </m:ctrlPr>
                        </m:sSupPr>
                        <m:e>
                          <m:r>
                            <a:rPr lang="es-ES" sz="2000" i="1">
                              <a:latin typeface="Cambria Math" panose="02040503050406030204" pitchFamily="18" charset="0"/>
                              <a:ea typeface="Cambria Math" panose="02040503050406030204" pitchFamily="18" charset="0"/>
                            </a:rPr>
                            <m:t>𝛽</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𝑥</m:t>
                      </m:r>
                    </m:oMath>
                  </m:oMathPara>
                </a14:m>
                <a:endParaRPr lang="es-ES_tradnl" sz="2000" dirty="0"/>
              </a:p>
            </p:txBody>
          </p:sp>
        </mc:Choice>
        <mc:Fallback xmlns="">
          <p:sp>
            <p:nvSpPr>
              <p:cNvPr id="39" name="CuadroTexto 38">
                <a:extLst>
                  <a:ext uri="{FF2B5EF4-FFF2-40B4-BE49-F238E27FC236}">
                    <a16:creationId xmlns:a16="http://schemas.microsoft.com/office/drawing/2014/main" id="{E597D54A-9992-4AE0-813D-E790051EB24B}"/>
                  </a:ext>
                </a:extLst>
              </p:cNvPr>
              <p:cNvSpPr txBox="1">
                <a:spLocks noRot="1" noChangeAspect="1" noMove="1" noResize="1" noEditPoints="1" noAdjustHandles="1" noChangeArrowheads="1" noChangeShapeType="1" noTextEdit="1"/>
              </p:cNvSpPr>
              <p:nvPr/>
            </p:nvSpPr>
            <p:spPr>
              <a:xfrm>
                <a:off x="4953002" y="2336393"/>
                <a:ext cx="2088329" cy="307777"/>
              </a:xfrm>
              <a:prstGeom prst="rect">
                <a:avLst/>
              </a:prstGeom>
              <a:blipFill>
                <a:blip r:embed="rId4"/>
                <a:stretch>
                  <a:fillRect l="-4094" t="-1961" r="-877" b="-33333"/>
                </a:stretch>
              </a:blipFill>
            </p:spPr>
            <p:txBody>
              <a:bodyPr/>
              <a:lstStyle/>
              <a:p>
                <a:r>
                  <a:rPr lang="es-ES_tradnl">
                    <a:noFill/>
                  </a:rPr>
                  <a:t> </a:t>
                </a:r>
              </a:p>
            </p:txBody>
          </p:sp>
        </mc:Fallback>
      </mc:AlternateContent>
      <p:cxnSp>
        <p:nvCxnSpPr>
          <p:cNvPr id="10" name="Conector recto de flecha 9">
            <a:extLst>
              <a:ext uri="{FF2B5EF4-FFF2-40B4-BE49-F238E27FC236}">
                <a16:creationId xmlns:a16="http://schemas.microsoft.com/office/drawing/2014/main" id="{C80BB0F1-9466-490E-AF0C-28E3D37A9D19}"/>
              </a:ext>
            </a:extLst>
          </p:cNvPr>
          <p:cNvCxnSpPr/>
          <p:nvPr/>
        </p:nvCxnSpPr>
        <p:spPr>
          <a:xfrm>
            <a:off x="1284065" y="2119536"/>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C760E032-9D38-4D36-9049-E46A90E56FF1}"/>
              </a:ext>
            </a:extLst>
          </p:cNvPr>
          <p:cNvCxnSpPr/>
          <p:nvPr/>
        </p:nvCxnSpPr>
        <p:spPr>
          <a:xfrm>
            <a:off x="1284065" y="4218894"/>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95F6AFD9-A9E8-46F6-A88D-1D1A53488DDC}"/>
              </a:ext>
            </a:extLst>
          </p:cNvPr>
          <p:cNvCxnSpPr>
            <a:cxnSpLocks/>
          </p:cNvCxnSpPr>
          <p:nvPr/>
        </p:nvCxnSpPr>
        <p:spPr>
          <a:xfrm>
            <a:off x="750665" y="2466294"/>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DA54FEC-3FC3-436A-9130-E3FD7BBC4229}"/>
                  </a:ext>
                </a:extLst>
              </p:cNvPr>
              <p:cNvSpPr txBox="1"/>
              <p:nvPr/>
            </p:nvSpPr>
            <p:spPr>
              <a:xfrm>
                <a:off x="2953697" y="3696790"/>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13" name="CuadroTexto 12">
                <a:extLst>
                  <a:ext uri="{FF2B5EF4-FFF2-40B4-BE49-F238E27FC236}">
                    <a16:creationId xmlns:a16="http://schemas.microsoft.com/office/drawing/2014/main" id="{CDA54FEC-3FC3-436A-9130-E3FD7BBC4229}"/>
                  </a:ext>
                </a:extLst>
              </p:cNvPr>
              <p:cNvSpPr txBox="1">
                <a:spLocks noRot="1" noChangeAspect="1" noMove="1" noResize="1" noEditPoints="1" noAdjustHandles="1" noChangeArrowheads="1" noChangeShapeType="1" noTextEdit="1"/>
              </p:cNvSpPr>
              <p:nvPr/>
            </p:nvSpPr>
            <p:spPr>
              <a:xfrm>
                <a:off x="2953697" y="3696790"/>
                <a:ext cx="1554336" cy="276999"/>
              </a:xfrm>
              <a:prstGeom prst="rect">
                <a:avLst/>
              </a:prstGeom>
              <a:blipFill>
                <a:blip r:embed="rId5"/>
                <a:stretch>
                  <a:fillRect l="-4706" t="-4348" r="-3137" b="-32609"/>
                </a:stretch>
              </a:blipFill>
            </p:spPr>
            <p:txBody>
              <a:bodyPr/>
              <a:lstStyle/>
              <a:p>
                <a:r>
                  <a:rPr lang="es-ES_tradnl">
                    <a:noFill/>
                  </a:rPr>
                  <a:t> </a:t>
                </a:r>
              </a:p>
            </p:txBody>
          </p:sp>
        </mc:Fallback>
      </mc:AlternateContent>
      <p:sp>
        <p:nvSpPr>
          <p:cNvPr id="20" name="Diagrama de flujo: conector 19">
            <a:extLst>
              <a:ext uri="{FF2B5EF4-FFF2-40B4-BE49-F238E27FC236}">
                <a16:creationId xmlns:a16="http://schemas.microsoft.com/office/drawing/2014/main" id="{66BF0F99-5ECD-4B6D-8861-22A9B969E47B}"/>
              </a:ext>
            </a:extLst>
          </p:cNvPr>
          <p:cNvSpPr/>
          <p:nvPr/>
        </p:nvSpPr>
        <p:spPr>
          <a:xfrm flipV="1">
            <a:off x="2218270" y="2379874"/>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Diagrama de flujo: conector 20">
            <a:extLst>
              <a:ext uri="{FF2B5EF4-FFF2-40B4-BE49-F238E27FC236}">
                <a16:creationId xmlns:a16="http://schemas.microsoft.com/office/drawing/2014/main" id="{2459940E-CE72-4263-B2C6-27565AE3F194}"/>
              </a:ext>
            </a:extLst>
          </p:cNvPr>
          <p:cNvSpPr/>
          <p:nvPr/>
        </p:nvSpPr>
        <p:spPr>
          <a:xfrm>
            <a:off x="2731865" y="28194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Diagrama de flujo: conector 21">
            <a:extLst>
              <a:ext uri="{FF2B5EF4-FFF2-40B4-BE49-F238E27FC236}">
                <a16:creationId xmlns:a16="http://schemas.microsoft.com/office/drawing/2014/main" id="{FB67636B-479F-49ED-88C2-84038156A48C}"/>
              </a:ext>
            </a:extLst>
          </p:cNvPr>
          <p:cNvSpPr/>
          <p:nvPr/>
        </p:nvSpPr>
        <p:spPr>
          <a:xfrm flipV="1">
            <a:off x="2808065" y="22098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Diagrama de flujo: conector 22">
            <a:extLst>
              <a:ext uri="{FF2B5EF4-FFF2-40B4-BE49-F238E27FC236}">
                <a16:creationId xmlns:a16="http://schemas.microsoft.com/office/drawing/2014/main" id="{BFCCAD9C-ECBA-42BF-87A7-BAA51E27A00D}"/>
              </a:ext>
            </a:extLst>
          </p:cNvPr>
          <p:cNvSpPr/>
          <p:nvPr/>
        </p:nvSpPr>
        <p:spPr>
          <a:xfrm flipV="1">
            <a:off x="2808065" y="33972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4" name="Diagrama de flujo: extraer 23">
            <a:extLst>
              <a:ext uri="{FF2B5EF4-FFF2-40B4-BE49-F238E27FC236}">
                <a16:creationId xmlns:a16="http://schemas.microsoft.com/office/drawing/2014/main" id="{E22F3972-C239-4437-9C8C-8DA70DE68AAC}"/>
              </a:ext>
            </a:extLst>
          </p:cNvPr>
          <p:cNvSpPr/>
          <p:nvPr/>
        </p:nvSpPr>
        <p:spPr>
          <a:xfrm>
            <a:off x="979265" y="3836595"/>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5" name="Diagrama de flujo: extraer 24">
            <a:extLst>
              <a:ext uri="{FF2B5EF4-FFF2-40B4-BE49-F238E27FC236}">
                <a16:creationId xmlns:a16="http://schemas.microsoft.com/office/drawing/2014/main" id="{C7574F7D-8478-47AF-9D51-2340137B3FE0}"/>
              </a:ext>
            </a:extLst>
          </p:cNvPr>
          <p:cNvSpPr/>
          <p:nvPr/>
        </p:nvSpPr>
        <p:spPr>
          <a:xfrm>
            <a:off x="1785665" y="3988995"/>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Diagrama de flujo: extraer 25">
            <a:extLst>
              <a:ext uri="{FF2B5EF4-FFF2-40B4-BE49-F238E27FC236}">
                <a16:creationId xmlns:a16="http://schemas.microsoft.com/office/drawing/2014/main" id="{8693253B-E12D-4790-A226-46E0B148366B}"/>
              </a:ext>
            </a:extLst>
          </p:cNvPr>
          <p:cNvSpPr/>
          <p:nvPr/>
        </p:nvSpPr>
        <p:spPr>
          <a:xfrm>
            <a:off x="2623865" y="43434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Diagrama de flujo: extraer 26">
            <a:extLst>
              <a:ext uri="{FF2B5EF4-FFF2-40B4-BE49-F238E27FC236}">
                <a16:creationId xmlns:a16="http://schemas.microsoft.com/office/drawing/2014/main" id="{DE61F259-DCFD-4D90-88B8-033A38017ED3}"/>
              </a:ext>
            </a:extLst>
          </p:cNvPr>
          <p:cNvSpPr/>
          <p:nvPr/>
        </p:nvSpPr>
        <p:spPr>
          <a:xfrm>
            <a:off x="903065" y="30480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Diagrama de flujo: extraer 27">
            <a:extLst>
              <a:ext uri="{FF2B5EF4-FFF2-40B4-BE49-F238E27FC236}">
                <a16:creationId xmlns:a16="http://schemas.microsoft.com/office/drawing/2014/main" id="{2B021CD5-2FA2-4872-9C8D-36665C016CA0}"/>
              </a:ext>
            </a:extLst>
          </p:cNvPr>
          <p:cNvSpPr/>
          <p:nvPr/>
        </p:nvSpPr>
        <p:spPr>
          <a:xfrm>
            <a:off x="1709465" y="44640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9" name="Diagrama de flujo: conector 28">
            <a:extLst>
              <a:ext uri="{FF2B5EF4-FFF2-40B4-BE49-F238E27FC236}">
                <a16:creationId xmlns:a16="http://schemas.microsoft.com/office/drawing/2014/main" id="{5BFF29D5-4534-4071-9EA9-895D722ACF38}"/>
              </a:ext>
            </a:extLst>
          </p:cNvPr>
          <p:cNvSpPr/>
          <p:nvPr/>
        </p:nvSpPr>
        <p:spPr>
          <a:xfrm flipV="1">
            <a:off x="3538265" y="28956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0" name="Diagrama de flujo: conector 29">
            <a:extLst>
              <a:ext uri="{FF2B5EF4-FFF2-40B4-BE49-F238E27FC236}">
                <a16:creationId xmlns:a16="http://schemas.microsoft.com/office/drawing/2014/main" id="{A4FEBF75-89C9-457F-BC16-8A4E72D22FFA}"/>
              </a:ext>
            </a:extLst>
          </p:cNvPr>
          <p:cNvSpPr/>
          <p:nvPr/>
        </p:nvSpPr>
        <p:spPr>
          <a:xfrm flipV="1">
            <a:off x="1817465" y="19812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289586433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just">
              <a:spcBef>
                <a:spcPct val="50000"/>
              </a:spcBef>
            </a:pPr>
            <a:r>
              <a:rPr lang="en-US" dirty="0"/>
              <a:t>Optimal Separating Hyperplanes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533400" y="1577370"/>
            <a:ext cx="7848600" cy="861774"/>
          </a:xfrm>
          <a:prstGeom prst="rect">
            <a:avLst/>
          </a:prstGeom>
        </p:spPr>
        <p:txBody>
          <a:bodyPr wrap="square">
            <a:spAutoFit/>
          </a:bodyPr>
          <a:lstStyle/>
          <a:p>
            <a:pPr algn="just">
              <a:spcBef>
                <a:spcPct val="50000"/>
              </a:spcBef>
            </a:pPr>
            <a:r>
              <a:rPr lang="en-US" sz="2000" b="1" dirty="0"/>
              <a:t>Basic algebra</a:t>
            </a:r>
          </a:p>
          <a:p>
            <a:pPr algn="just">
              <a:spcBef>
                <a:spcPct val="50000"/>
              </a:spcBef>
            </a:pPr>
            <a:endParaRPr lang="es-ES" sz="2000" b="1" dirty="0"/>
          </a:p>
        </p:txBody>
      </p:sp>
      <p:sp>
        <p:nvSpPr>
          <p:cNvPr id="9" name="Text Box 3">
            <a:extLst>
              <a:ext uri="{FF2B5EF4-FFF2-40B4-BE49-F238E27FC236}">
                <a16:creationId xmlns:a16="http://schemas.microsoft.com/office/drawing/2014/main" id="{D9A7289D-6DE0-4003-BA8E-7E6DE88A9BA8}"/>
              </a:ext>
            </a:extLst>
          </p:cNvPr>
          <p:cNvSpPr txBox="1">
            <a:spLocks noChangeArrowheads="1"/>
          </p:cNvSpPr>
          <p:nvPr/>
        </p:nvSpPr>
        <p:spPr bwMode="auto">
          <a:xfrm>
            <a:off x="4724400" y="3453111"/>
            <a:ext cx="4114800" cy="400110"/>
          </a:xfrm>
          <a:prstGeom prst="rect">
            <a:avLst/>
          </a:prstGeom>
        </p:spPr>
        <p:txBody>
          <a:bodyPr wrap="square">
            <a:spAutoFit/>
          </a:bodyPr>
          <a:lstStyle/>
          <a:p>
            <a:pPr algn="just">
              <a:spcBef>
                <a:spcPct val="50000"/>
              </a:spcBef>
            </a:pPr>
            <a:r>
              <a:rPr lang="es-ES" sz="2000" b="1" dirty="0" err="1"/>
              <a:t>Signed</a:t>
            </a:r>
            <a:r>
              <a:rPr lang="es-ES" sz="2000" b="1" dirty="0"/>
              <a:t> </a:t>
            </a:r>
            <a:r>
              <a:rPr lang="es-ES" sz="2000" b="1" dirty="0" err="1"/>
              <a:t>distance</a:t>
            </a:r>
            <a:r>
              <a:rPr lang="es-ES" sz="2000" b="1" dirty="0"/>
              <a:t> </a:t>
            </a:r>
            <a:r>
              <a:rPr lang="es-ES" sz="2000" b="1" dirty="0" err="1"/>
              <a:t>of</a:t>
            </a:r>
            <a:r>
              <a:rPr lang="es-ES" sz="2000" b="1" dirty="0"/>
              <a:t> </a:t>
            </a:r>
            <a:r>
              <a:rPr lang="es-ES" sz="2000" b="1" dirty="0" err="1"/>
              <a:t>any</a:t>
            </a:r>
            <a:r>
              <a:rPr lang="es-ES" sz="2000" b="1" dirty="0"/>
              <a:t> </a:t>
            </a:r>
            <a:r>
              <a:rPr lang="es-ES" sz="2000" b="1" dirty="0" err="1"/>
              <a:t>point</a:t>
            </a:r>
            <a:r>
              <a:rPr lang="es-ES" sz="2000" b="1" dirty="0"/>
              <a:t> x </a:t>
            </a:r>
            <a:r>
              <a:rPr lang="es-ES" sz="2000" b="1" dirty="0" err="1"/>
              <a:t>to</a:t>
            </a:r>
            <a:r>
              <a:rPr lang="es-ES" sz="2000" b="1" dirty="0"/>
              <a:t> L:</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90EDF47-16B9-484B-8B09-3AA3C6F1EF0D}"/>
                  </a:ext>
                </a:extLst>
              </p:cNvPr>
              <p:cNvSpPr txBox="1"/>
              <p:nvPr/>
            </p:nvSpPr>
            <p:spPr>
              <a:xfrm>
                <a:off x="4801565" y="2459741"/>
                <a:ext cx="349505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𝐿</m:t>
                      </m:r>
                      <m:r>
                        <a:rPr lang="es-ES" sz="2000" b="0" i="1" smtClean="0">
                          <a:latin typeface="Cambria Math" panose="02040503050406030204" pitchFamily="18" charset="0"/>
                        </a:rPr>
                        <m:t>={</m:t>
                      </m:r>
                      <m:r>
                        <a:rPr lang="es-ES" sz="2000" b="0" i="1" smtClean="0">
                          <a:latin typeface="Cambria Math" panose="02040503050406030204" pitchFamily="18" charset="0"/>
                        </a:rPr>
                        <m:t>𝑥</m:t>
                      </m:r>
                      <m:r>
                        <a:rPr lang="es-ES" sz="2000" b="0" i="1" smtClean="0">
                          <a:latin typeface="Cambria Math" panose="02040503050406030204" pitchFamily="18" charset="0"/>
                        </a:rPr>
                        <m:t>:</m:t>
                      </m:r>
                      <m:sSub>
                        <m:sSubPr>
                          <m:ctrlPr>
                            <a:rPr lang="es-ES_tradnl" sz="2000" i="1">
                              <a:latin typeface="Cambria Math" panose="02040503050406030204" pitchFamily="18" charset="0"/>
                            </a:rPr>
                          </m:ctrlPr>
                        </m:sSubPr>
                        <m:e>
                          <m:r>
                            <a:rPr lang="es-ES" sz="2000" b="0" i="1" smtClean="0">
                              <a:latin typeface="Cambria Math" panose="02040503050406030204" pitchFamily="18" charset="0"/>
                            </a:rPr>
                            <m:t>𝑓</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𝑥</m:t>
                              </m:r>
                            </m:e>
                          </m:d>
                          <m:r>
                            <a:rPr lang="es-ES" sz="2000" b="0" i="1" smtClean="0">
                              <a:latin typeface="Cambria Math" panose="02040503050406030204" pitchFamily="18" charset="0"/>
                            </a:rPr>
                            <m:t>=</m:t>
                          </m:r>
                          <m:r>
                            <a:rPr lang="es-ES_tradnl"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rPr>
                            <m:t>0</m:t>
                          </m:r>
                        </m:sub>
                      </m:sSub>
                      <m:r>
                        <a:rPr lang="es-ES" sz="2000" i="1">
                          <a:latin typeface="Cambria Math" panose="02040503050406030204" pitchFamily="18" charset="0"/>
                        </a:rPr>
                        <m:t>+</m:t>
                      </m:r>
                      <m:sSup>
                        <m:sSupPr>
                          <m:ctrlPr>
                            <a:rPr lang="es-ES" sz="2000" i="1">
                              <a:latin typeface="Cambria Math" panose="02040503050406030204" pitchFamily="18" charset="0"/>
                            </a:rPr>
                          </m:ctrlPr>
                        </m:sSupPr>
                        <m:e>
                          <m:r>
                            <a:rPr lang="es-ES" sz="2000" i="1">
                              <a:latin typeface="Cambria Math" panose="02040503050406030204" pitchFamily="18" charset="0"/>
                              <a:ea typeface="Cambria Math" panose="02040503050406030204" pitchFamily="18" charset="0"/>
                            </a:rPr>
                            <m:t>𝛽</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=0}</m:t>
                      </m:r>
                    </m:oMath>
                  </m:oMathPara>
                </a14:m>
                <a:endParaRPr lang="es-ES_tradnl" sz="2000" dirty="0"/>
              </a:p>
            </p:txBody>
          </p:sp>
        </mc:Choice>
        <mc:Fallback xmlns="">
          <p:sp>
            <p:nvSpPr>
              <p:cNvPr id="2" name="CuadroTexto 1">
                <a:extLst>
                  <a:ext uri="{FF2B5EF4-FFF2-40B4-BE49-F238E27FC236}">
                    <a16:creationId xmlns:a16="http://schemas.microsoft.com/office/drawing/2014/main" id="{D90EDF47-16B9-484B-8B09-3AA3C6F1EF0D}"/>
                  </a:ext>
                </a:extLst>
              </p:cNvPr>
              <p:cNvSpPr txBox="1">
                <a:spLocks noRot="1" noChangeAspect="1" noMove="1" noResize="1" noEditPoints="1" noAdjustHandles="1" noChangeArrowheads="1" noChangeShapeType="1" noTextEdit="1"/>
              </p:cNvSpPr>
              <p:nvPr/>
            </p:nvSpPr>
            <p:spPr>
              <a:xfrm>
                <a:off x="4801565" y="2459741"/>
                <a:ext cx="3495059" cy="307777"/>
              </a:xfrm>
              <a:prstGeom prst="rect">
                <a:avLst/>
              </a:prstGeom>
              <a:blipFill>
                <a:blip r:embed="rId3"/>
                <a:stretch>
                  <a:fillRect l="-1396" t="-4000" r="-2269" b="-34000"/>
                </a:stretch>
              </a:blipFill>
            </p:spPr>
            <p:txBody>
              <a:bodyPr/>
              <a:lstStyle/>
              <a:p>
                <a:r>
                  <a:rPr lang="es-ES_tradnl">
                    <a:noFill/>
                  </a:rPr>
                  <a:t> </a:t>
                </a:r>
              </a:p>
            </p:txBody>
          </p:sp>
        </mc:Fallback>
      </mc:AlternateContent>
      <p:cxnSp>
        <p:nvCxnSpPr>
          <p:cNvPr id="10" name="Conector recto de flecha 9">
            <a:extLst>
              <a:ext uri="{FF2B5EF4-FFF2-40B4-BE49-F238E27FC236}">
                <a16:creationId xmlns:a16="http://schemas.microsoft.com/office/drawing/2014/main" id="{BE61D523-0D0A-4557-9FB3-BDA6B8FA2345}"/>
              </a:ext>
            </a:extLst>
          </p:cNvPr>
          <p:cNvCxnSpPr/>
          <p:nvPr/>
        </p:nvCxnSpPr>
        <p:spPr>
          <a:xfrm>
            <a:off x="762000" y="2777442"/>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3177CBD8-6977-4C08-95FF-DF864160F3A9}"/>
              </a:ext>
            </a:extLst>
          </p:cNvPr>
          <p:cNvCxnSpPr/>
          <p:nvPr/>
        </p:nvCxnSpPr>
        <p:spPr>
          <a:xfrm>
            <a:off x="762000" y="4876800"/>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13EA61D7-6C93-489A-A296-C1FCDD89B5AC}"/>
              </a:ext>
            </a:extLst>
          </p:cNvPr>
          <p:cNvCxnSpPr/>
          <p:nvPr/>
        </p:nvCxnSpPr>
        <p:spPr>
          <a:xfrm>
            <a:off x="228600" y="3124200"/>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E715F89-67CF-48B1-85E6-F80AB8446FEF}"/>
              </a:ext>
            </a:extLst>
          </p:cNvPr>
          <p:cNvCxnSpPr/>
          <p:nvPr/>
        </p:nvCxnSpPr>
        <p:spPr>
          <a:xfrm flipV="1">
            <a:off x="762000" y="2895600"/>
            <a:ext cx="1752600" cy="198120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6EF7E01E-8931-4F27-95E0-980167016F64}"/>
              </a:ext>
            </a:extLst>
          </p:cNvPr>
          <p:cNvCxnSpPr>
            <a:cxnSpLocks/>
          </p:cNvCxnSpPr>
          <p:nvPr/>
        </p:nvCxnSpPr>
        <p:spPr>
          <a:xfrm flipV="1">
            <a:off x="1524001" y="3733800"/>
            <a:ext cx="1447799" cy="34024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BA447879-0794-4732-AEEA-BD11AEBE6254}"/>
              </a:ext>
            </a:extLst>
          </p:cNvPr>
          <p:cNvCxnSpPr>
            <a:cxnSpLocks/>
          </p:cNvCxnSpPr>
          <p:nvPr/>
        </p:nvCxnSpPr>
        <p:spPr>
          <a:xfrm>
            <a:off x="2247900" y="3164952"/>
            <a:ext cx="723900" cy="56884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F3977C5E-2DCB-4C88-840E-CC5242148657}"/>
              </a:ext>
            </a:extLst>
          </p:cNvPr>
          <p:cNvCxnSpPr/>
          <p:nvPr/>
        </p:nvCxnSpPr>
        <p:spPr>
          <a:xfrm flipV="1">
            <a:off x="762000" y="4267200"/>
            <a:ext cx="533400" cy="609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645B089E-0E4D-4B1E-8596-06080610B275}"/>
                  </a:ext>
                </a:extLst>
              </p:cNvPr>
              <p:cNvSpPr txBox="1"/>
              <p:nvPr/>
            </p:nvSpPr>
            <p:spPr>
              <a:xfrm>
                <a:off x="2363439" y="4283646"/>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8" name="CuadroTexto 27">
                <a:extLst>
                  <a:ext uri="{FF2B5EF4-FFF2-40B4-BE49-F238E27FC236}">
                    <a16:creationId xmlns:a16="http://schemas.microsoft.com/office/drawing/2014/main" id="{645B089E-0E4D-4B1E-8596-06080610B275}"/>
                  </a:ext>
                </a:extLst>
              </p:cNvPr>
              <p:cNvSpPr txBox="1">
                <a:spLocks noRot="1" noChangeAspect="1" noMove="1" noResize="1" noEditPoints="1" noAdjustHandles="1" noChangeArrowheads="1" noChangeShapeType="1" noTextEdit="1"/>
              </p:cNvSpPr>
              <p:nvPr/>
            </p:nvSpPr>
            <p:spPr>
              <a:xfrm>
                <a:off x="2363439" y="4283646"/>
                <a:ext cx="1554336" cy="276999"/>
              </a:xfrm>
              <a:prstGeom prst="rect">
                <a:avLst/>
              </a:prstGeom>
              <a:blipFill>
                <a:blip r:embed="rId4"/>
                <a:stretch>
                  <a:fillRect l="-4706" t="-4444" r="-3137" b="-3555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04DCE7A9-A893-45AC-8898-3154FE9AEF19}"/>
                  </a:ext>
                </a:extLst>
              </p:cNvPr>
              <p:cNvSpPr txBox="1"/>
              <p:nvPr/>
            </p:nvSpPr>
            <p:spPr>
              <a:xfrm>
                <a:off x="3152172" y="3603585"/>
                <a:ext cx="12442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𝑥</m:t>
                      </m:r>
                    </m:oMath>
                  </m:oMathPara>
                </a14:m>
                <a:endParaRPr lang="es-ES_tradnl" dirty="0"/>
              </a:p>
            </p:txBody>
          </p:sp>
        </mc:Choice>
        <mc:Fallback xmlns="">
          <p:sp>
            <p:nvSpPr>
              <p:cNvPr id="32" name="CuadroTexto 31">
                <a:extLst>
                  <a:ext uri="{FF2B5EF4-FFF2-40B4-BE49-F238E27FC236}">
                    <a16:creationId xmlns:a16="http://schemas.microsoft.com/office/drawing/2014/main" id="{04DCE7A9-A893-45AC-8898-3154FE9AEF19}"/>
                  </a:ext>
                </a:extLst>
              </p:cNvPr>
              <p:cNvSpPr txBox="1">
                <a:spLocks noRot="1" noChangeAspect="1" noMove="1" noResize="1" noEditPoints="1" noAdjustHandles="1" noChangeArrowheads="1" noChangeShapeType="1" noTextEdit="1"/>
              </p:cNvSpPr>
              <p:nvPr/>
            </p:nvSpPr>
            <p:spPr>
              <a:xfrm>
                <a:off x="3152172" y="3603585"/>
                <a:ext cx="124428" cy="276999"/>
              </a:xfrm>
              <a:prstGeom prst="rect">
                <a:avLst/>
              </a:prstGeom>
              <a:blipFill>
                <a:blip r:embed="rId5"/>
                <a:stretch>
                  <a:fillRect l="-47619" r="-4285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2DBFC33-C356-4907-821D-2AFA1BD9B7A9}"/>
                  </a:ext>
                </a:extLst>
              </p:cNvPr>
              <p:cNvSpPr txBox="1"/>
              <p:nvPr/>
            </p:nvSpPr>
            <p:spPr>
              <a:xfrm>
                <a:off x="1219200" y="4447401"/>
                <a:ext cx="12442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_tradnl" i="1" smtClean="0">
                              <a:latin typeface="Cambria Math" panose="02040503050406030204" pitchFamily="18" charset="0"/>
                            </a:rPr>
                          </m:ctrlPr>
                        </m:sSupPr>
                        <m:e>
                          <m:r>
                            <a:rPr lang="es-ES_tradnl"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m:t>
                          </m:r>
                        </m:sup>
                      </m:sSup>
                    </m:oMath>
                  </m:oMathPara>
                </a14:m>
                <a:endParaRPr lang="es-ES_tradnl" dirty="0"/>
              </a:p>
            </p:txBody>
          </p:sp>
        </mc:Choice>
        <mc:Fallback xmlns="">
          <p:sp>
            <p:nvSpPr>
              <p:cNvPr id="33" name="CuadroTexto 32">
                <a:extLst>
                  <a:ext uri="{FF2B5EF4-FFF2-40B4-BE49-F238E27FC236}">
                    <a16:creationId xmlns:a16="http://schemas.microsoft.com/office/drawing/2014/main" id="{A2DBFC33-C356-4907-821D-2AFA1BD9B7A9}"/>
                  </a:ext>
                </a:extLst>
              </p:cNvPr>
              <p:cNvSpPr txBox="1">
                <a:spLocks noRot="1" noChangeAspect="1" noMove="1" noResize="1" noEditPoints="1" noAdjustHandles="1" noChangeArrowheads="1" noChangeShapeType="1" noTextEdit="1"/>
              </p:cNvSpPr>
              <p:nvPr/>
            </p:nvSpPr>
            <p:spPr>
              <a:xfrm>
                <a:off x="1219200" y="4447401"/>
                <a:ext cx="124428" cy="276999"/>
              </a:xfrm>
              <a:prstGeom prst="rect">
                <a:avLst/>
              </a:prstGeom>
              <a:blipFill>
                <a:blip r:embed="rId6"/>
                <a:stretch>
                  <a:fillRect l="-90000" t="-4444" r="-125000" b="-3555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DCBC87F8-50D8-4A70-BF58-E58AA7851416}"/>
                  </a:ext>
                </a:extLst>
              </p:cNvPr>
              <p:cNvSpPr txBox="1"/>
              <p:nvPr/>
            </p:nvSpPr>
            <p:spPr>
              <a:xfrm>
                <a:off x="1371600" y="3581400"/>
                <a:ext cx="12442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0</m:t>
                          </m:r>
                        </m:sub>
                      </m:sSub>
                    </m:oMath>
                  </m:oMathPara>
                </a14:m>
                <a:endParaRPr lang="es-ES_tradnl" dirty="0"/>
              </a:p>
            </p:txBody>
          </p:sp>
        </mc:Choice>
        <mc:Fallback xmlns="">
          <p:sp>
            <p:nvSpPr>
              <p:cNvPr id="34" name="CuadroTexto 33">
                <a:extLst>
                  <a:ext uri="{FF2B5EF4-FFF2-40B4-BE49-F238E27FC236}">
                    <a16:creationId xmlns:a16="http://schemas.microsoft.com/office/drawing/2014/main" id="{DCBC87F8-50D8-4A70-BF58-E58AA7851416}"/>
                  </a:ext>
                </a:extLst>
              </p:cNvPr>
              <p:cNvSpPr txBox="1">
                <a:spLocks noRot="1" noChangeAspect="1" noMove="1" noResize="1" noEditPoints="1" noAdjustHandles="1" noChangeArrowheads="1" noChangeShapeType="1" noTextEdit="1"/>
              </p:cNvSpPr>
              <p:nvPr/>
            </p:nvSpPr>
            <p:spPr>
              <a:xfrm>
                <a:off x="1371600" y="3581400"/>
                <a:ext cx="124428" cy="276999"/>
              </a:xfrm>
              <a:prstGeom prst="rect">
                <a:avLst/>
              </a:prstGeom>
              <a:blipFill>
                <a:blip r:embed="rId7"/>
                <a:stretch>
                  <a:fillRect l="-50000" r="-125000" b="-1555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11424D98-8058-491B-9B7D-688E24C98AEC}"/>
                  </a:ext>
                </a:extLst>
              </p:cNvPr>
              <p:cNvSpPr txBox="1"/>
              <p:nvPr/>
            </p:nvSpPr>
            <p:spPr>
              <a:xfrm>
                <a:off x="4800600" y="4154535"/>
                <a:ext cx="3200400" cy="1255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sz="2000" b="0" i="1" smtClean="0">
                              <a:latin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𝛽</m:t>
                          </m:r>
                        </m:e>
                        <m:sup>
                          <m:r>
                            <a:rPr lang="es-ES" sz="2000" b="0" i="1" smtClean="0">
                              <a:latin typeface="Cambria Math" panose="02040503050406030204" pitchFamily="18" charset="0"/>
                            </a:rPr>
                            <m:t>∗</m:t>
                          </m:r>
                          <m:r>
                            <a:rPr lang="es-ES" sz="2000" b="0" i="1" smtClean="0">
                              <a:latin typeface="Cambria Math" panose="02040503050406030204" pitchFamily="18" charset="0"/>
                            </a:rPr>
                            <m:t>𝑇</m:t>
                          </m:r>
                        </m:sup>
                      </m:sSup>
                      <m:d>
                        <m:dPr>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m:t>
                          </m:r>
                          <m:sSub>
                            <m:sSubPr>
                              <m:ctrlPr>
                                <a:rPr lang="es-ES_tradnl"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0</m:t>
                              </m:r>
                            </m:sub>
                          </m:sSub>
                        </m:e>
                      </m:d>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d>
                            <m:dPr>
                              <m:begChr m:val="‖"/>
                              <m:endChr m:val="‖"/>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𝛽</m:t>
                              </m:r>
                            </m:e>
                          </m:d>
                        </m:den>
                      </m:f>
                      <m:d>
                        <m:dPr>
                          <m:ctrlPr>
                            <a:rPr lang="es-ES" sz="2000" b="0" i="1" smtClean="0">
                              <a:latin typeface="Cambria Math" panose="02040503050406030204" pitchFamily="18" charset="0"/>
                              <a:ea typeface="Cambria Math" panose="02040503050406030204" pitchFamily="18" charset="0"/>
                            </a:rPr>
                          </m:ctrlPr>
                        </m:dPr>
                        <m:e>
                          <m:sSup>
                            <m:sSupPr>
                              <m:ctrlPr>
                                <a:rPr lang="es-ES" sz="2000" i="1">
                                  <a:latin typeface="Cambria Math" panose="02040503050406030204" pitchFamily="18" charset="0"/>
                                </a:rPr>
                              </m:ctrlPr>
                            </m:sSupPr>
                            <m:e>
                              <m:r>
                                <a:rPr lang="es-ES" sz="2000" i="1">
                                  <a:latin typeface="Cambria Math" panose="02040503050406030204" pitchFamily="18" charset="0"/>
                                  <a:ea typeface="Cambria Math" panose="02040503050406030204" pitchFamily="18" charset="0"/>
                                </a:rPr>
                                <m:t>𝛽</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m:t>
                          </m:r>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e>
                      </m:d>
                      <m:r>
                        <a:rPr lang="es-ES" sz="2000" b="0" i="0" smtClean="0">
                          <a:latin typeface="Cambria Math" panose="02040503050406030204" pitchFamily="18" charset="0"/>
                          <a:ea typeface="Cambria Math" panose="02040503050406030204" pitchFamily="18" charset="0"/>
                        </a:rPr>
                        <m:t>=</m:t>
                      </m:r>
                      <m:f>
                        <m:fPr>
                          <m:ctrlPr>
                            <a:rPr lang="es-ES" sz="2000" i="1">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𝑓</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m:t>
                          </m:r>
                        </m:num>
                        <m:den>
                          <m:d>
                            <m:dPr>
                              <m:begChr m:val="‖"/>
                              <m:endChr m:val="‖"/>
                              <m:ctrlPr>
                                <a:rPr lang="es-ES" sz="2000" i="1">
                                  <a:latin typeface="Cambria Math" panose="02040503050406030204" pitchFamily="18" charset="0"/>
                                  <a:ea typeface="Cambria Math" panose="02040503050406030204" pitchFamily="18" charset="0"/>
                                </a:rPr>
                              </m:ctrlPr>
                            </m:dPr>
                            <m:e>
                              <m:sSup>
                                <m:sSupPr>
                                  <m:ctrlPr>
                                    <a:rPr lang="es-ES" sz="2000" i="1" smtClean="0">
                                      <a:latin typeface="Cambria Math" panose="02040503050406030204" pitchFamily="18" charset="0"/>
                                      <a:ea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𝑓</m:t>
                                  </m:r>
                                </m:e>
                                <m:sup>
                                  <m:r>
                                    <a:rPr lang="es-ES" sz="2000" b="0" i="1" smtClean="0">
                                      <a:latin typeface="Cambria Math" panose="02040503050406030204" pitchFamily="18" charset="0"/>
                                      <a:ea typeface="Cambria Math" panose="02040503050406030204" pitchFamily="18" charset="0"/>
                                    </a:rPr>
                                    <m:t>′</m:t>
                                  </m:r>
                                </m:sup>
                              </m:sSup>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𝑥</m:t>
                              </m:r>
                              <m:r>
                                <a:rPr lang="es-ES" sz="2000" b="0" i="1" smtClean="0">
                                  <a:latin typeface="Cambria Math" panose="02040503050406030204" pitchFamily="18" charset="0"/>
                                  <a:ea typeface="Cambria Math" panose="02040503050406030204" pitchFamily="18" charset="0"/>
                                </a:rPr>
                                <m:t>)</m:t>
                              </m:r>
                            </m:e>
                          </m:d>
                        </m:den>
                      </m:f>
                    </m:oMath>
                  </m:oMathPara>
                </a14:m>
                <a:endParaRPr lang="es-ES" sz="2000" b="0" dirty="0">
                  <a:ea typeface="Cambria Math" panose="02040503050406030204" pitchFamily="18" charset="0"/>
                </a:endParaRPr>
              </a:p>
              <a:p>
                <a:endParaRPr lang="es-ES_tradnl" sz="2000" dirty="0"/>
              </a:p>
            </p:txBody>
          </p:sp>
        </mc:Choice>
        <mc:Fallback xmlns="">
          <p:sp>
            <p:nvSpPr>
              <p:cNvPr id="35" name="CuadroTexto 34">
                <a:extLst>
                  <a:ext uri="{FF2B5EF4-FFF2-40B4-BE49-F238E27FC236}">
                    <a16:creationId xmlns:a16="http://schemas.microsoft.com/office/drawing/2014/main" id="{11424D98-8058-491B-9B7D-688E24C98AEC}"/>
                  </a:ext>
                </a:extLst>
              </p:cNvPr>
              <p:cNvSpPr txBox="1">
                <a:spLocks noRot="1" noChangeAspect="1" noMove="1" noResize="1" noEditPoints="1" noAdjustHandles="1" noChangeArrowheads="1" noChangeShapeType="1" noTextEdit="1"/>
              </p:cNvSpPr>
              <p:nvPr/>
            </p:nvSpPr>
            <p:spPr>
              <a:xfrm>
                <a:off x="4800600" y="4154535"/>
                <a:ext cx="3200400" cy="1255665"/>
              </a:xfrm>
              <a:prstGeom prst="rect">
                <a:avLst/>
              </a:prstGeom>
              <a:blipFill>
                <a:blip r:embed="rId8"/>
                <a:stretch>
                  <a:fillRect l="-266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1DA4D46B-6735-499C-96C3-63843F57629B}"/>
                  </a:ext>
                </a:extLst>
              </p:cNvPr>
              <p:cNvSpPr txBox="1"/>
              <p:nvPr/>
            </p:nvSpPr>
            <p:spPr>
              <a:xfrm>
                <a:off x="4800600" y="1828800"/>
                <a:ext cx="190218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𝑓</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𝑥</m:t>
                          </m:r>
                        </m:e>
                      </m:d>
                      <m:r>
                        <a:rPr lang="es-ES" sz="2000" b="0" i="1" smtClean="0">
                          <a:latin typeface="Cambria Math" panose="02040503050406030204" pitchFamily="18" charset="0"/>
                        </a:rPr>
                        <m:t>=</m:t>
                      </m:r>
                      <m:sSub>
                        <m:sSubPr>
                          <m:ctrlPr>
                            <a:rPr lang="es-ES_tradnl" sz="2000" i="1">
                              <a:latin typeface="Cambria Math" panose="02040503050406030204" pitchFamily="18" charset="0"/>
                            </a:rPr>
                          </m:ctrlPr>
                        </m:sSubPr>
                        <m:e>
                          <m:r>
                            <a:rPr lang="es-ES_tradnl"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rPr>
                            <m:t>0</m:t>
                          </m:r>
                        </m:sub>
                      </m:sSub>
                      <m:r>
                        <a:rPr lang="es-ES" sz="2000" i="1">
                          <a:latin typeface="Cambria Math" panose="02040503050406030204" pitchFamily="18" charset="0"/>
                        </a:rPr>
                        <m:t>+</m:t>
                      </m:r>
                      <m:sSup>
                        <m:sSupPr>
                          <m:ctrlPr>
                            <a:rPr lang="es-ES" sz="2000" i="1">
                              <a:latin typeface="Cambria Math" panose="02040503050406030204" pitchFamily="18" charset="0"/>
                            </a:rPr>
                          </m:ctrlPr>
                        </m:sSupPr>
                        <m:e>
                          <m:r>
                            <a:rPr lang="es-ES" sz="2000" i="1">
                              <a:latin typeface="Cambria Math" panose="02040503050406030204" pitchFamily="18" charset="0"/>
                              <a:ea typeface="Cambria Math" panose="02040503050406030204" pitchFamily="18" charset="0"/>
                            </a:rPr>
                            <m:t>𝛽</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𝑥</m:t>
                      </m:r>
                    </m:oMath>
                  </m:oMathPara>
                </a14:m>
                <a:endParaRPr lang="es-ES_tradnl" sz="2000" dirty="0"/>
              </a:p>
            </p:txBody>
          </p:sp>
        </mc:Choice>
        <mc:Fallback xmlns="">
          <p:sp>
            <p:nvSpPr>
              <p:cNvPr id="36" name="CuadroTexto 35">
                <a:extLst>
                  <a:ext uri="{FF2B5EF4-FFF2-40B4-BE49-F238E27FC236}">
                    <a16:creationId xmlns:a16="http://schemas.microsoft.com/office/drawing/2014/main" id="{1DA4D46B-6735-499C-96C3-63843F57629B}"/>
                  </a:ext>
                </a:extLst>
              </p:cNvPr>
              <p:cNvSpPr txBox="1">
                <a:spLocks noRot="1" noChangeAspect="1" noMove="1" noResize="1" noEditPoints="1" noAdjustHandles="1" noChangeArrowheads="1" noChangeShapeType="1" noTextEdit="1"/>
              </p:cNvSpPr>
              <p:nvPr/>
            </p:nvSpPr>
            <p:spPr>
              <a:xfrm>
                <a:off x="4800600" y="1828800"/>
                <a:ext cx="1902187" cy="307777"/>
              </a:xfrm>
              <a:prstGeom prst="rect">
                <a:avLst/>
              </a:prstGeom>
              <a:blipFill>
                <a:blip r:embed="rId9"/>
                <a:stretch>
                  <a:fillRect l="-4487" t="-2000" r="-962" b="-34000"/>
                </a:stretch>
              </a:blipFill>
            </p:spPr>
            <p:txBody>
              <a:bodyPr/>
              <a:lstStyle/>
              <a:p>
                <a:r>
                  <a:rPr lang="es-ES_tradnl">
                    <a:noFill/>
                  </a:rPr>
                  <a:t> </a:t>
                </a:r>
              </a:p>
            </p:txBody>
          </p:sp>
        </mc:Fallback>
      </mc:AlternateContent>
    </p:spTree>
    <p:extLst>
      <p:ext uri="{BB962C8B-B14F-4D97-AF65-F5344CB8AC3E}">
        <p14:creationId xmlns:p14="http://schemas.microsoft.com/office/powerpoint/2010/main" val="33458959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just">
              <a:spcBef>
                <a:spcPct val="50000"/>
              </a:spcBef>
            </a:pPr>
            <a:r>
              <a:rPr lang="en-US" dirty="0"/>
              <a:t>Optimal Separating Hyperplanes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2989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1105603" y="2794806"/>
                <a:ext cx="3894271" cy="3246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b="0" i="1" smtClean="0">
                              <a:latin typeface="Cambria Math" panose="02040503050406030204" pitchFamily="18" charset="0"/>
                              <a:ea typeface="Cambria Math" panose="02040503050406030204" pitchFamily="18" charset="0"/>
                            </a:rPr>
                          </m:ctrlPr>
                        </m:sSubPr>
                        <m:e>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smtClean="0">
                              <a:latin typeface="Cambria Math" panose="02040503050406030204" pitchFamily="18" charset="0"/>
                            </a:rPr>
                          </m:ctrlPr>
                        </m:sSubSupPr>
                        <m:e>
                          <m:r>
                            <a:rPr lang="es-ES" sz="2000" b="0" i="1" smtClean="0">
                              <a:latin typeface="Cambria Math" panose="02040503050406030204" pitchFamily="18" charset="0"/>
                              <a:ea typeface="Cambria Math" panose="02040503050406030204" pitchFamily="18" charset="0"/>
                            </a:rPr>
                            <m:t>𝑥</m:t>
                          </m:r>
                        </m:e>
                        <m:sub>
                          <m:r>
                            <a:rPr lang="es-ES" sz="2000" b="0" i="1" smtClean="0">
                              <a:latin typeface="Cambria Math" panose="02040503050406030204" pitchFamily="18" charset="0"/>
                            </a:rPr>
                            <m:t>𝑖</m:t>
                          </m:r>
                        </m:sub>
                        <m:sup>
                          <m:r>
                            <a:rPr lang="es-ES" sz="2000" b="0" i="1" smtClean="0">
                              <a:latin typeface="Cambria Math" panose="02040503050406030204" pitchFamily="18" charset="0"/>
                            </a:rPr>
                            <m:t>𝑇</m:t>
                          </m:r>
                        </m:sup>
                      </m:sSubSup>
                      <m:r>
                        <a:rPr lang="es-ES" sz="2000" b="0" i="1" smtClean="0">
                          <a:latin typeface="Cambria Math" panose="02040503050406030204" pitchFamily="18" charset="0"/>
                          <a:ea typeface="Cambria Math" panose="02040503050406030204" pitchFamily="18" charset="0"/>
                        </a:rPr>
                        <m:t>𝛽</m:t>
                      </m:r>
                      <m:r>
                        <a:rPr lang="es-ES" sz="2000" b="0" i="1" smtClean="0">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1105603" y="2794806"/>
                <a:ext cx="3894271" cy="324641"/>
              </a:xfrm>
              <a:prstGeom prst="rect">
                <a:avLst/>
              </a:prstGeom>
              <a:blipFill>
                <a:blip r:embed="rId3"/>
                <a:stretch>
                  <a:fillRect l="-1095" r="-313" b="-3148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6764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6764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1" name="Rectángulo 40">
                <a:extLst>
                  <a:ext uri="{FF2B5EF4-FFF2-40B4-BE49-F238E27FC236}">
                    <a16:creationId xmlns:a16="http://schemas.microsoft.com/office/drawing/2014/main" id="{6CEB0B8F-EFB0-407C-8031-4964E0E6F21D}"/>
                  </a:ext>
                </a:extLst>
              </p:cNvPr>
              <p:cNvSpPr/>
              <p:nvPr/>
            </p:nvSpPr>
            <p:spPr>
              <a:xfrm>
                <a:off x="1105603" y="3310345"/>
                <a:ext cx="877228" cy="400110"/>
              </a:xfrm>
              <a:prstGeom prst="rect">
                <a:avLst/>
              </a:prstGeom>
            </p:spPr>
            <p:txBody>
              <a:bodyPr wrap="none">
                <a:spAutoFit/>
              </a:bodyPr>
              <a:lstStyle/>
              <a:p>
                <a14:m>
                  <m:oMath xmlns:m="http://schemas.openxmlformats.org/officeDocument/2006/math">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oMath>
                </a14:m>
                <a:r>
                  <a:rPr lang="es-ES_tradnl" sz="2000" dirty="0"/>
                  <a:t>=1</a:t>
                </a:r>
              </a:p>
            </p:txBody>
          </p:sp>
        </mc:Choice>
        <mc:Fallback xmlns="">
          <p:sp>
            <p:nvSpPr>
              <p:cNvPr id="41" name="Rectángulo 40">
                <a:extLst>
                  <a:ext uri="{FF2B5EF4-FFF2-40B4-BE49-F238E27FC236}">
                    <a16:creationId xmlns:a16="http://schemas.microsoft.com/office/drawing/2014/main" id="{6CEB0B8F-EFB0-407C-8031-4964E0E6F21D}"/>
                  </a:ext>
                </a:extLst>
              </p:cNvPr>
              <p:cNvSpPr>
                <a:spLocks noRot="1" noChangeAspect="1" noMove="1" noResize="1" noEditPoints="1" noAdjustHandles="1" noChangeArrowheads="1" noChangeShapeType="1" noTextEdit="1"/>
              </p:cNvSpPr>
              <p:nvPr/>
            </p:nvSpPr>
            <p:spPr>
              <a:xfrm>
                <a:off x="1105603" y="3310345"/>
                <a:ext cx="877228" cy="400110"/>
              </a:xfrm>
              <a:prstGeom prst="rect">
                <a:avLst/>
              </a:prstGeom>
              <a:blipFill>
                <a:blip r:embed="rId5"/>
                <a:stretch>
                  <a:fillRect t="-7576" r="-6944" b="-25758"/>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414123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4141232"/>
                <a:ext cx="2590800" cy="1477328"/>
              </a:xfrm>
              <a:prstGeom prst="rect">
                <a:avLst/>
              </a:prstGeom>
              <a:blipFill>
                <a:blip r:embed="rId6"/>
                <a:stretch>
                  <a:fillRect l="-1882" t="-2881"/>
                </a:stretch>
              </a:blipFill>
            </p:spPr>
            <p:txBody>
              <a:bodyPr/>
              <a:lstStyle/>
              <a:p>
                <a:r>
                  <a:rPr lang="es-ES_tradnl">
                    <a:noFill/>
                  </a:rPr>
                  <a:t> </a:t>
                </a:r>
              </a:p>
            </p:txBody>
          </p:sp>
        </mc:Fallback>
      </mc:AlternateContent>
      <p:cxnSp>
        <p:nvCxnSpPr>
          <p:cNvPr id="53" name="Conector recto de flecha 52">
            <a:extLst>
              <a:ext uri="{FF2B5EF4-FFF2-40B4-BE49-F238E27FC236}">
                <a16:creationId xmlns:a16="http://schemas.microsoft.com/office/drawing/2014/main" id="{5018919C-F4D1-432C-AB59-72FE6BC55E61}"/>
              </a:ext>
            </a:extLst>
          </p:cNvPr>
          <p:cNvCxnSpPr/>
          <p:nvPr/>
        </p:nvCxnSpPr>
        <p:spPr>
          <a:xfrm>
            <a:off x="5791200" y="20697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Conector recto de flecha 53">
            <a:extLst>
              <a:ext uri="{FF2B5EF4-FFF2-40B4-BE49-F238E27FC236}">
                <a16:creationId xmlns:a16="http://schemas.microsoft.com/office/drawing/2014/main" id="{0D57A4D1-A4BF-43B9-A13D-30908B97B672}"/>
              </a:ext>
            </a:extLst>
          </p:cNvPr>
          <p:cNvCxnSpPr/>
          <p:nvPr/>
        </p:nvCxnSpPr>
        <p:spPr>
          <a:xfrm>
            <a:off x="5791200" y="41691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D3567007-9EB0-40C4-99CA-296E9E5C6832}"/>
              </a:ext>
            </a:extLst>
          </p:cNvPr>
          <p:cNvCxnSpPr>
            <a:cxnSpLocks/>
          </p:cNvCxnSpPr>
          <p:nvPr/>
        </p:nvCxnSpPr>
        <p:spPr>
          <a:xfrm>
            <a:off x="5257800" y="24165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EAF0803B-AFBF-4A87-AD84-92EE7DC4F8A2}"/>
                  </a:ext>
                </a:extLst>
              </p:cNvPr>
              <p:cNvSpPr txBox="1"/>
              <p:nvPr/>
            </p:nvSpPr>
            <p:spPr>
              <a:xfrm>
                <a:off x="7141029" y="34026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60" name="CuadroTexto 59">
                <a:extLst>
                  <a:ext uri="{FF2B5EF4-FFF2-40B4-BE49-F238E27FC236}">
                    <a16:creationId xmlns:a16="http://schemas.microsoft.com/office/drawing/2014/main" id="{EAF0803B-AFBF-4A87-AD84-92EE7DC4F8A2}"/>
                  </a:ext>
                </a:extLst>
              </p:cNvPr>
              <p:cNvSpPr txBox="1">
                <a:spLocks noRot="1" noChangeAspect="1" noMove="1" noResize="1" noEditPoints="1" noAdjustHandles="1" noChangeArrowheads="1" noChangeShapeType="1" noTextEdit="1"/>
              </p:cNvSpPr>
              <p:nvPr/>
            </p:nvSpPr>
            <p:spPr>
              <a:xfrm>
                <a:off x="7141029" y="3402678"/>
                <a:ext cx="1554336" cy="276999"/>
              </a:xfrm>
              <a:prstGeom prst="rect">
                <a:avLst/>
              </a:prstGeom>
              <a:blipFill>
                <a:blip r:embed="rId7"/>
                <a:stretch>
                  <a:fillRect l="-4706" t="-4348" r="-3529" b="-32609"/>
                </a:stretch>
              </a:blipFill>
            </p:spPr>
            <p:txBody>
              <a:bodyPr/>
              <a:lstStyle/>
              <a:p>
                <a:r>
                  <a:rPr lang="es-ES_tradnl">
                    <a:noFill/>
                  </a:rPr>
                  <a:t> </a:t>
                </a:r>
              </a:p>
            </p:txBody>
          </p:sp>
        </mc:Fallback>
      </mc:AlternateContent>
      <p:cxnSp>
        <p:nvCxnSpPr>
          <p:cNvPr id="64" name="Conector recto 63">
            <a:extLst>
              <a:ext uri="{FF2B5EF4-FFF2-40B4-BE49-F238E27FC236}">
                <a16:creationId xmlns:a16="http://schemas.microsoft.com/office/drawing/2014/main" id="{A487E59A-3BB3-4115-9BDC-DE4CB2353DF7}"/>
              </a:ext>
            </a:extLst>
          </p:cNvPr>
          <p:cNvCxnSpPr>
            <a:cxnSpLocks/>
          </p:cNvCxnSpPr>
          <p:nvPr/>
        </p:nvCxnSpPr>
        <p:spPr>
          <a:xfrm>
            <a:off x="5573935" y="21125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F2DB5DD8-3ABA-422F-B96A-70D40F54EE32}"/>
              </a:ext>
            </a:extLst>
          </p:cNvPr>
          <p:cNvCxnSpPr>
            <a:cxnSpLocks/>
          </p:cNvCxnSpPr>
          <p:nvPr/>
        </p:nvCxnSpPr>
        <p:spPr>
          <a:xfrm>
            <a:off x="5116735" y="28224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9EB2B20F-1240-4E22-8D70-1F7E9FBC9424}"/>
              </a:ext>
            </a:extLst>
          </p:cNvPr>
          <p:cNvCxnSpPr>
            <a:cxnSpLocks/>
          </p:cNvCxnSpPr>
          <p:nvPr/>
        </p:nvCxnSpPr>
        <p:spPr>
          <a:xfrm flipV="1">
            <a:off x="6248400" y="28131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Rectángulo 73">
                <a:extLst>
                  <a:ext uri="{FF2B5EF4-FFF2-40B4-BE49-F238E27FC236}">
                    <a16:creationId xmlns:a16="http://schemas.microsoft.com/office/drawing/2014/main" id="{DEF90D40-7F81-496B-8257-137A7E3787E8}"/>
                  </a:ext>
                </a:extLst>
              </p:cNvPr>
              <p:cNvSpPr/>
              <p:nvPr/>
            </p:nvSpPr>
            <p:spPr>
              <a:xfrm>
                <a:off x="6036623" y="27051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74" name="Rectángulo 73">
                <a:extLst>
                  <a:ext uri="{FF2B5EF4-FFF2-40B4-BE49-F238E27FC236}">
                    <a16:creationId xmlns:a16="http://schemas.microsoft.com/office/drawing/2014/main" id="{DEF90D40-7F81-496B-8257-137A7E3787E8}"/>
                  </a:ext>
                </a:extLst>
              </p:cNvPr>
              <p:cNvSpPr>
                <a:spLocks noRot="1" noChangeAspect="1" noMove="1" noResize="1" noEditPoints="1" noAdjustHandles="1" noChangeArrowheads="1" noChangeShapeType="1" noTextEdit="1"/>
              </p:cNvSpPr>
              <p:nvPr/>
            </p:nvSpPr>
            <p:spPr>
              <a:xfrm>
                <a:off x="6036623" y="2705100"/>
                <a:ext cx="410882" cy="338554"/>
              </a:xfrm>
              <a:prstGeom prst="rect">
                <a:avLst/>
              </a:prstGeom>
              <a:blipFill>
                <a:blip r:embed="rId8"/>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8" name="Rectángulo 77">
                <a:extLst>
                  <a:ext uri="{FF2B5EF4-FFF2-40B4-BE49-F238E27FC236}">
                    <a16:creationId xmlns:a16="http://schemas.microsoft.com/office/drawing/2014/main" id="{393BC624-DAAA-42FC-8962-68255147D8F7}"/>
                  </a:ext>
                </a:extLst>
              </p:cNvPr>
              <p:cNvSpPr/>
              <p:nvPr/>
            </p:nvSpPr>
            <p:spPr>
              <a:xfrm>
                <a:off x="6218518" y="33454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78" name="Rectángulo 77">
                <a:extLst>
                  <a:ext uri="{FF2B5EF4-FFF2-40B4-BE49-F238E27FC236}">
                    <a16:creationId xmlns:a16="http://schemas.microsoft.com/office/drawing/2014/main" id="{393BC624-DAAA-42FC-8962-68255147D8F7}"/>
                  </a:ext>
                </a:extLst>
              </p:cNvPr>
              <p:cNvSpPr>
                <a:spLocks noRot="1" noChangeAspect="1" noMove="1" noResize="1" noEditPoints="1" noAdjustHandles="1" noChangeArrowheads="1" noChangeShapeType="1" noTextEdit="1"/>
              </p:cNvSpPr>
              <p:nvPr/>
            </p:nvSpPr>
            <p:spPr>
              <a:xfrm>
                <a:off x="6218518" y="3345478"/>
                <a:ext cx="410882" cy="338554"/>
              </a:xfrm>
              <a:prstGeom prst="rect">
                <a:avLst/>
              </a:prstGeom>
              <a:blipFill>
                <a:blip r:embed="rId9"/>
                <a:stretch>
                  <a:fillRect/>
                </a:stretch>
              </a:blipFill>
            </p:spPr>
            <p:txBody>
              <a:bodyPr/>
              <a:lstStyle/>
              <a:p>
                <a:r>
                  <a:rPr lang="es-ES_tradnl">
                    <a:noFill/>
                  </a:rPr>
                  <a:t> </a:t>
                </a:r>
              </a:p>
            </p:txBody>
          </p:sp>
        </mc:Fallback>
      </mc:AlternateContent>
      <p:cxnSp>
        <p:nvCxnSpPr>
          <p:cNvPr id="79" name="Conector recto 78">
            <a:extLst>
              <a:ext uri="{FF2B5EF4-FFF2-40B4-BE49-F238E27FC236}">
                <a16:creationId xmlns:a16="http://schemas.microsoft.com/office/drawing/2014/main" id="{9EBD2C4F-92D7-4FF8-8A20-7E488664FD53}"/>
              </a:ext>
            </a:extLst>
          </p:cNvPr>
          <p:cNvCxnSpPr>
            <a:cxnSpLocks/>
          </p:cNvCxnSpPr>
          <p:nvPr/>
        </p:nvCxnSpPr>
        <p:spPr>
          <a:xfrm flipV="1">
            <a:off x="6439611" y="34628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 name="Diagrama de flujo: conector 1">
            <a:extLst>
              <a:ext uri="{FF2B5EF4-FFF2-40B4-BE49-F238E27FC236}">
                <a16:creationId xmlns:a16="http://schemas.microsoft.com/office/drawing/2014/main" id="{5F54A625-B4E3-434E-B34B-434B18B55032}"/>
              </a:ext>
            </a:extLst>
          </p:cNvPr>
          <p:cNvSpPr/>
          <p:nvPr/>
        </p:nvSpPr>
        <p:spPr>
          <a:xfrm flipV="1">
            <a:off x="6725405" y="23301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0" name="Diagrama de flujo: conector 19">
            <a:extLst>
              <a:ext uri="{FF2B5EF4-FFF2-40B4-BE49-F238E27FC236}">
                <a16:creationId xmlns:a16="http://schemas.microsoft.com/office/drawing/2014/main" id="{9A4A181E-1C2A-48F1-A228-3EF2A85972B2}"/>
              </a:ext>
            </a:extLst>
          </p:cNvPr>
          <p:cNvSpPr/>
          <p:nvPr/>
        </p:nvSpPr>
        <p:spPr>
          <a:xfrm>
            <a:off x="7239000" y="27696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Diagrama de flujo: conector 20">
            <a:extLst>
              <a:ext uri="{FF2B5EF4-FFF2-40B4-BE49-F238E27FC236}">
                <a16:creationId xmlns:a16="http://schemas.microsoft.com/office/drawing/2014/main" id="{2D278F52-782C-4725-A5FD-C5EF5E8F4E5B}"/>
              </a:ext>
            </a:extLst>
          </p:cNvPr>
          <p:cNvSpPr/>
          <p:nvPr/>
        </p:nvSpPr>
        <p:spPr>
          <a:xfrm flipV="1">
            <a:off x="7315200" y="2160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Diagrama de flujo: conector 21">
            <a:extLst>
              <a:ext uri="{FF2B5EF4-FFF2-40B4-BE49-F238E27FC236}">
                <a16:creationId xmlns:a16="http://schemas.microsoft.com/office/drawing/2014/main" id="{6EE51B23-6D3B-4F55-B65D-EBB22FE00BF8}"/>
              </a:ext>
            </a:extLst>
          </p:cNvPr>
          <p:cNvSpPr/>
          <p:nvPr/>
        </p:nvSpPr>
        <p:spPr>
          <a:xfrm flipV="1">
            <a:off x="7315200" y="3347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Diagrama de flujo: extraer 2">
            <a:extLst>
              <a:ext uri="{FF2B5EF4-FFF2-40B4-BE49-F238E27FC236}">
                <a16:creationId xmlns:a16="http://schemas.microsoft.com/office/drawing/2014/main" id="{7E9CC6C7-4BC5-4B49-A3B6-77ACC9E20DF1}"/>
              </a:ext>
            </a:extLst>
          </p:cNvPr>
          <p:cNvSpPr/>
          <p:nvPr/>
        </p:nvSpPr>
        <p:spPr>
          <a:xfrm>
            <a:off x="5486400" y="37868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4" name="Diagrama de flujo: extraer 23">
            <a:extLst>
              <a:ext uri="{FF2B5EF4-FFF2-40B4-BE49-F238E27FC236}">
                <a16:creationId xmlns:a16="http://schemas.microsoft.com/office/drawing/2014/main" id="{675D26CC-5603-4221-8079-FDAA384A3B2C}"/>
              </a:ext>
            </a:extLst>
          </p:cNvPr>
          <p:cNvSpPr/>
          <p:nvPr/>
        </p:nvSpPr>
        <p:spPr>
          <a:xfrm>
            <a:off x="6292800" y="3939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5" name="Diagrama de flujo: extraer 24">
            <a:extLst>
              <a:ext uri="{FF2B5EF4-FFF2-40B4-BE49-F238E27FC236}">
                <a16:creationId xmlns:a16="http://schemas.microsoft.com/office/drawing/2014/main" id="{5AA2479D-CDA7-4A62-8008-10A819779ED6}"/>
              </a:ext>
            </a:extLst>
          </p:cNvPr>
          <p:cNvSpPr/>
          <p:nvPr/>
        </p:nvSpPr>
        <p:spPr>
          <a:xfrm>
            <a:off x="7131000" y="4293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Diagrama de flujo: extraer 25">
            <a:extLst>
              <a:ext uri="{FF2B5EF4-FFF2-40B4-BE49-F238E27FC236}">
                <a16:creationId xmlns:a16="http://schemas.microsoft.com/office/drawing/2014/main" id="{9AAD966F-C202-4400-A09A-53D81E5E73EC}"/>
              </a:ext>
            </a:extLst>
          </p:cNvPr>
          <p:cNvSpPr/>
          <p:nvPr/>
        </p:nvSpPr>
        <p:spPr>
          <a:xfrm>
            <a:off x="5410200" y="2998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Diagrama de flujo: extraer 26">
            <a:extLst>
              <a:ext uri="{FF2B5EF4-FFF2-40B4-BE49-F238E27FC236}">
                <a16:creationId xmlns:a16="http://schemas.microsoft.com/office/drawing/2014/main" id="{BCE67603-E287-43AC-9633-7D0D4AE5F461}"/>
              </a:ext>
            </a:extLst>
          </p:cNvPr>
          <p:cNvSpPr/>
          <p:nvPr/>
        </p:nvSpPr>
        <p:spPr>
          <a:xfrm>
            <a:off x="6216600" y="4414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Diagrama de flujo: conector 27">
            <a:extLst>
              <a:ext uri="{FF2B5EF4-FFF2-40B4-BE49-F238E27FC236}">
                <a16:creationId xmlns:a16="http://schemas.microsoft.com/office/drawing/2014/main" id="{6127ADA7-6C6C-4D5E-B9DC-1B9921AE525C}"/>
              </a:ext>
            </a:extLst>
          </p:cNvPr>
          <p:cNvSpPr/>
          <p:nvPr/>
        </p:nvSpPr>
        <p:spPr>
          <a:xfrm flipV="1">
            <a:off x="8045400" y="2845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9" name="Diagrama de flujo: conector 28">
            <a:extLst>
              <a:ext uri="{FF2B5EF4-FFF2-40B4-BE49-F238E27FC236}">
                <a16:creationId xmlns:a16="http://schemas.microsoft.com/office/drawing/2014/main" id="{B2B4F2FF-BCC2-4B87-BB59-15B1D1F5C7AA}"/>
              </a:ext>
            </a:extLst>
          </p:cNvPr>
          <p:cNvSpPr/>
          <p:nvPr/>
        </p:nvSpPr>
        <p:spPr>
          <a:xfrm flipV="1">
            <a:off x="6324600"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209538237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Optimal Separating Hyperplanes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1465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77003" y="2642406"/>
                <a:ext cx="4228397" cy="6798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a:latin typeface="Cambria Math" panose="02040503050406030204" pitchFamily="18" charset="0"/>
                              <a:ea typeface="Cambria Math" panose="02040503050406030204" pitchFamily="18" charset="0"/>
                            </a:rPr>
                          </m:ctrlPr>
                        </m:fPr>
                        <m:num>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num>
                        <m:den>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77003" y="2642406"/>
                <a:ext cx="4228397" cy="679866"/>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5240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5240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383643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3836432"/>
                <a:ext cx="2590800" cy="1477328"/>
              </a:xfrm>
              <a:prstGeom prst="rect">
                <a:avLst/>
              </a:prstGeom>
              <a:blipFill>
                <a:blip r:embed="rId5"/>
                <a:stretch>
                  <a:fillRect l="-1882" t="-2881"/>
                </a:stretch>
              </a:blipFill>
            </p:spPr>
            <p:txBody>
              <a:bodyPr/>
              <a:lstStyle/>
              <a:p>
                <a:r>
                  <a:rPr lang="es-ES_tradnl">
                    <a:noFill/>
                  </a:rPr>
                  <a:t> </a:t>
                </a:r>
              </a:p>
            </p:txBody>
          </p:sp>
        </mc:Fallback>
      </mc:AlternateContent>
      <p:sp>
        <p:nvSpPr>
          <p:cNvPr id="2" name="CuadroTexto 1">
            <a:extLst>
              <a:ext uri="{FF2B5EF4-FFF2-40B4-BE49-F238E27FC236}">
                <a16:creationId xmlns:a16="http://schemas.microsoft.com/office/drawing/2014/main" id="{E541F801-C147-4B16-8CAA-DB94A6AFC2A9}"/>
              </a:ext>
            </a:extLst>
          </p:cNvPr>
          <p:cNvSpPr txBox="1"/>
          <p:nvPr/>
        </p:nvSpPr>
        <p:spPr>
          <a:xfrm>
            <a:off x="3352800" y="4217433"/>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p:cxnSp>
        <p:nvCxnSpPr>
          <p:cNvPr id="21" name="Conector recto de flecha 20">
            <a:extLst>
              <a:ext uri="{FF2B5EF4-FFF2-40B4-BE49-F238E27FC236}">
                <a16:creationId xmlns:a16="http://schemas.microsoft.com/office/drawing/2014/main" id="{3A9BD5C6-98BC-40A9-8AD8-5A7771A0C985}"/>
              </a:ext>
            </a:extLst>
          </p:cNvPr>
          <p:cNvCxnSpPr/>
          <p:nvPr/>
        </p:nvCxnSpPr>
        <p:spPr>
          <a:xfrm>
            <a:off x="6087435" y="19173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1768FB4-BED8-4AA3-B73D-F2F9DB13A5A7}"/>
              </a:ext>
            </a:extLst>
          </p:cNvPr>
          <p:cNvCxnSpPr/>
          <p:nvPr/>
        </p:nvCxnSpPr>
        <p:spPr>
          <a:xfrm>
            <a:off x="6087435" y="40167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6E5B33D-9C8B-4636-8B72-3598F048F59A}"/>
              </a:ext>
            </a:extLst>
          </p:cNvPr>
          <p:cNvCxnSpPr>
            <a:cxnSpLocks/>
          </p:cNvCxnSpPr>
          <p:nvPr/>
        </p:nvCxnSpPr>
        <p:spPr>
          <a:xfrm>
            <a:off x="5554035" y="22641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8FD418D-4A54-498B-A3B4-DDC8E93E6E9B}"/>
                  </a:ext>
                </a:extLst>
              </p:cNvPr>
              <p:cNvSpPr txBox="1"/>
              <p:nvPr/>
            </p:nvSpPr>
            <p:spPr>
              <a:xfrm>
                <a:off x="7437264" y="32502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4" name="CuadroTexto 23">
                <a:extLst>
                  <a:ext uri="{FF2B5EF4-FFF2-40B4-BE49-F238E27FC236}">
                    <a16:creationId xmlns:a16="http://schemas.microsoft.com/office/drawing/2014/main" id="{08FD418D-4A54-498B-A3B4-DDC8E93E6E9B}"/>
                  </a:ext>
                </a:extLst>
              </p:cNvPr>
              <p:cNvSpPr txBox="1">
                <a:spLocks noRot="1" noChangeAspect="1" noMove="1" noResize="1" noEditPoints="1" noAdjustHandles="1" noChangeArrowheads="1" noChangeShapeType="1" noTextEdit="1"/>
              </p:cNvSpPr>
              <p:nvPr/>
            </p:nvSpPr>
            <p:spPr>
              <a:xfrm>
                <a:off x="7437264" y="3250278"/>
                <a:ext cx="1554336" cy="276999"/>
              </a:xfrm>
              <a:prstGeom prst="rect">
                <a:avLst/>
              </a:prstGeom>
              <a:blipFill>
                <a:blip r:embed="rId6"/>
                <a:stretch>
                  <a:fillRect l="-4706" t="-4348" r="-3529" b="-32609"/>
                </a:stretch>
              </a:blipFill>
            </p:spPr>
            <p:txBody>
              <a:bodyPr/>
              <a:lstStyle/>
              <a:p>
                <a:r>
                  <a:rPr lang="es-ES_tradnl">
                    <a:noFill/>
                  </a:rPr>
                  <a:t> </a:t>
                </a:r>
              </a:p>
            </p:txBody>
          </p:sp>
        </mc:Fallback>
      </mc:AlternateContent>
      <p:cxnSp>
        <p:nvCxnSpPr>
          <p:cNvPr id="25" name="Conector recto 24">
            <a:extLst>
              <a:ext uri="{FF2B5EF4-FFF2-40B4-BE49-F238E27FC236}">
                <a16:creationId xmlns:a16="http://schemas.microsoft.com/office/drawing/2014/main" id="{40C4C0FC-CD02-4E25-BD9C-84AB02DD7A86}"/>
              </a:ext>
            </a:extLst>
          </p:cNvPr>
          <p:cNvCxnSpPr>
            <a:cxnSpLocks/>
          </p:cNvCxnSpPr>
          <p:nvPr/>
        </p:nvCxnSpPr>
        <p:spPr>
          <a:xfrm>
            <a:off x="5870170" y="19601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D4FD1243-6BC8-4914-8713-6A62C08BC8BE}"/>
              </a:ext>
            </a:extLst>
          </p:cNvPr>
          <p:cNvCxnSpPr>
            <a:cxnSpLocks/>
          </p:cNvCxnSpPr>
          <p:nvPr/>
        </p:nvCxnSpPr>
        <p:spPr>
          <a:xfrm>
            <a:off x="5412970" y="26700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BCE12996-C994-44E2-9C9B-B5DF42CFF38C}"/>
              </a:ext>
            </a:extLst>
          </p:cNvPr>
          <p:cNvCxnSpPr>
            <a:cxnSpLocks/>
          </p:cNvCxnSpPr>
          <p:nvPr/>
        </p:nvCxnSpPr>
        <p:spPr>
          <a:xfrm flipV="1">
            <a:off x="6544635" y="26607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F7C7F9D6-665E-4FCC-A371-AE70328A9B10}"/>
                  </a:ext>
                </a:extLst>
              </p:cNvPr>
              <p:cNvSpPr/>
              <p:nvPr/>
            </p:nvSpPr>
            <p:spPr>
              <a:xfrm>
                <a:off x="6332858" y="25527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F7C7F9D6-665E-4FCC-A371-AE70328A9B10}"/>
                  </a:ext>
                </a:extLst>
              </p:cNvPr>
              <p:cNvSpPr>
                <a:spLocks noRot="1" noChangeAspect="1" noMove="1" noResize="1" noEditPoints="1" noAdjustHandles="1" noChangeArrowheads="1" noChangeShapeType="1" noTextEdit="1"/>
              </p:cNvSpPr>
              <p:nvPr/>
            </p:nvSpPr>
            <p:spPr>
              <a:xfrm>
                <a:off x="6332858" y="2552700"/>
                <a:ext cx="410882" cy="338554"/>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F3E58765-1A6D-499A-82BE-228D2EADE55D}"/>
                  </a:ext>
                </a:extLst>
              </p:cNvPr>
              <p:cNvSpPr/>
              <p:nvPr/>
            </p:nvSpPr>
            <p:spPr>
              <a:xfrm>
                <a:off x="6514753" y="31930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9" name="Rectángulo 28">
                <a:extLst>
                  <a:ext uri="{FF2B5EF4-FFF2-40B4-BE49-F238E27FC236}">
                    <a16:creationId xmlns:a16="http://schemas.microsoft.com/office/drawing/2014/main" id="{F3E58765-1A6D-499A-82BE-228D2EADE55D}"/>
                  </a:ext>
                </a:extLst>
              </p:cNvPr>
              <p:cNvSpPr>
                <a:spLocks noRot="1" noChangeAspect="1" noMove="1" noResize="1" noEditPoints="1" noAdjustHandles="1" noChangeArrowheads="1" noChangeShapeType="1" noTextEdit="1"/>
              </p:cNvSpPr>
              <p:nvPr/>
            </p:nvSpPr>
            <p:spPr>
              <a:xfrm>
                <a:off x="6514753" y="3193078"/>
                <a:ext cx="410882" cy="338554"/>
              </a:xfrm>
              <a:prstGeom prst="rect">
                <a:avLst/>
              </a:prstGeom>
              <a:blipFill>
                <a:blip r:embed="rId8"/>
                <a:stretch>
                  <a:fillRect/>
                </a:stretch>
              </a:blipFill>
            </p:spPr>
            <p:txBody>
              <a:bodyPr/>
              <a:lstStyle/>
              <a:p>
                <a:r>
                  <a:rPr lang="es-ES_tradnl">
                    <a:noFill/>
                  </a:rPr>
                  <a:t> </a:t>
                </a:r>
              </a:p>
            </p:txBody>
          </p:sp>
        </mc:Fallback>
      </mc:AlternateContent>
      <p:cxnSp>
        <p:nvCxnSpPr>
          <p:cNvPr id="30" name="Conector recto 29">
            <a:extLst>
              <a:ext uri="{FF2B5EF4-FFF2-40B4-BE49-F238E27FC236}">
                <a16:creationId xmlns:a16="http://schemas.microsoft.com/office/drawing/2014/main" id="{A856E3D0-34DA-43B3-A5CD-153698CB6863}"/>
              </a:ext>
            </a:extLst>
          </p:cNvPr>
          <p:cNvCxnSpPr>
            <a:cxnSpLocks/>
          </p:cNvCxnSpPr>
          <p:nvPr/>
        </p:nvCxnSpPr>
        <p:spPr>
          <a:xfrm flipV="1">
            <a:off x="6735846" y="33104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3638652B-71FE-4D7E-BA48-E92B9BC8CC80}"/>
              </a:ext>
            </a:extLst>
          </p:cNvPr>
          <p:cNvSpPr/>
          <p:nvPr/>
        </p:nvSpPr>
        <p:spPr>
          <a:xfrm flipV="1">
            <a:off x="7021640" y="21777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A3139DC0-A997-4897-AC7C-F4F1EFF4B71E}"/>
              </a:ext>
            </a:extLst>
          </p:cNvPr>
          <p:cNvSpPr/>
          <p:nvPr/>
        </p:nvSpPr>
        <p:spPr>
          <a:xfrm>
            <a:off x="7535235" y="26172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024D75E9-1EE8-43CE-BA80-D4D3FA137048}"/>
              </a:ext>
            </a:extLst>
          </p:cNvPr>
          <p:cNvSpPr/>
          <p:nvPr/>
        </p:nvSpPr>
        <p:spPr>
          <a:xfrm flipV="1">
            <a:off x="7611435" y="20076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conector 33">
            <a:extLst>
              <a:ext uri="{FF2B5EF4-FFF2-40B4-BE49-F238E27FC236}">
                <a16:creationId xmlns:a16="http://schemas.microsoft.com/office/drawing/2014/main" id="{F8CDFB15-0D8A-4AA8-9788-F1802BF10F98}"/>
              </a:ext>
            </a:extLst>
          </p:cNvPr>
          <p:cNvSpPr/>
          <p:nvPr/>
        </p:nvSpPr>
        <p:spPr>
          <a:xfrm flipV="1">
            <a:off x="7611435" y="3195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F6282451-0B33-493F-8516-C7C7A43CFEB0}"/>
              </a:ext>
            </a:extLst>
          </p:cNvPr>
          <p:cNvSpPr/>
          <p:nvPr/>
        </p:nvSpPr>
        <p:spPr>
          <a:xfrm>
            <a:off x="5782635" y="36344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76CDCAE5-6E3A-40A4-89B5-AEFEB0C96158}"/>
              </a:ext>
            </a:extLst>
          </p:cNvPr>
          <p:cNvSpPr/>
          <p:nvPr/>
        </p:nvSpPr>
        <p:spPr>
          <a:xfrm>
            <a:off x="6589035" y="37868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19C22CEA-F955-4D04-88A2-867E9AFED558}"/>
              </a:ext>
            </a:extLst>
          </p:cNvPr>
          <p:cNvSpPr/>
          <p:nvPr/>
        </p:nvSpPr>
        <p:spPr>
          <a:xfrm>
            <a:off x="7427235" y="4141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659E7B6F-32CB-4EBB-AAC2-BDAC73CC8A9A}"/>
              </a:ext>
            </a:extLst>
          </p:cNvPr>
          <p:cNvSpPr/>
          <p:nvPr/>
        </p:nvSpPr>
        <p:spPr>
          <a:xfrm>
            <a:off x="5706435" y="28458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extraer 38">
            <a:extLst>
              <a:ext uri="{FF2B5EF4-FFF2-40B4-BE49-F238E27FC236}">
                <a16:creationId xmlns:a16="http://schemas.microsoft.com/office/drawing/2014/main" id="{65CA01AF-8937-44B2-B95B-A97478C0A7EF}"/>
              </a:ext>
            </a:extLst>
          </p:cNvPr>
          <p:cNvSpPr/>
          <p:nvPr/>
        </p:nvSpPr>
        <p:spPr>
          <a:xfrm>
            <a:off x="6512835" y="42618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8B16C000-5D4E-4908-9C5D-F32EB717C41C}"/>
              </a:ext>
            </a:extLst>
          </p:cNvPr>
          <p:cNvSpPr/>
          <p:nvPr/>
        </p:nvSpPr>
        <p:spPr>
          <a:xfrm flipV="1">
            <a:off x="8341635" y="2693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Diagrama de flujo: conector 40">
            <a:extLst>
              <a:ext uri="{FF2B5EF4-FFF2-40B4-BE49-F238E27FC236}">
                <a16:creationId xmlns:a16="http://schemas.microsoft.com/office/drawing/2014/main" id="{ABD38F00-81D9-4243-85AF-A03413191BC9}"/>
              </a:ext>
            </a:extLst>
          </p:cNvPr>
          <p:cNvSpPr/>
          <p:nvPr/>
        </p:nvSpPr>
        <p:spPr>
          <a:xfrm flipV="1">
            <a:off x="6620835" y="1779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33749245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6">
            <a:extLst>
              <a:ext uri="{FF2B5EF4-FFF2-40B4-BE49-F238E27FC236}">
                <a16:creationId xmlns:a16="http://schemas.microsoft.com/office/drawing/2014/main" id="{8209C994-6955-44E9-B63C-5283A5A18C31}"/>
              </a:ext>
            </a:extLst>
          </p:cNvPr>
          <p:cNvSpPr txBox="1"/>
          <p:nvPr/>
        </p:nvSpPr>
        <p:spPr>
          <a:xfrm>
            <a:off x="489467" y="2298966"/>
            <a:ext cx="1066800" cy="369332"/>
          </a:xfrm>
          <a:prstGeom prst="rect">
            <a:avLst/>
          </a:prstGeom>
          <a:noFill/>
        </p:spPr>
        <p:txBody>
          <a:bodyPr wrap="square" rtlCol="0">
            <a:spAutoFit/>
          </a:bodyPr>
          <a:lstStyle/>
          <a:p>
            <a:r>
              <a:rPr lang="es-ES_tradnl" sz="18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77003" y="2794806"/>
                <a:ext cx="4533197" cy="3246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77003" y="2794806"/>
                <a:ext cx="4533197" cy="324641"/>
              </a:xfrm>
              <a:prstGeom prst="rect">
                <a:avLst/>
              </a:prstGeom>
              <a:blipFill>
                <a:blip r:embed="rId3"/>
                <a:stretch>
                  <a:fillRect b="-3148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6764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6764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398883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3988832"/>
                <a:ext cx="2590800" cy="1477328"/>
              </a:xfrm>
              <a:prstGeom prst="rect">
                <a:avLst/>
              </a:prstGeom>
              <a:blipFill>
                <a:blip r:embed="rId5"/>
                <a:stretch>
                  <a:fillRect l="-1882" t="-2881"/>
                </a:stretch>
              </a:blipFill>
            </p:spPr>
            <p:txBody>
              <a:bodyPr/>
              <a:lstStyle/>
              <a:p>
                <a:r>
                  <a:rPr lang="es-ES_tradnl">
                    <a:noFill/>
                  </a:rPr>
                  <a:t> </a:t>
                </a:r>
              </a:p>
            </p:txBody>
          </p:sp>
        </mc:Fallback>
      </mc:AlternateContent>
      <p:sp>
        <p:nvSpPr>
          <p:cNvPr id="9" name="CuadroTexto 8">
            <a:extLst>
              <a:ext uri="{FF2B5EF4-FFF2-40B4-BE49-F238E27FC236}">
                <a16:creationId xmlns:a16="http://schemas.microsoft.com/office/drawing/2014/main" id="{CEFC5530-4E12-486E-BC47-7F8AF0147E03}"/>
              </a:ext>
            </a:extLst>
          </p:cNvPr>
          <p:cNvSpPr txBox="1"/>
          <p:nvPr/>
        </p:nvSpPr>
        <p:spPr>
          <a:xfrm>
            <a:off x="3352800" y="4369833"/>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p:cxnSp>
        <p:nvCxnSpPr>
          <p:cNvPr id="20" name="Conector recto de flecha 19">
            <a:extLst>
              <a:ext uri="{FF2B5EF4-FFF2-40B4-BE49-F238E27FC236}">
                <a16:creationId xmlns:a16="http://schemas.microsoft.com/office/drawing/2014/main" id="{E600898E-BA62-4CB7-B7DF-A9C95FF1296E}"/>
              </a:ext>
            </a:extLst>
          </p:cNvPr>
          <p:cNvCxnSpPr/>
          <p:nvPr/>
        </p:nvCxnSpPr>
        <p:spPr>
          <a:xfrm>
            <a:off x="6087435" y="20697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EC005DA8-1396-46FE-B703-A7AE90D0D5E1}"/>
              </a:ext>
            </a:extLst>
          </p:cNvPr>
          <p:cNvCxnSpPr/>
          <p:nvPr/>
        </p:nvCxnSpPr>
        <p:spPr>
          <a:xfrm>
            <a:off x="6087435" y="41691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90BD709-CECD-444F-AAE3-42920AC56D1F}"/>
              </a:ext>
            </a:extLst>
          </p:cNvPr>
          <p:cNvCxnSpPr>
            <a:cxnSpLocks/>
          </p:cNvCxnSpPr>
          <p:nvPr/>
        </p:nvCxnSpPr>
        <p:spPr>
          <a:xfrm>
            <a:off x="5554035" y="24165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FD67B4B-296A-41B0-ADA3-CDB862CC8B0C}"/>
                  </a:ext>
                </a:extLst>
              </p:cNvPr>
              <p:cNvSpPr txBox="1"/>
              <p:nvPr/>
            </p:nvSpPr>
            <p:spPr>
              <a:xfrm>
                <a:off x="7437264" y="34026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3" name="CuadroTexto 22">
                <a:extLst>
                  <a:ext uri="{FF2B5EF4-FFF2-40B4-BE49-F238E27FC236}">
                    <a16:creationId xmlns:a16="http://schemas.microsoft.com/office/drawing/2014/main" id="{3FD67B4B-296A-41B0-ADA3-CDB862CC8B0C}"/>
                  </a:ext>
                </a:extLst>
              </p:cNvPr>
              <p:cNvSpPr txBox="1">
                <a:spLocks noRot="1" noChangeAspect="1" noMove="1" noResize="1" noEditPoints="1" noAdjustHandles="1" noChangeArrowheads="1" noChangeShapeType="1" noTextEdit="1"/>
              </p:cNvSpPr>
              <p:nvPr/>
            </p:nvSpPr>
            <p:spPr>
              <a:xfrm>
                <a:off x="7437264" y="3402678"/>
                <a:ext cx="1554336" cy="276999"/>
              </a:xfrm>
              <a:prstGeom prst="rect">
                <a:avLst/>
              </a:prstGeom>
              <a:blipFill>
                <a:blip r:embed="rId6"/>
                <a:stretch>
                  <a:fillRect l="-4706" t="-4348" r="-3529" b="-32609"/>
                </a:stretch>
              </a:blipFill>
            </p:spPr>
            <p:txBody>
              <a:bodyPr/>
              <a:lstStyle/>
              <a:p>
                <a:r>
                  <a:rPr lang="es-ES_tradnl">
                    <a:noFill/>
                  </a:rPr>
                  <a:t> </a:t>
                </a:r>
              </a:p>
            </p:txBody>
          </p:sp>
        </mc:Fallback>
      </mc:AlternateContent>
      <p:cxnSp>
        <p:nvCxnSpPr>
          <p:cNvPr id="24" name="Conector recto 23">
            <a:extLst>
              <a:ext uri="{FF2B5EF4-FFF2-40B4-BE49-F238E27FC236}">
                <a16:creationId xmlns:a16="http://schemas.microsoft.com/office/drawing/2014/main" id="{97372285-0459-42E8-90C6-5219EC262ECC}"/>
              </a:ext>
            </a:extLst>
          </p:cNvPr>
          <p:cNvCxnSpPr>
            <a:cxnSpLocks/>
          </p:cNvCxnSpPr>
          <p:nvPr/>
        </p:nvCxnSpPr>
        <p:spPr>
          <a:xfrm>
            <a:off x="5870170" y="21125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222EF02D-571A-4428-BBE3-92C6A618E948}"/>
              </a:ext>
            </a:extLst>
          </p:cNvPr>
          <p:cNvCxnSpPr>
            <a:cxnSpLocks/>
          </p:cNvCxnSpPr>
          <p:nvPr/>
        </p:nvCxnSpPr>
        <p:spPr>
          <a:xfrm>
            <a:off x="5412970" y="28224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ED19B39-E3E1-4F6B-BCE4-6CECE8470903}"/>
              </a:ext>
            </a:extLst>
          </p:cNvPr>
          <p:cNvCxnSpPr>
            <a:cxnSpLocks/>
          </p:cNvCxnSpPr>
          <p:nvPr/>
        </p:nvCxnSpPr>
        <p:spPr>
          <a:xfrm flipV="1">
            <a:off x="6544635" y="28131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ángulo 26">
                <a:extLst>
                  <a:ext uri="{FF2B5EF4-FFF2-40B4-BE49-F238E27FC236}">
                    <a16:creationId xmlns:a16="http://schemas.microsoft.com/office/drawing/2014/main" id="{B69F7974-519C-4914-A4FC-1FD68ABA155D}"/>
                  </a:ext>
                </a:extLst>
              </p:cNvPr>
              <p:cNvSpPr/>
              <p:nvPr/>
            </p:nvSpPr>
            <p:spPr>
              <a:xfrm>
                <a:off x="6332858" y="27051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7" name="Rectángulo 26">
                <a:extLst>
                  <a:ext uri="{FF2B5EF4-FFF2-40B4-BE49-F238E27FC236}">
                    <a16:creationId xmlns:a16="http://schemas.microsoft.com/office/drawing/2014/main" id="{B69F7974-519C-4914-A4FC-1FD68ABA155D}"/>
                  </a:ext>
                </a:extLst>
              </p:cNvPr>
              <p:cNvSpPr>
                <a:spLocks noRot="1" noChangeAspect="1" noMove="1" noResize="1" noEditPoints="1" noAdjustHandles="1" noChangeArrowheads="1" noChangeShapeType="1" noTextEdit="1"/>
              </p:cNvSpPr>
              <p:nvPr/>
            </p:nvSpPr>
            <p:spPr>
              <a:xfrm>
                <a:off x="6332858" y="2705100"/>
                <a:ext cx="410882" cy="338554"/>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4136253A-BC0A-4381-B6F0-DFCBFB947A5B}"/>
                  </a:ext>
                </a:extLst>
              </p:cNvPr>
              <p:cNvSpPr/>
              <p:nvPr/>
            </p:nvSpPr>
            <p:spPr>
              <a:xfrm>
                <a:off x="6514753" y="33454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4136253A-BC0A-4381-B6F0-DFCBFB947A5B}"/>
                  </a:ext>
                </a:extLst>
              </p:cNvPr>
              <p:cNvSpPr>
                <a:spLocks noRot="1" noChangeAspect="1" noMove="1" noResize="1" noEditPoints="1" noAdjustHandles="1" noChangeArrowheads="1" noChangeShapeType="1" noTextEdit="1"/>
              </p:cNvSpPr>
              <p:nvPr/>
            </p:nvSpPr>
            <p:spPr>
              <a:xfrm>
                <a:off x="6514753" y="3345478"/>
                <a:ext cx="410882" cy="338554"/>
              </a:xfrm>
              <a:prstGeom prst="rect">
                <a:avLst/>
              </a:prstGeom>
              <a:blipFill>
                <a:blip r:embed="rId8"/>
                <a:stretch>
                  <a:fillRect/>
                </a:stretch>
              </a:blipFill>
            </p:spPr>
            <p:txBody>
              <a:bodyPr/>
              <a:lstStyle/>
              <a:p>
                <a:r>
                  <a:rPr lang="es-ES_tradnl">
                    <a:noFill/>
                  </a:rPr>
                  <a:t> </a:t>
                </a:r>
              </a:p>
            </p:txBody>
          </p:sp>
        </mc:Fallback>
      </mc:AlternateContent>
      <p:cxnSp>
        <p:nvCxnSpPr>
          <p:cNvPr id="29" name="Conector recto 28">
            <a:extLst>
              <a:ext uri="{FF2B5EF4-FFF2-40B4-BE49-F238E27FC236}">
                <a16:creationId xmlns:a16="http://schemas.microsoft.com/office/drawing/2014/main" id="{875A8083-0E94-441D-A97E-4A3DB8A5E1E8}"/>
              </a:ext>
            </a:extLst>
          </p:cNvPr>
          <p:cNvCxnSpPr>
            <a:cxnSpLocks/>
          </p:cNvCxnSpPr>
          <p:nvPr/>
        </p:nvCxnSpPr>
        <p:spPr>
          <a:xfrm flipV="1">
            <a:off x="6735846" y="34628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Diagrama de flujo: conector 29">
            <a:extLst>
              <a:ext uri="{FF2B5EF4-FFF2-40B4-BE49-F238E27FC236}">
                <a16:creationId xmlns:a16="http://schemas.microsoft.com/office/drawing/2014/main" id="{E6B90005-69F2-4E10-8264-4C40717D2C72}"/>
              </a:ext>
            </a:extLst>
          </p:cNvPr>
          <p:cNvSpPr/>
          <p:nvPr/>
        </p:nvSpPr>
        <p:spPr>
          <a:xfrm flipV="1">
            <a:off x="7021640" y="23301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1" name="Diagrama de flujo: conector 30">
            <a:extLst>
              <a:ext uri="{FF2B5EF4-FFF2-40B4-BE49-F238E27FC236}">
                <a16:creationId xmlns:a16="http://schemas.microsoft.com/office/drawing/2014/main" id="{A654D932-98A3-41CD-875D-D93D3392D423}"/>
              </a:ext>
            </a:extLst>
          </p:cNvPr>
          <p:cNvSpPr/>
          <p:nvPr/>
        </p:nvSpPr>
        <p:spPr>
          <a:xfrm>
            <a:off x="7535235" y="27696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DDD7A4FD-130C-4A2E-B9F6-7BBA24AC9561}"/>
              </a:ext>
            </a:extLst>
          </p:cNvPr>
          <p:cNvSpPr/>
          <p:nvPr/>
        </p:nvSpPr>
        <p:spPr>
          <a:xfrm flipV="1">
            <a:off x="7611435" y="2160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82E3E5CC-C092-4934-B9C7-8BE2A1B79B8C}"/>
              </a:ext>
            </a:extLst>
          </p:cNvPr>
          <p:cNvSpPr/>
          <p:nvPr/>
        </p:nvSpPr>
        <p:spPr>
          <a:xfrm flipV="1">
            <a:off x="7611435" y="3347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extraer 33">
            <a:extLst>
              <a:ext uri="{FF2B5EF4-FFF2-40B4-BE49-F238E27FC236}">
                <a16:creationId xmlns:a16="http://schemas.microsoft.com/office/drawing/2014/main" id="{57002EA7-7D8B-4EC9-89E7-C1338FE2B5B8}"/>
              </a:ext>
            </a:extLst>
          </p:cNvPr>
          <p:cNvSpPr/>
          <p:nvPr/>
        </p:nvSpPr>
        <p:spPr>
          <a:xfrm>
            <a:off x="5782635" y="37868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05BA81F7-7007-4F01-8ADE-FC606F662424}"/>
              </a:ext>
            </a:extLst>
          </p:cNvPr>
          <p:cNvSpPr/>
          <p:nvPr/>
        </p:nvSpPr>
        <p:spPr>
          <a:xfrm>
            <a:off x="6589035" y="3939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D6877BA8-51DB-4FDF-A777-EF739FB14E07}"/>
              </a:ext>
            </a:extLst>
          </p:cNvPr>
          <p:cNvSpPr/>
          <p:nvPr/>
        </p:nvSpPr>
        <p:spPr>
          <a:xfrm>
            <a:off x="7427235" y="4293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B4FA575A-7158-4811-B52B-5681A98997CC}"/>
              </a:ext>
            </a:extLst>
          </p:cNvPr>
          <p:cNvSpPr/>
          <p:nvPr/>
        </p:nvSpPr>
        <p:spPr>
          <a:xfrm>
            <a:off x="5706435" y="2998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99E1A68B-A720-41C8-A19E-140226A11E99}"/>
              </a:ext>
            </a:extLst>
          </p:cNvPr>
          <p:cNvSpPr/>
          <p:nvPr/>
        </p:nvSpPr>
        <p:spPr>
          <a:xfrm>
            <a:off x="6512835" y="4414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conector 38">
            <a:extLst>
              <a:ext uri="{FF2B5EF4-FFF2-40B4-BE49-F238E27FC236}">
                <a16:creationId xmlns:a16="http://schemas.microsoft.com/office/drawing/2014/main" id="{9454892A-6760-44DE-B8C9-0B3F5F8FA26D}"/>
              </a:ext>
            </a:extLst>
          </p:cNvPr>
          <p:cNvSpPr/>
          <p:nvPr/>
        </p:nvSpPr>
        <p:spPr>
          <a:xfrm flipV="1">
            <a:off x="8341635" y="2845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5AA83CCF-01E3-487F-ADE9-985C2325F86A}"/>
              </a:ext>
            </a:extLst>
          </p:cNvPr>
          <p:cNvSpPr/>
          <p:nvPr/>
        </p:nvSpPr>
        <p:spPr>
          <a:xfrm flipV="1">
            <a:off x="66208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6" name="Title 5">
            <a:extLst>
              <a:ext uri="{FF2B5EF4-FFF2-40B4-BE49-F238E27FC236}">
                <a16:creationId xmlns:a16="http://schemas.microsoft.com/office/drawing/2014/main" id="{68BC43A6-D71F-4076-A6B5-9E8B848AFE53}"/>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308070272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6">
            <a:extLst>
              <a:ext uri="{FF2B5EF4-FFF2-40B4-BE49-F238E27FC236}">
                <a16:creationId xmlns:a16="http://schemas.microsoft.com/office/drawing/2014/main" id="{8209C994-6955-44E9-B63C-5283A5A18C31}"/>
              </a:ext>
            </a:extLst>
          </p:cNvPr>
          <p:cNvSpPr txBox="1"/>
          <p:nvPr/>
        </p:nvSpPr>
        <p:spPr>
          <a:xfrm>
            <a:off x="489467" y="2424934"/>
            <a:ext cx="1066800" cy="369332"/>
          </a:xfrm>
          <a:prstGeom prst="rect">
            <a:avLst/>
          </a:prstGeom>
          <a:noFill/>
        </p:spPr>
        <p:txBody>
          <a:bodyPr wrap="square" rtlCol="0">
            <a:spAutoFit/>
          </a:bodyPr>
          <a:lstStyle/>
          <a:p>
            <a:r>
              <a:rPr lang="es-ES_tradnl" sz="18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77003" y="2920774"/>
                <a:ext cx="4533197" cy="3246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≥1,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77003" y="2920774"/>
                <a:ext cx="4533197" cy="324641"/>
              </a:xfrm>
              <a:prstGeom prst="rect">
                <a:avLst/>
              </a:prstGeom>
              <a:blipFill>
                <a:blip r:embed="rId3"/>
                <a:stretch>
                  <a:fillRect b="-3396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802368"/>
                <a:ext cx="3016314" cy="63478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1800" b="0" i="1" smtClean="0">
                          <a:latin typeface="Cambria Math" panose="02040503050406030204" pitchFamily="18" charset="0"/>
                          <a:ea typeface="Cambria Math" panose="02040503050406030204" pitchFamily="18" charset="0"/>
                        </a:rPr>
                        <m:t>𝑚𝑖𝑛</m:t>
                      </m:r>
                      <m:r>
                        <a:rPr lang="es-ES" sz="1800" b="0" i="1" smtClean="0">
                          <a:latin typeface="Cambria Math" panose="02040503050406030204" pitchFamily="18" charset="0"/>
                          <a:ea typeface="Cambria Math" panose="02040503050406030204" pitchFamily="18" charset="0"/>
                        </a:rPr>
                        <m:t>  </m:t>
                      </m:r>
                      <m:f>
                        <m:fPr>
                          <m:ctrlPr>
                            <a:rPr lang="es-ES" sz="1800" b="0" i="1" smtClean="0">
                              <a:latin typeface="Cambria Math" panose="02040503050406030204" pitchFamily="18" charset="0"/>
                              <a:ea typeface="Cambria Math" panose="02040503050406030204" pitchFamily="18" charset="0"/>
                            </a:rPr>
                          </m:ctrlPr>
                        </m:fPr>
                        <m:num>
                          <m:r>
                            <a:rPr lang="es-ES" sz="1800" b="0" i="1" smtClean="0">
                              <a:latin typeface="Cambria Math" panose="02040503050406030204" pitchFamily="18" charset="0"/>
                              <a:ea typeface="Cambria Math" panose="02040503050406030204" pitchFamily="18" charset="0"/>
                            </a:rPr>
                            <m:t>1</m:t>
                          </m:r>
                        </m:num>
                        <m:den>
                          <m:r>
                            <a:rPr lang="es-ES" sz="1800" b="0" i="1" smtClean="0">
                              <a:latin typeface="Cambria Math" panose="02040503050406030204" pitchFamily="18" charset="0"/>
                              <a:ea typeface="Cambria Math" panose="02040503050406030204" pitchFamily="18" charset="0"/>
                            </a:rPr>
                            <m:t>2</m:t>
                          </m:r>
                        </m:den>
                      </m:f>
                      <m:sSup>
                        <m:sSupPr>
                          <m:ctrlPr>
                            <a:rPr lang="es-ES" sz="1800" b="0" i="1" smtClean="0">
                              <a:latin typeface="Cambria Math" panose="02040503050406030204" pitchFamily="18" charset="0"/>
                              <a:ea typeface="Cambria Math" panose="02040503050406030204" pitchFamily="18" charset="0"/>
                            </a:rPr>
                          </m:ctrlPr>
                        </m:sSupPr>
                        <m:e>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e>
                        <m:sup>
                          <m:r>
                            <a:rPr lang="es-ES" sz="1800" b="0" i="1" smtClean="0">
                              <a:latin typeface="Cambria Math" panose="02040503050406030204" pitchFamily="18" charset="0"/>
                              <a:ea typeface="Cambria Math" panose="02040503050406030204" pitchFamily="18" charset="0"/>
                            </a:rPr>
                            <m:t>2</m:t>
                          </m:r>
                        </m:sup>
                      </m:sSup>
                    </m:oMath>
                  </m:oMathPara>
                </a14:m>
                <a:endParaRPr lang="es-ES_tradnl" sz="18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802368"/>
                <a:ext cx="3016314" cy="634789"/>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4114800"/>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4114800"/>
                <a:ext cx="2590800" cy="1477328"/>
              </a:xfrm>
              <a:prstGeom prst="rect">
                <a:avLst/>
              </a:prstGeom>
              <a:blipFill>
                <a:blip r:embed="rId5"/>
                <a:stretch>
                  <a:fillRect l="-1882" t="-289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5708EA96-1CE5-4E0A-BB91-759A4BC69E05}"/>
                  </a:ext>
                </a:extLst>
              </p:cNvPr>
              <p:cNvSpPr/>
              <p:nvPr/>
            </p:nvSpPr>
            <p:spPr>
              <a:xfrm>
                <a:off x="3669766" y="4679248"/>
                <a:ext cx="1132361" cy="6594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𝑀</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den>
                      </m:f>
                    </m:oMath>
                  </m:oMathPara>
                </a14:m>
                <a:endParaRPr lang="es-ES_tradnl" dirty="0"/>
              </a:p>
            </p:txBody>
          </p:sp>
        </mc:Choice>
        <mc:Fallback xmlns="">
          <p:sp>
            <p:nvSpPr>
              <p:cNvPr id="2" name="Rectángulo 1">
                <a:extLst>
                  <a:ext uri="{FF2B5EF4-FFF2-40B4-BE49-F238E27FC236}">
                    <a16:creationId xmlns:a16="http://schemas.microsoft.com/office/drawing/2014/main" id="{5708EA96-1CE5-4E0A-BB91-759A4BC69E05}"/>
                  </a:ext>
                </a:extLst>
              </p:cNvPr>
              <p:cNvSpPr>
                <a:spLocks noRot="1" noChangeAspect="1" noMove="1" noResize="1" noEditPoints="1" noAdjustHandles="1" noChangeArrowheads="1" noChangeShapeType="1" noTextEdit="1"/>
              </p:cNvSpPr>
              <p:nvPr/>
            </p:nvSpPr>
            <p:spPr>
              <a:xfrm>
                <a:off x="3669766" y="4679248"/>
                <a:ext cx="1132361" cy="659411"/>
              </a:xfrm>
              <a:prstGeom prst="rect">
                <a:avLst/>
              </a:prstGeom>
              <a:blipFill>
                <a:blip r:embed="rId6"/>
                <a:stretch>
                  <a:fillRect/>
                </a:stretch>
              </a:blipFill>
            </p:spPr>
            <p:txBody>
              <a:bodyPr/>
              <a:lstStyle/>
              <a:p>
                <a:r>
                  <a:rPr lang="es-ES_tradnl">
                    <a:noFill/>
                  </a:rPr>
                  <a:t> </a:t>
                </a:r>
              </a:p>
            </p:txBody>
          </p:sp>
        </mc:Fallback>
      </mc:AlternateContent>
      <p:sp>
        <p:nvSpPr>
          <p:cNvPr id="10" name="CuadroTexto 9">
            <a:extLst>
              <a:ext uri="{FF2B5EF4-FFF2-40B4-BE49-F238E27FC236}">
                <a16:creationId xmlns:a16="http://schemas.microsoft.com/office/drawing/2014/main" id="{7C85EEF4-E456-441F-BF07-7F037E586ECA}"/>
              </a:ext>
            </a:extLst>
          </p:cNvPr>
          <p:cNvSpPr txBox="1"/>
          <p:nvPr/>
        </p:nvSpPr>
        <p:spPr>
          <a:xfrm>
            <a:off x="5197555" y="4664524"/>
            <a:ext cx="1828800" cy="923330"/>
          </a:xfrm>
          <a:prstGeom prst="rect">
            <a:avLst/>
          </a:prstGeom>
          <a:noFill/>
        </p:spPr>
        <p:txBody>
          <a:bodyPr wrap="square" rtlCol="0">
            <a:spAutoFit/>
          </a:bodyPr>
          <a:lstStyle/>
          <a:p>
            <a:pPr algn="ctr"/>
            <a:r>
              <a:rPr lang="es-ES" b="1" dirty="0" err="1">
                <a:solidFill>
                  <a:srgbClr val="FF0000"/>
                </a:solidFill>
              </a:rPr>
              <a:t>Convex</a:t>
            </a:r>
            <a:r>
              <a:rPr lang="es-ES" b="1" dirty="0">
                <a:solidFill>
                  <a:srgbClr val="FF0000"/>
                </a:solidFill>
              </a:rPr>
              <a:t> </a:t>
            </a:r>
            <a:r>
              <a:rPr lang="es-ES" b="1" dirty="0" err="1">
                <a:solidFill>
                  <a:srgbClr val="FF0000"/>
                </a:solidFill>
              </a:rPr>
              <a:t>optimization</a:t>
            </a:r>
            <a:r>
              <a:rPr lang="es-ES" b="1" dirty="0">
                <a:solidFill>
                  <a:srgbClr val="FF0000"/>
                </a:solidFill>
              </a:rPr>
              <a:t> </a:t>
            </a:r>
            <a:r>
              <a:rPr lang="es-ES" b="1" dirty="0" err="1">
                <a:solidFill>
                  <a:srgbClr val="FF0000"/>
                </a:solidFill>
              </a:rPr>
              <a:t>problem</a:t>
            </a:r>
            <a:endParaRPr lang="es-ES_tradnl" b="1" dirty="0">
              <a:solidFill>
                <a:srgbClr val="FF0000"/>
              </a:solidFill>
            </a:endParaRPr>
          </a:p>
        </p:txBody>
      </p:sp>
      <p:cxnSp>
        <p:nvCxnSpPr>
          <p:cNvPr id="21" name="Conector recto de flecha 20">
            <a:extLst>
              <a:ext uri="{FF2B5EF4-FFF2-40B4-BE49-F238E27FC236}">
                <a16:creationId xmlns:a16="http://schemas.microsoft.com/office/drawing/2014/main" id="{4183DD0D-CEE7-4FDD-9AE7-2C9956013A4C}"/>
              </a:ext>
            </a:extLst>
          </p:cNvPr>
          <p:cNvCxnSpPr/>
          <p:nvPr/>
        </p:nvCxnSpPr>
        <p:spPr>
          <a:xfrm>
            <a:off x="6087435" y="1814736"/>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68F03DFB-95D3-4F06-9830-F810034FE978}"/>
              </a:ext>
            </a:extLst>
          </p:cNvPr>
          <p:cNvCxnSpPr/>
          <p:nvPr/>
        </p:nvCxnSpPr>
        <p:spPr>
          <a:xfrm>
            <a:off x="6087435" y="3914094"/>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82BC7F30-8650-42A1-B7FD-6549E57A04FE}"/>
              </a:ext>
            </a:extLst>
          </p:cNvPr>
          <p:cNvCxnSpPr>
            <a:cxnSpLocks/>
          </p:cNvCxnSpPr>
          <p:nvPr/>
        </p:nvCxnSpPr>
        <p:spPr>
          <a:xfrm>
            <a:off x="5554035" y="2161494"/>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663E5B3-01A8-43E2-8924-D3EEAB8ACB24}"/>
                  </a:ext>
                </a:extLst>
              </p:cNvPr>
              <p:cNvSpPr txBox="1"/>
              <p:nvPr/>
            </p:nvSpPr>
            <p:spPr>
              <a:xfrm>
                <a:off x="7437264" y="3147646"/>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4" name="CuadroTexto 23">
                <a:extLst>
                  <a:ext uri="{FF2B5EF4-FFF2-40B4-BE49-F238E27FC236}">
                    <a16:creationId xmlns:a16="http://schemas.microsoft.com/office/drawing/2014/main" id="{B663E5B3-01A8-43E2-8924-D3EEAB8ACB24}"/>
                  </a:ext>
                </a:extLst>
              </p:cNvPr>
              <p:cNvSpPr txBox="1">
                <a:spLocks noRot="1" noChangeAspect="1" noMove="1" noResize="1" noEditPoints="1" noAdjustHandles="1" noChangeArrowheads="1" noChangeShapeType="1" noTextEdit="1"/>
              </p:cNvSpPr>
              <p:nvPr/>
            </p:nvSpPr>
            <p:spPr>
              <a:xfrm>
                <a:off x="7437264" y="3147646"/>
                <a:ext cx="1554336" cy="276999"/>
              </a:xfrm>
              <a:prstGeom prst="rect">
                <a:avLst/>
              </a:prstGeom>
              <a:blipFill>
                <a:blip r:embed="rId7"/>
                <a:stretch>
                  <a:fillRect l="-4706" t="-4348" r="-3529" b="-32609"/>
                </a:stretch>
              </a:blipFill>
            </p:spPr>
            <p:txBody>
              <a:bodyPr/>
              <a:lstStyle/>
              <a:p>
                <a:r>
                  <a:rPr lang="es-ES_tradnl">
                    <a:noFill/>
                  </a:rPr>
                  <a:t> </a:t>
                </a:r>
              </a:p>
            </p:txBody>
          </p:sp>
        </mc:Fallback>
      </mc:AlternateContent>
      <p:cxnSp>
        <p:nvCxnSpPr>
          <p:cNvPr id="25" name="Conector recto 24">
            <a:extLst>
              <a:ext uri="{FF2B5EF4-FFF2-40B4-BE49-F238E27FC236}">
                <a16:creationId xmlns:a16="http://schemas.microsoft.com/office/drawing/2014/main" id="{E443D1B0-BC3F-486A-AC2F-E5BC7F257926}"/>
              </a:ext>
            </a:extLst>
          </p:cNvPr>
          <p:cNvCxnSpPr>
            <a:cxnSpLocks/>
          </p:cNvCxnSpPr>
          <p:nvPr/>
        </p:nvCxnSpPr>
        <p:spPr>
          <a:xfrm>
            <a:off x="5870170" y="1857491"/>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17B19FE2-4B77-45F6-8075-2C7C4136C12C}"/>
              </a:ext>
            </a:extLst>
          </p:cNvPr>
          <p:cNvCxnSpPr>
            <a:cxnSpLocks/>
          </p:cNvCxnSpPr>
          <p:nvPr/>
        </p:nvCxnSpPr>
        <p:spPr>
          <a:xfrm>
            <a:off x="5412970" y="2567464"/>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CBA22438-78D3-42C2-886F-3399EA265B96}"/>
              </a:ext>
            </a:extLst>
          </p:cNvPr>
          <p:cNvCxnSpPr>
            <a:cxnSpLocks/>
          </p:cNvCxnSpPr>
          <p:nvPr/>
        </p:nvCxnSpPr>
        <p:spPr>
          <a:xfrm flipV="1">
            <a:off x="6544635" y="2558142"/>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8DA50AC8-5E2A-45C7-A1E6-1827112CD70D}"/>
                  </a:ext>
                </a:extLst>
              </p:cNvPr>
              <p:cNvSpPr/>
              <p:nvPr/>
            </p:nvSpPr>
            <p:spPr>
              <a:xfrm>
                <a:off x="6332858" y="245006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8DA50AC8-5E2A-45C7-A1E6-1827112CD70D}"/>
                  </a:ext>
                </a:extLst>
              </p:cNvPr>
              <p:cNvSpPr>
                <a:spLocks noRot="1" noChangeAspect="1" noMove="1" noResize="1" noEditPoints="1" noAdjustHandles="1" noChangeArrowheads="1" noChangeShapeType="1" noTextEdit="1"/>
              </p:cNvSpPr>
              <p:nvPr/>
            </p:nvSpPr>
            <p:spPr>
              <a:xfrm>
                <a:off x="6332858" y="2450068"/>
                <a:ext cx="410882" cy="338554"/>
              </a:xfrm>
              <a:prstGeom prst="rect">
                <a:avLst/>
              </a:prstGeom>
              <a:blipFill>
                <a:blip r:embed="rId8"/>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8F101C80-57CD-464C-8024-4E83AE695340}"/>
                  </a:ext>
                </a:extLst>
              </p:cNvPr>
              <p:cNvSpPr/>
              <p:nvPr/>
            </p:nvSpPr>
            <p:spPr>
              <a:xfrm>
                <a:off x="6514753" y="3090446"/>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9" name="Rectángulo 28">
                <a:extLst>
                  <a:ext uri="{FF2B5EF4-FFF2-40B4-BE49-F238E27FC236}">
                    <a16:creationId xmlns:a16="http://schemas.microsoft.com/office/drawing/2014/main" id="{8F101C80-57CD-464C-8024-4E83AE695340}"/>
                  </a:ext>
                </a:extLst>
              </p:cNvPr>
              <p:cNvSpPr>
                <a:spLocks noRot="1" noChangeAspect="1" noMove="1" noResize="1" noEditPoints="1" noAdjustHandles="1" noChangeArrowheads="1" noChangeShapeType="1" noTextEdit="1"/>
              </p:cNvSpPr>
              <p:nvPr/>
            </p:nvSpPr>
            <p:spPr>
              <a:xfrm>
                <a:off x="6514753" y="3090446"/>
                <a:ext cx="410882" cy="338554"/>
              </a:xfrm>
              <a:prstGeom prst="rect">
                <a:avLst/>
              </a:prstGeom>
              <a:blipFill>
                <a:blip r:embed="rId9"/>
                <a:stretch>
                  <a:fillRect/>
                </a:stretch>
              </a:blipFill>
            </p:spPr>
            <p:txBody>
              <a:bodyPr/>
              <a:lstStyle/>
              <a:p>
                <a:r>
                  <a:rPr lang="es-ES_tradnl">
                    <a:noFill/>
                  </a:rPr>
                  <a:t> </a:t>
                </a:r>
              </a:p>
            </p:txBody>
          </p:sp>
        </mc:Fallback>
      </mc:AlternateContent>
      <p:cxnSp>
        <p:nvCxnSpPr>
          <p:cNvPr id="30" name="Conector recto 29">
            <a:extLst>
              <a:ext uri="{FF2B5EF4-FFF2-40B4-BE49-F238E27FC236}">
                <a16:creationId xmlns:a16="http://schemas.microsoft.com/office/drawing/2014/main" id="{61932667-FC19-4600-BB4E-26E3A03DF6F1}"/>
              </a:ext>
            </a:extLst>
          </p:cNvPr>
          <p:cNvCxnSpPr>
            <a:cxnSpLocks/>
          </p:cNvCxnSpPr>
          <p:nvPr/>
        </p:nvCxnSpPr>
        <p:spPr>
          <a:xfrm flipV="1">
            <a:off x="6735846" y="3207795"/>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A75A180F-9091-4518-953C-900D52BE07AE}"/>
              </a:ext>
            </a:extLst>
          </p:cNvPr>
          <p:cNvSpPr/>
          <p:nvPr/>
        </p:nvSpPr>
        <p:spPr>
          <a:xfrm flipV="1">
            <a:off x="7021640" y="2075074"/>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975FC9F8-AF57-4B29-BC3A-A8B856E082EB}"/>
              </a:ext>
            </a:extLst>
          </p:cNvPr>
          <p:cNvSpPr/>
          <p:nvPr/>
        </p:nvSpPr>
        <p:spPr>
          <a:xfrm>
            <a:off x="7535235" y="25146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D981F5D1-A38C-4D50-8EEE-1EBD475C6712}"/>
              </a:ext>
            </a:extLst>
          </p:cNvPr>
          <p:cNvSpPr/>
          <p:nvPr/>
        </p:nvSpPr>
        <p:spPr>
          <a:xfrm flipV="1">
            <a:off x="7611435" y="19050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conector 33">
            <a:extLst>
              <a:ext uri="{FF2B5EF4-FFF2-40B4-BE49-F238E27FC236}">
                <a16:creationId xmlns:a16="http://schemas.microsoft.com/office/drawing/2014/main" id="{CBA6DC8C-4948-4898-A3BD-46955ADF440C}"/>
              </a:ext>
            </a:extLst>
          </p:cNvPr>
          <p:cNvSpPr/>
          <p:nvPr/>
        </p:nvSpPr>
        <p:spPr>
          <a:xfrm flipV="1">
            <a:off x="7611435" y="30924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21B0DD25-68EB-479C-8CEC-ACF2CED5C940}"/>
              </a:ext>
            </a:extLst>
          </p:cNvPr>
          <p:cNvSpPr/>
          <p:nvPr/>
        </p:nvSpPr>
        <p:spPr>
          <a:xfrm>
            <a:off x="5782635" y="3531795"/>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71EC0780-EE51-4D55-B7D7-FF24258A9797}"/>
              </a:ext>
            </a:extLst>
          </p:cNvPr>
          <p:cNvSpPr/>
          <p:nvPr/>
        </p:nvSpPr>
        <p:spPr>
          <a:xfrm>
            <a:off x="6589035" y="3684195"/>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B1C514EC-6DAC-41B0-98E6-F0C0A2542067}"/>
              </a:ext>
            </a:extLst>
          </p:cNvPr>
          <p:cNvSpPr/>
          <p:nvPr/>
        </p:nvSpPr>
        <p:spPr>
          <a:xfrm>
            <a:off x="7427235" y="40386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98FED685-176C-4BEE-98CD-F03EA1F90261}"/>
              </a:ext>
            </a:extLst>
          </p:cNvPr>
          <p:cNvSpPr/>
          <p:nvPr/>
        </p:nvSpPr>
        <p:spPr>
          <a:xfrm>
            <a:off x="5706435" y="27432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extraer 38">
            <a:extLst>
              <a:ext uri="{FF2B5EF4-FFF2-40B4-BE49-F238E27FC236}">
                <a16:creationId xmlns:a16="http://schemas.microsoft.com/office/drawing/2014/main" id="{5FCF0F0B-E2B5-4DDC-9969-56612D3094FE}"/>
              </a:ext>
            </a:extLst>
          </p:cNvPr>
          <p:cNvSpPr/>
          <p:nvPr/>
        </p:nvSpPr>
        <p:spPr>
          <a:xfrm>
            <a:off x="6512835" y="415920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E0FCD7FE-AFF6-47B1-B4F8-1B32EEE72D8B}"/>
              </a:ext>
            </a:extLst>
          </p:cNvPr>
          <p:cNvSpPr/>
          <p:nvPr/>
        </p:nvSpPr>
        <p:spPr>
          <a:xfrm flipV="1">
            <a:off x="8341635" y="25908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Diagrama de flujo: conector 40">
            <a:extLst>
              <a:ext uri="{FF2B5EF4-FFF2-40B4-BE49-F238E27FC236}">
                <a16:creationId xmlns:a16="http://schemas.microsoft.com/office/drawing/2014/main" id="{5D3494EF-44A0-462C-AEA9-07DB6F1EDB2B}"/>
              </a:ext>
            </a:extLst>
          </p:cNvPr>
          <p:cNvSpPr/>
          <p:nvPr/>
        </p:nvSpPr>
        <p:spPr>
          <a:xfrm flipV="1">
            <a:off x="6620835" y="167640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5" name="Title 5">
            <a:extLst>
              <a:ext uri="{FF2B5EF4-FFF2-40B4-BE49-F238E27FC236}">
                <a16:creationId xmlns:a16="http://schemas.microsoft.com/office/drawing/2014/main" id="{96E551B3-3520-4541-907F-258DC50120D0}"/>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20121191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533400" y="1777819"/>
            <a:ext cx="7848600" cy="784830"/>
          </a:xfrm>
          <a:prstGeom prst="rect">
            <a:avLst/>
          </a:prstGeom>
        </p:spPr>
        <p:txBody>
          <a:bodyPr wrap="square">
            <a:spAutoFit/>
          </a:bodyPr>
          <a:lstStyle/>
          <a:p>
            <a:pPr algn="just">
              <a:spcBef>
                <a:spcPct val="50000"/>
              </a:spcBef>
            </a:pPr>
            <a:r>
              <a:rPr lang="en-US" b="1" dirty="0" err="1"/>
              <a:t>Lagrangian</a:t>
            </a:r>
            <a:r>
              <a:rPr lang="en-US" b="1" dirty="0"/>
              <a:t> transformation</a:t>
            </a:r>
          </a:p>
          <a:p>
            <a:pPr algn="just">
              <a:spcBef>
                <a:spcPct val="50000"/>
              </a:spcBef>
            </a:pPr>
            <a:endParaRPr lang="es-ES" b="1" dirty="0"/>
          </a:p>
        </p:txBody>
      </p:sp>
      <p:sp>
        <p:nvSpPr>
          <p:cNvPr id="43" name="TextBox 6">
            <a:extLst>
              <a:ext uri="{FF2B5EF4-FFF2-40B4-BE49-F238E27FC236}">
                <a16:creationId xmlns:a16="http://schemas.microsoft.com/office/drawing/2014/main" id="{8209C994-6955-44E9-B63C-5283A5A18C31}"/>
              </a:ext>
            </a:extLst>
          </p:cNvPr>
          <p:cNvSpPr txBox="1"/>
          <p:nvPr/>
        </p:nvSpPr>
        <p:spPr>
          <a:xfrm>
            <a:off x="565667" y="3234983"/>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953203" y="3730823"/>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953203" y="3730823"/>
                <a:ext cx="4533197" cy="307777"/>
              </a:xfrm>
              <a:prstGeom prst="rect">
                <a:avLst/>
              </a:prstGeom>
              <a:blipFill>
                <a:blip r:embed="rId3"/>
                <a:stretch>
                  <a:fillRect b="-15686"/>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01136C05-3DA5-4D8C-808B-73426413394C}"/>
                  </a:ext>
                </a:extLst>
              </p:cNvPr>
              <p:cNvSpPr txBox="1"/>
              <p:nvPr/>
            </p:nvSpPr>
            <p:spPr>
              <a:xfrm>
                <a:off x="591470" y="2308961"/>
                <a:ext cx="5492466" cy="840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limLow>
                            <m:limLowPr>
                              <m:ctrlPr>
                                <a:rPr lang="es-ES_tradnl" sz="2000" i="1" smtClean="0">
                                  <a:latin typeface="Cambria Math" panose="02040503050406030204" pitchFamily="18" charset="0"/>
                                </a:rPr>
                              </m:ctrlPr>
                            </m:limLowPr>
                            <m:e>
                              <m:r>
                                <m:rPr>
                                  <m:sty m:val="p"/>
                                </m:rPr>
                                <a:rPr lang="es-ES_tradnl" sz="2000" i="0" smtClean="0">
                                  <a:latin typeface="Cambria Math" panose="02040503050406030204" pitchFamily="18" charset="0"/>
                                </a:rPr>
                                <m:t>min</m:t>
                              </m:r>
                            </m:e>
                            <m:lim>
                              <m:r>
                                <a:rPr lang="es-ES_tradnl" sz="2000" i="1" smtClean="0">
                                  <a:latin typeface="Cambria Math" panose="02040503050406030204" pitchFamily="18" charset="0"/>
                                  <a:ea typeface="Cambria Math" panose="02040503050406030204" pitchFamily="18" charset="0"/>
                                </a:rPr>
                                <m:t>𝛽</m:t>
                              </m:r>
                              <m:r>
                                <a:rPr lang="es-ES" sz="2000" b="0" i="1" smtClean="0">
                                  <a:latin typeface="Cambria Math" panose="02040503050406030204" pitchFamily="18" charset="0"/>
                                  <a:ea typeface="Cambria Math" panose="02040503050406030204" pitchFamily="18" charset="0"/>
                                </a:rPr>
                                <m:t>,</m:t>
                              </m:r>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lim>
                          </m:limLow>
                        </m:fName>
                        <m:e>
                          <m:func>
                            <m:funcPr>
                              <m:ctrlPr>
                                <a:rPr lang="es-ES_tradnl" sz="2000" i="1" smtClean="0">
                                  <a:latin typeface="Cambria Math" panose="02040503050406030204" pitchFamily="18" charset="0"/>
                                </a:rPr>
                              </m:ctrlPr>
                            </m:funcPr>
                            <m:fName>
                              <m:limLow>
                                <m:limLowPr>
                                  <m:ctrlPr>
                                    <a:rPr lang="es-ES_tradnl" sz="2000" i="1" smtClean="0">
                                      <a:latin typeface="Cambria Math" panose="02040503050406030204" pitchFamily="18" charset="0"/>
                                    </a:rPr>
                                  </m:ctrlPr>
                                </m:limLowPr>
                                <m:e>
                                  <m:r>
                                    <m:rPr>
                                      <m:sty m:val="p"/>
                                    </m:rPr>
                                    <a:rPr lang="es-ES_tradnl" sz="2000" i="0" smtClean="0">
                                      <a:latin typeface="Cambria Math" panose="02040503050406030204" pitchFamily="18" charset="0"/>
                                    </a:rPr>
                                    <m:t>max</m:t>
                                  </m:r>
                                  <m:r>
                                    <a:rPr lang="es-ES" sz="2000" b="0" i="0" smtClean="0">
                                      <a:latin typeface="Cambria Math" panose="02040503050406030204" pitchFamily="18" charset="0"/>
                                    </a:rPr>
                                    <m:t> </m:t>
                                  </m:r>
                                </m:e>
                                <m:lim>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lim>
                              </m:limLow>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i="1">
                                      <a:latin typeface="Cambria Math" panose="02040503050406030204" pitchFamily="18" charset="0"/>
                                      <a:ea typeface="Cambria Math" panose="02040503050406030204" pitchFamily="18" charset="0"/>
                                    </a:rPr>
                                    <m:t>𝑝</m:t>
                                  </m:r>
                                </m:sub>
                              </m:sSub>
                              <m:r>
                                <a:rPr lang="es-ES" sz="2000" i="1">
                                  <a:latin typeface="Cambria Math" panose="02040503050406030204" pitchFamily="18" charset="0"/>
                                  <a:ea typeface="Cambria Math" panose="02040503050406030204" pitchFamily="18" charset="0"/>
                                </a:rPr>
                                <m:t>=</m:t>
                              </m:r>
                              <m:f>
                                <m:fPr>
                                  <m:ctrlPr>
                                    <a:rPr lang="es-ES" sz="2000" i="1">
                                      <a:latin typeface="Cambria Math" panose="02040503050406030204" pitchFamily="18" charset="0"/>
                                      <a:ea typeface="Cambria Math" panose="02040503050406030204" pitchFamily="18" charset="0"/>
                                    </a:rPr>
                                  </m:ctrlPr>
                                </m:fPr>
                                <m:num>
                                  <m:r>
                                    <a:rPr lang="es-ES" sz="2000" i="1">
                                      <a:latin typeface="Cambria Math" panose="02040503050406030204" pitchFamily="18" charset="0"/>
                                      <a:ea typeface="Cambria Math" panose="02040503050406030204" pitchFamily="18" charset="0"/>
                                    </a:rPr>
                                    <m:t>1</m:t>
                                  </m:r>
                                </m:num>
                                <m:den>
                                  <m:r>
                                    <a:rPr lang="es-ES" sz="2000" i="1">
                                      <a:latin typeface="Cambria Math" panose="02040503050406030204" pitchFamily="18" charset="0"/>
                                      <a:ea typeface="Cambria Math" panose="02040503050406030204" pitchFamily="18" charset="0"/>
                                    </a:rPr>
                                    <m:t>2</m:t>
                                  </m:r>
                                </m:den>
                              </m:f>
                              <m:sSup>
                                <m:sSupPr>
                                  <m:ctrlPr>
                                    <a:rPr lang="es-ES" sz="2000" i="1">
                                      <a:latin typeface="Cambria Math" panose="02040503050406030204" pitchFamily="18" charset="0"/>
                                      <a:ea typeface="Cambria Math" panose="02040503050406030204" pitchFamily="18" charset="0"/>
                                    </a:rPr>
                                  </m:ctrlPr>
                                </m:sSupPr>
                                <m:e>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e>
                                <m:sup>
                                  <m:r>
                                    <a:rPr lang="es-ES" sz="2000" i="1">
                                      <a:latin typeface="Cambria Math" panose="02040503050406030204" pitchFamily="18" charset="0"/>
                                      <a:ea typeface="Cambria Math" panose="02040503050406030204" pitchFamily="18" charset="0"/>
                                    </a:rPr>
                                    <m:t>2</m:t>
                                  </m:r>
                                </m:sup>
                              </m:sSup>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m:t>
                                  </m:r>
                                </m:e>
                              </m:nary>
                            </m:e>
                          </m:func>
                        </m:e>
                      </m:func>
                    </m:oMath>
                  </m:oMathPara>
                </a14:m>
                <a:endParaRPr lang="es-ES_tradnl" sz="2000" dirty="0"/>
              </a:p>
            </p:txBody>
          </p:sp>
        </mc:Choice>
        <mc:Fallback>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91470" y="2308961"/>
                <a:ext cx="5492466" cy="840295"/>
              </a:xfrm>
              <a:prstGeom prst="rect">
                <a:avLst/>
              </a:prstGeom>
              <a:blipFill>
                <a:blip r:embed="rId4"/>
                <a:stretch>
                  <a:fillRect/>
                </a:stretch>
              </a:blipFill>
            </p:spPr>
            <p:txBody>
              <a:bodyPr/>
              <a:lstStyle/>
              <a:p>
                <a:r>
                  <a:rPr lang="es-ES_tradnl">
                    <a:noFill/>
                  </a:rPr>
                  <a:t> </a:t>
                </a:r>
              </a:p>
            </p:txBody>
          </p:sp>
        </mc:Fallback>
      </mc:AlternateContent>
      <p:sp>
        <p:nvSpPr>
          <p:cNvPr id="28" name="Title 5">
            <a:extLst>
              <a:ext uri="{FF2B5EF4-FFF2-40B4-BE49-F238E27FC236}">
                <a16:creationId xmlns:a16="http://schemas.microsoft.com/office/drawing/2014/main" id="{950A4886-059C-436F-9AB4-38D14CAB73F0}"/>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18761379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54C60E-7A02-49D3-BCA1-3AEBE25DECBC}"/>
              </a:ext>
            </a:extLst>
          </p:cNvPr>
          <p:cNvSpPr txBox="1"/>
          <p:nvPr/>
        </p:nvSpPr>
        <p:spPr>
          <a:xfrm>
            <a:off x="533400" y="1150695"/>
            <a:ext cx="4724400" cy="369332"/>
          </a:xfrm>
          <a:prstGeom prst="rect">
            <a:avLst/>
          </a:prstGeom>
          <a:noFill/>
        </p:spPr>
        <p:txBody>
          <a:bodyPr wrap="square" rtlCol="0">
            <a:spAutoFit/>
          </a:bodyPr>
          <a:lstStyle/>
          <a:p>
            <a:r>
              <a:rPr lang="es-ES" b="1" dirty="0"/>
              <a:t>Local and global </a:t>
            </a:r>
            <a:r>
              <a:rPr lang="es-ES" b="1" dirty="0" err="1"/>
              <a:t>optimality</a:t>
            </a:r>
            <a:r>
              <a:rPr lang="es-ES" b="1" dirty="0"/>
              <a:t> </a:t>
            </a:r>
            <a:r>
              <a:rPr lang="es-ES" b="1" dirty="0" err="1"/>
              <a:t>conditions</a:t>
            </a:r>
            <a:r>
              <a:rPr lang="es-ES" b="1" dirty="0"/>
              <a:t> :</a:t>
            </a:r>
            <a:endParaRPr lang="es-ES_tradnl" b="1" dirty="0"/>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079235D4-D109-40E2-8723-C08A8A687D66}"/>
                  </a:ext>
                </a:extLst>
              </p:cNvPr>
              <p:cNvSpPr/>
              <p:nvPr/>
            </p:nvSpPr>
            <p:spPr>
              <a:xfrm>
                <a:off x="205511" y="1809403"/>
                <a:ext cx="363805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r>
                            <a:rPr lang="es-ES" sz="2000" i="1" smtClean="0">
                              <a:latin typeface="Cambria Math" panose="02040503050406030204" pitchFamily="18" charset="0"/>
                              <a:ea typeface="Cambria Math" panose="02040503050406030204" pitchFamily="18" charset="0"/>
                            </a:rPr>
                            <m:t>𝜕</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i="1">
                                  <a:latin typeface="Cambria Math" panose="02040503050406030204" pitchFamily="18" charset="0"/>
                                  <a:ea typeface="Cambria Math" panose="02040503050406030204" pitchFamily="18" charset="0"/>
                                </a:rPr>
                                <m:t>𝑝</m:t>
                              </m:r>
                            </m:sub>
                          </m:sSub>
                        </m:num>
                        <m:den>
                          <m:r>
                            <a:rPr lang="es-ES" sz="2000" i="1" smtClean="0">
                              <a:latin typeface="Cambria Math" panose="02040503050406030204" pitchFamily="18" charset="0"/>
                              <a:ea typeface="Cambria Math" panose="02040503050406030204" pitchFamily="18" charset="0"/>
                            </a:rPr>
                            <m:t>𝜕𝛽</m:t>
                          </m:r>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𝛽</m:t>
                      </m:r>
                      <m:r>
                        <a:rPr lang="es-ES" sz="2000" b="0" i="0" smtClean="0">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𝑥</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e>
                      </m:nary>
                    </m:oMath>
                  </m:oMathPara>
                </a14:m>
                <a:endParaRPr lang="es-ES_tradnl" sz="2000" dirty="0"/>
              </a:p>
            </p:txBody>
          </p:sp>
        </mc:Choice>
        <mc:Fallback>
          <p:sp>
            <p:nvSpPr>
              <p:cNvPr id="4" name="Rectángulo 3">
                <a:extLst>
                  <a:ext uri="{FF2B5EF4-FFF2-40B4-BE49-F238E27FC236}">
                    <a16:creationId xmlns:a16="http://schemas.microsoft.com/office/drawing/2014/main" id="{079235D4-D109-40E2-8723-C08A8A687D66}"/>
                  </a:ext>
                </a:extLst>
              </p:cNvPr>
              <p:cNvSpPr>
                <a:spLocks noRot="1" noChangeAspect="1" noMove="1" noResize="1" noEditPoints="1" noAdjustHandles="1" noChangeArrowheads="1" noChangeShapeType="1" noTextEdit="1"/>
              </p:cNvSpPr>
              <p:nvPr/>
            </p:nvSpPr>
            <p:spPr>
              <a:xfrm>
                <a:off x="205511" y="1809403"/>
                <a:ext cx="3638058" cy="932628"/>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22" name="Rectángulo 21">
                <a:extLst>
                  <a:ext uri="{FF2B5EF4-FFF2-40B4-BE49-F238E27FC236}">
                    <a16:creationId xmlns:a16="http://schemas.microsoft.com/office/drawing/2014/main" id="{094718E0-FCC3-4D4D-98D3-1729987DF802}"/>
                  </a:ext>
                </a:extLst>
              </p:cNvPr>
              <p:cNvSpPr/>
              <p:nvPr/>
            </p:nvSpPr>
            <p:spPr>
              <a:xfrm>
                <a:off x="151216" y="2994523"/>
                <a:ext cx="363805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r>
                            <a:rPr lang="es-ES" sz="2000" i="1" smtClean="0">
                              <a:latin typeface="Cambria Math" panose="02040503050406030204" pitchFamily="18" charset="0"/>
                              <a:ea typeface="Cambria Math" panose="02040503050406030204" pitchFamily="18" charset="0"/>
                            </a:rPr>
                            <m:t>𝜕</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i="1">
                                  <a:latin typeface="Cambria Math" panose="02040503050406030204" pitchFamily="18" charset="0"/>
                                  <a:ea typeface="Cambria Math" panose="02040503050406030204" pitchFamily="18" charset="0"/>
                                </a:rPr>
                                <m:t>𝑝</m:t>
                              </m:r>
                            </m:sub>
                          </m:sSub>
                        </m:num>
                        <m:den>
                          <m:r>
                            <a:rPr lang="es-ES" sz="2000" i="1" smtClean="0">
                              <a:latin typeface="Cambria Math" panose="02040503050406030204" pitchFamily="18" charset="0"/>
                              <a:ea typeface="Cambria Math" panose="02040503050406030204" pitchFamily="18" charset="0"/>
                            </a:rPr>
                            <m:t>𝜕</m:t>
                          </m:r>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den>
                      </m:f>
                      <m:r>
                        <a:rPr lang="es-ES" sz="2000" b="0" i="1"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0−</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e>
                      </m:nary>
                    </m:oMath>
                  </m:oMathPara>
                </a14:m>
                <a:endParaRPr lang="es-ES_tradnl" sz="2000" dirty="0"/>
              </a:p>
            </p:txBody>
          </p:sp>
        </mc:Choice>
        <mc:Fallback>
          <p:sp>
            <p:nvSpPr>
              <p:cNvPr id="22" name="Rectángulo 21">
                <a:extLst>
                  <a:ext uri="{FF2B5EF4-FFF2-40B4-BE49-F238E27FC236}">
                    <a16:creationId xmlns:a16="http://schemas.microsoft.com/office/drawing/2014/main" id="{094718E0-FCC3-4D4D-98D3-1729987DF802}"/>
                  </a:ext>
                </a:extLst>
              </p:cNvPr>
              <p:cNvSpPr>
                <a:spLocks noRot="1" noChangeAspect="1" noMove="1" noResize="1" noEditPoints="1" noAdjustHandles="1" noChangeArrowheads="1" noChangeShapeType="1" noTextEdit="1"/>
              </p:cNvSpPr>
              <p:nvPr/>
            </p:nvSpPr>
            <p:spPr>
              <a:xfrm>
                <a:off x="151216" y="2994523"/>
                <a:ext cx="3638058" cy="932628"/>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7" name="Rectángulo 6">
                <a:extLst>
                  <a:ext uri="{FF2B5EF4-FFF2-40B4-BE49-F238E27FC236}">
                    <a16:creationId xmlns:a16="http://schemas.microsoft.com/office/drawing/2014/main" id="{563E2EA0-ACFE-4E99-A393-EC2C5933D6A2}"/>
                  </a:ext>
                </a:extLst>
              </p:cNvPr>
              <p:cNvSpPr/>
              <p:nvPr/>
            </p:nvSpPr>
            <p:spPr>
              <a:xfrm>
                <a:off x="609600" y="5487437"/>
                <a:ext cx="4431085" cy="439736"/>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d>
                      <m:dPr>
                        <m:begChr m:val="["/>
                        <m:ctrlPr>
                          <a:rPr lang="es-ES" sz="2000" b="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b="0" i="1" smtClean="0">
                        <a:latin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]=0</m:t>
                    </m:r>
                  </m:oMath>
                </a14:m>
                <a:r>
                  <a:rPr lang="es-ES_tradnl" sz="2000" dirty="0"/>
                  <a:t>,   </a:t>
                </a:r>
                <a14:m>
                  <m:oMath xmlns:m="http://schemas.openxmlformats.org/officeDocument/2006/math">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p:sp>
            <p:nvSpPr>
              <p:cNvPr id="7" name="Rectángulo 6">
                <a:extLst>
                  <a:ext uri="{FF2B5EF4-FFF2-40B4-BE49-F238E27FC236}">
                    <a16:creationId xmlns:a16="http://schemas.microsoft.com/office/drawing/2014/main" id="{563E2EA0-ACFE-4E99-A393-EC2C5933D6A2}"/>
                  </a:ext>
                </a:extLst>
              </p:cNvPr>
              <p:cNvSpPr>
                <a:spLocks noRot="1" noChangeAspect="1" noMove="1" noResize="1" noEditPoints="1" noAdjustHandles="1" noChangeArrowheads="1" noChangeShapeType="1" noTextEdit="1"/>
              </p:cNvSpPr>
              <p:nvPr/>
            </p:nvSpPr>
            <p:spPr>
              <a:xfrm>
                <a:off x="609600" y="5487437"/>
                <a:ext cx="4431085" cy="439736"/>
              </a:xfrm>
              <a:prstGeom prst="rect">
                <a:avLst/>
              </a:prstGeom>
              <a:blipFill>
                <a:blip r:embed="rId5"/>
                <a:stretch>
                  <a:fillRect t="-1389" b="-20833"/>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11" name="TextBox 6">
                <a:extLst>
                  <a:ext uri="{FF2B5EF4-FFF2-40B4-BE49-F238E27FC236}">
                    <a16:creationId xmlns:a16="http://schemas.microsoft.com/office/drawing/2014/main" id="{AED06BCE-A507-4E1E-9605-BD21458F30E6}"/>
                  </a:ext>
                </a:extLst>
              </p:cNvPr>
              <p:cNvSpPr txBox="1"/>
              <p:nvPr/>
            </p:nvSpPr>
            <p:spPr>
              <a:xfrm>
                <a:off x="533400" y="4384991"/>
                <a:ext cx="7914324" cy="64511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r>
                            <a:rPr lang="es-ES" sz="2000" i="1">
                              <a:latin typeface="Cambria Math" panose="02040503050406030204" pitchFamily="18" charset="0"/>
                              <a:ea typeface="Cambria Math" panose="02040503050406030204" pitchFamily="18" charset="0"/>
                            </a:rPr>
                            <m:t>𝜕</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i="1">
                                  <a:latin typeface="Cambria Math" panose="02040503050406030204" pitchFamily="18" charset="0"/>
                                  <a:ea typeface="Cambria Math" panose="02040503050406030204" pitchFamily="18" charset="0"/>
                                </a:rPr>
                                <m:t>𝑝</m:t>
                              </m:r>
                            </m:sub>
                          </m:sSub>
                        </m:num>
                        <m:den>
                          <m:r>
                            <a:rPr lang="es-ES" sz="2000" i="1">
                              <a:latin typeface="Cambria Math" panose="02040503050406030204" pitchFamily="18" charset="0"/>
                              <a:ea typeface="Cambria Math" panose="02040503050406030204" pitchFamily="18" charset="0"/>
                            </a:rPr>
                            <m:t>𝜕</m:t>
                          </m:r>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den>
                      </m:f>
                      <m:r>
                        <a:rPr lang="es-ES" sz="2000" b="0" i="1" smtClean="0">
                          <a:latin typeface="Cambria Math" panose="02040503050406030204" pitchFamily="18" charset="0"/>
                          <a:ea typeface="Cambria Math" panose="02040503050406030204" pitchFamily="18" charset="0"/>
                        </a:rPr>
                        <m:t>=</m:t>
                      </m:r>
                      <m:sSub>
                        <m:sSubPr>
                          <m:ctrlPr>
                            <a:rPr lang="es-ES" sz="2000" i="1" smtClean="0">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rPr>
                        <m:t>)</m:t>
                      </m:r>
                      <m:r>
                        <a:rPr lang="es-ES" sz="200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1</m:t>
                      </m:r>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p:sp>
            <p:nvSpPr>
              <p:cNvPr id="11" name="TextBox 6">
                <a:extLst>
                  <a:ext uri="{FF2B5EF4-FFF2-40B4-BE49-F238E27FC236}">
                    <a16:creationId xmlns:a16="http://schemas.microsoft.com/office/drawing/2014/main" id="{AED06BCE-A507-4E1E-9605-BD21458F30E6}"/>
                  </a:ext>
                </a:extLst>
              </p:cNvPr>
              <p:cNvSpPr txBox="1">
                <a:spLocks noRot="1" noChangeAspect="1" noMove="1" noResize="1" noEditPoints="1" noAdjustHandles="1" noChangeArrowheads="1" noChangeShapeType="1" noTextEdit="1"/>
              </p:cNvSpPr>
              <p:nvPr/>
            </p:nvSpPr>
            <p:spPr>
              <a:xfrm>
                <a:off x="533400" y="4384991"/>
                <a:ext cx="7914324" cy="645113"/>
              </a:xfrm>
              <a:prstGeom prst="rect">
                <a:avLst/>
              </a:prstGeom>
              <a:blipFill>
                <a:blip r:embed="rId6"/>
                <a:stretch>
                  <a:fillRect/>
                </a:stretch>
              </a:blipFill>
            </p:spPr>
            <p:txBody>
              <a:bodyPr/>
              <a:lstStyle/>
              <a:p>
                <a:r>
                  <a:rPr lang="es-ES_tradnl">
                    <a:noFill/>
                  </a:rPr>
                  <a:t> </a:t>
                </a:r>
              </a:p>
            </p:txBody>
          </p:sp>
        </mc:Fallback>
      </mc:AlternateContent>
      <p:sp>
        <p:nvSpPr>
          <p:cNvPr id="14" name="Title 5">
            <a:extLst>
              <a:ext uri="{FF2B5EF4-FFF2-40B4-BE49-F238E27FC236}">
                <a16:creationId xmlns:a16="http://schemas.microsoft.com/office/drawing/2014/main" id="{D176AB56-E0DD-4BD2-A579-70499FE3E517}"/>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25259415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Dual formulation </a:t>
            </a:r>
          </a:p>
          <a:p>
            <a:pPr algn="just">
              <a:spcBef>
                <a:spcPct val="50000"/>
              </a:spcBef>
            </a:pPr>
            <a:endParaRPr lang="es-ES" b="1" dirty="0"/>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729734"/>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431800" y="4291100"/>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431800" y="4291100"/>
                <a:ext cx="4533197" cy="307777"/>
              </a:xfrm>
              <a:prstGeom prst="rect">
                <a:avLst/>
              </a:prstGeom>
              <a:blipFill>
                <a:blip r:embed="rId3"/>
                <a:stretch>
                  <a:fillRect b="-1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7" name="Rectángulo 6">
                <a:extLst>
                  <a:ext uri="{FF2B5EF4-FFF2-40B4-BE49-F238E27FC236}">
                    <a16:creationId xmlns:a16="http://schemas.microsoft.com/office/drawing/2014/main" id="{563E2EA0-ACFE-4E99-A393-EC2C5933D6A2}"/>
                  </a:ext>
                </a:extLst>
              </p:cNvPr>
              <p:cNvSpPr/>
              <p:nvPr/>
            </p:nvSpPr>
            <p:spPr>
              <a:xfrm>
                <a:off x="457200" y="5242308"/>
                <a:ext cx="4431085" cy="439736"/>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d>
                      <m:dPr>
                        <m:begChr m:val="["/>
                        <m:ctrlPr>
                          <a:rPr lang="es-ES" sz="2000" b="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b="0" i="1" smtClean="0">
                        <a:latin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]=0</m:t>
                    </m:r>
                  </m:oMath>
                </a14:m>
                <a:r>
                  <a:rPr lang="es-ES_tradnl" sz="2000" dirty="0"/>
                  <a:t>,   </a:t>
                </a:r>
                <a14:m>
                  <m:oMath xmlns:m="http://schemas.openxmlformats.org/officeDocument/2006/math">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7" name="Rectángulo 6">
                <a:extLst>
                  <a:ext uri="{FF2B5EF4-FFF2-40B4-BE49-F238E27FC236}">
                    <a16:creationId xmlns:a16="http://schemas.microsoft.com/office/drawing/2014/main" id="{563E2EA0-ACFE-4E99-A393-EC2C5933D6A2}"/>
                  </a:ext>
                </a:extLst>
              </p:cNvPr>
              <p:cNvSpPr>
                <a:spLocks noRot="1" noChangeAspect="1" noMove="1" noResize="1" noEditPoints="1" noAdjustHandles="1" noChangeArrowheads="1" noChangeShapeType="1" noTextEdit="1"/>
              </p:cNvSpPr>
              <p:nvPr/>
            </p:nvSpPr>
            <p:spPr>
              <a:xfrm>
                <a:off x="457200" y="5242308"/>
                <a:ext cx="4431085" cy="439736"/>
              </a:xfrm>
              <a:prstGeom prst="rect">
                <a:avLst/>
              </a:prstGeom>
              <a:blipFill>
                <a:blip r:embed="rId4"/>
                <a:stretch>
                  <a:fillRect t="-2778" b="-2083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1136C05-3DA5-4D8C-808B-73426413394C}"/>
                  </a:ext>
                </a:extLst>
              </p:cNvPr>
              <p:cNvSpPr txBox="1"/>
              <p:nvPr/>
            </p:nvSpPr>
            <p:spPr>
              <a:xfrm>
                <a:off x="515270" y="1803712"/>
                <a:ext cx="3066130"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r>
                            <a:rPr lang="es-ES" sz="2000" b="0" i="1" smtClean="0">
                              <a:latin typeface="Cambria Math" panose="02040503050406030204" pitchFamily="18" charset="0"/>
                            </a:rPr>
                            <m:t>𝑚𝑎𝑥</m:t>
                          </m:r>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b="0" i="1" smtClean="0">
                                  <a:latin typeface="Cambria Math" panose="02040503050406030204" pitchFamily="18" charset="0"/>
                                  <a:ea typeface="Cambria Math" panose="02040503050406030204" pitchFamily="18" charset="0"/>
                                </a:rPr>
                                <m:t>𝐷</m:t>
                              </m:r>
                            </m:sub>
                          </m:sSub>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r>
                                    <a:rPr lang="es-ES" sz="2000" b="0" i="1" smtClean="0">
                                      <a:latin typeface="Cambria Math" panose="02040503050406030204" pitchFamily="18" charset="0"/>
                                      <a:ea typeface="Cambria Math" panose="02040503050406030204" pitchFamily="18" charset="0"/>
                                    </a:rPr>
                                    <m:t>2</m:t>
                                  </m:r>
                                </m:den>
                              </m:f>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𝑘</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𝑘</m:t>
                                          </m:r>
                                        </m:sub>
                                      </m:sSub>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𝑥</m:t>
                                          </m:r>
                                        </m:e>
                                        <m:sub>
                                          <m:r>
                                            <a:rPr lang="es-ES" sz="2000" b="0" i="1" smtClean="0">
                                              <a:latin typeface="Cambria Math" panose="02040503050406030204" pitchFamily="18" charset="0"/>
                                            </a:rPr>
                                            <m:t>𝑘</m:t>
                                          </m:r>
                                        </m:sub>
                                      </m:sSub>
                                    </m:e>
                                  </m:nary>
                                </m:e>
                              </m:nary>
                            </m:e>
                          </m:nary>
                        </m:e>
                      </m:func>
                    </m:oMath>
                  </m:oMathPara>
                </a14:m>
                <a:endParaRPr lang="es-ES_tradnl" sz="2000" dirty="0"/>
              </a:p>
            </p:txBody>
          </p:sp>
        </mc:Choice>
        <mc:Fallback xmlns="">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15270" y="1803712"/>
                <a:ext cx="3066130" cy="840295"/>
              </a:xfrm>
              <a:prstGeom prst="rect">
                <a:avLst/>
              </a:prstGeom>
              <a:blipFill>
                <a:blip r:embed="rId5"/>
                <a:stretch>
                  <a:fillRect r="-4791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063092B3-6318-4A04-8541-4F2EF149839A}"/>
                  </a:ext>
                </a:extLst>
              </p:cNvPr>
              <p:cNvSpPr/>
              <p:nvPr/>
            </p:nvSpPr>
            <p:spPr>
              <a:xfrm>
                <a:off x="1299431" y="3148424"/>
                <a:ext cx="1558632"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e>
                      </m:nary>
                    </m:oMath>
                  </m:oMathPara>
                </a14:m>
                <a:endParaRPr lang="es-ES_tradnl" sz="2000" dirty="0"/>
              </a:p>
            </p:txBody>
          </p:sp>
        </mc:Choice>
        <mc:Fallback xmlns="">
          <p:sp>
            <p:nvSpPr>
              <p:cNvPr id="2" name="Rectángulo 1">
                <a:extLst>
                  <a:ext uri="{FF2B5EF4-FFF2-40B4-BE49-F238E27FC236}">
                    <a16:creationId xmlns:a16="http://schemas.microsoft.com/office/drawing/2014/main" id="{063092B3-6318-4A04-8541-4F2EF149839A}"/>
                  </a:ext>
                </a:extLst>
              </p:cNvPr>
              <p:cNvSpPr>
                <a:spLocks noRot="1" noChangeAspect="1" noMove="1" noResize="1" noEditPoints="1" noAdjustHandles="1" noChangeArrowheads="1" noChangeShapeType="1" noTextEdit="1"/>
              </p:cNvSpPr>
              <p:nvPr/>
            </p:nvSpPr>
            <p:spPr>
              <a:xfrm>
                <a:off x="1299431" y="3148424"/>
                <a:ext cx="1558632" cy="932628"/>
              </a:xfrm>
              <a:prstGeom prst="rect">
                <a:avLst/>
              </a:prstGeom>
              <a:blipFill>
                <a:blip r:embed="rId6"/>
                <a:stretch>
                  <a:fillRect/>
                </a:stretch>
              </a:blipFill>
            </p:spPr>
            <p:txBody>
              <a:bodyPr/>
              <a:lstStyle/>
              <a:p>
                <a:r>
                  <a:rPr lang="es-ES_tradnl">
                    <a:noFill/>
                  </a:rPr>
                  <a:t> </a:t>
                </a:r>
              </a:p>
            </p:txBody>
          </p:sp>
        </mc:Fallback>
      </mc:AlternateContent>
      <p:sp>
        <p:nvSpPr>
          <p:cNvPr id="9" name="Cerrar llave 8">
            <a:extLst>
              <a:ext uri="{FF2B5EF4-FFF2-40B4-BE49-F238E27FC236}">
                <a16:creationId xmlns:a16="http://schemas.microsoft.com/office/drawing/2014/main" id="{71535FDB-0D97-41AA-8C91-8ADCB53C1F5F}"/>
              </a:ext>
            </a:extLst>
          </p:cNvPr>
          <p:cNvSpPr/>
          <p:nvPr/>
        </p:nvSpPr>
        <p:spPr>
          <a:xfrm>
            <a:off x="4724400" y="4647479"/>
            <a:ext cx="228600" cy="149861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mc:AlternateContent xmlns:mc="http://schemas.openxmlformats.org/markup-compatibility/2006">
        <mc:Choice xmlns:a14="http://schemas.microsoft.com/office/drawing/2010/main" Requires="a14">
          <p:sp>
            <p:nvSpPr>
              <p:cNvPr id="10" name="Rectángulo 9">
                <a:extLst>
                  <a:ext uri="{FF2B5EF4-FFF2-40B4-BE49-F238E27FC236}">
                    <a16:creationId xmlns:a16="http://schemas.microsoft.com/office/drawing/2014/main" id="{8AC922A9-527E-4D69-A4F1-F9639E58D8CF}"/>
                  </a:ext>
                </a:extLst>
              </p:cNvPr>
              <p:cNvSpPr/>
              <p:nvPr/>
            </p:nvSpPr>
            <p:spPr>
              <a:xfrm>
                <a:off x="4927286" y="5656264"/>
                <a:ext cx="4274760" cy="439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&gt;</m:t>
                      </m:r>
                      <m:r>
                        <a:rPr lang="es-ES" sz="2000" b="0" i="1" smtClean="0">
                          <a:latin typeface="Cambria Math" panose="02040503050406030204" pitchFamily="18" charset="0"/>
                          <a:ea typeface="Cambria Math" panose="02040503050406030204" pitchFamily="18" charset="0"/>
                        </a:rPr>
                        <m:t>0 −→ </m:t>
                      </m:r>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]=0</m:t>
                      </m:r>
                    </m:oMath>
                  </m:oMathPara>
                </a14:m>
                <a:endParaRPr lang="es-ES_tradnl" sz="2000" dirty="0"/>
              </a:p>
            </p:txBody>
          </p:sp>
        </mc:Choice>
        <mc:Fallback>
          <p:sp>
            <p:nvSpPr>
              <p:cNvPr id="10" name="Rectángulo 9">
                <a:extLst>
                  <a:ext uri="{FF2B5EF4-FFF2-40B4-BE49-F238E27FC236}">
                    <a16:creationId xmlns:a16="http://schemas.microsoft.com/office/drawing/2014/main" id="{8AC922A9-527E-4D69-A4F1-F9639E58D8CF}"/>
                  </a:ext>
                </a:extLst>
              </p:cNvPr>
              <p:cNvSpPr>
                <a:spLocks noRot="1" noChangeAspect="1" noMove="1" noResize="1" noEditPoints="1" noAdjustHandles="1" noChangeArrowheads="1" noChangeShapeType="1" noTextEdit="1"/>
              </p:cNvSpPr>
              <p:nvPr/>
            </p:nvSpPr>
            <p:spPr>
              <a:xfrm>
                <a:off x="4927286" y="5656264"/>
                <a:ext cx="4274760" cy="439736"/>
              </a:xfrm>
              <a:prstGeom prst="rect">
                <a:avLst/>
              </a:prstGeom>
              <a:blipFill>
                <a:blip r:embed="rId7"/>
                <a:stretch>
                  <a:fillRect b="-9722"/>
                </a:stretch>
              </a:blipFill>
            </p:spPr>
            <p:txBody>
              <a:bodyPr/>
              <a:lstStyle/>
              <a:p>
                <a:r>
                  <a:rPr lang="es-ES_tradnl">
                    <a:noFill/>
                  </a:rPr>
                  <a:t> </a:t>
                </a:r>
              </a:p>
            </p:txBody>
          </p:sp>
        </mc:Fallback>
      </mc:AlternateContent>
      <p:sp>
        <p:nvSpPr>
          <p:cNvPr id="38" name="CuadroTexto 37">
            <a:extLst>
              <a:ext uri="{FF2B5EF4-FFF2-40B4-BE49-F238E27FC236}">
                <a16:creationId xmlns:a16="http://schemas.microsoft.com/office/drawing/2014/main" id="{1F5A21AB-0804-4523-A18D-54B6B33B59E5}"/>
              </a:ext>
            </a:extLst>
          </p:cNvPr>
          <p:cNvSpPr txBox="1"/>
          <p:nvPr/>
        </p:nvSpPr>
        <p:spPr>
          <a:xfrm>
            <a:off x="5000048" y="4106434"/>
            <a:ext cx="2590800" cy="369332"/>
          </a:xfrm>
          <a:prstGeom prst="rect">
            <a:avLst/>
          </a:prstGeom>
          <a:noFill/>
        </p:spPr>
        <p:txBody>
          <a:bodyPr wrap="square" rtlCol="0">
            <a:spAutoFit/>
          </a:bodyPr>
          <a:lstStyle/>
          <a:p>
            <a:r>
              <a:rPr lang="es-ES" b="1" dirty="0" err="1"/>
              <a:t>Support</a:t>
            </a:r>
            <a:r>
              <a:rPr lang="es-ES" b="1" dirty="0"/>
              <a:t> </a:t>
            </a:r>
            <a:r>
              <a:rPr lang="es-ES" b="1" dirty="0" err="1"/>
              <a:t>points</a:t>
            </a:r>
            <a:r>
              <a:rPr lang="es-ES" b="1" dirty="0"/>
              <a:t>:</a:t>
            </a:r>
            <a:endParaRPr lang="es-ES_tradnl" b="1" dirty="0"/>
          </a:p>
        </p:txBody>
      </p:sp>
      <p:sp>
        <p:nvSpPr>
          <p:cNvPr id="40" name="Title 5">
            <a:extLst>
              <a:ext uri="{FF2B5EF4-FFF2-40B4-BE49-F238E27FC236}">
                <a16:creationId xmlns:a16="http://schemas.microsoft.com/office/drawing/2014/main" id="{7F2B5573-95B0-4D01-9713-A1B8E8A1DD56}"/>
              </a:ext>
            </a:extLst>
          </p:cNvPr>
          <p:cNvSpPr>
            <a:spLocks noGrp="1"/>
          </p:cNvSpPr>
          <p:nvPr>
            <p:ph type="title"/>
          </p:nvPr>
        </p:nvSpPr>
        <p:spPr>
          <a:xfrm>
            <a:off x="191656" y="76200"/>
            <a:ext cx="8114144" cy="609600"/>
          </a:xfrm>
        </p:spPr>
        <p:txBody>
          <a:bodyPr/>
          <a:lstStyle/>
          <a:p>
            <a:r>
              <a:rPr lang="en-US" dirty="0"/>
              <a:t>Optimal Separating Hyperplanes</a:t>
            </a:r>
          </a:p>
        </p:txBody>
      </p:sp>
      <mc:AlternateContent xmlns:mc="http://schemas.openxmlformats.org/markup-compatibility/2006">
        <mc:Choice xmlns:a14="http://schemas.microsoft.com/office/drawing/2010/main" Requires="a14">
          <p:sp>
            <p:nvSpPr>
              <p:cNvPr id="14" name="Rectángulo 3">
                <a:extLst>
                  <a:ext uri="{FF2B5EF4-FFF2-40B4-BE49-F238E27FC236}">
                    <a16:creationId xmlns:a16="http://schemas.microsoft.com/office/drawing/2014/main" id="{6AB4C374-BF5C-4495-B6CE-5D4800726A98}"/>
                  </a:ext>
                </a:extLst>
              </p:cNvPr>
              <p:cNvSpPr/>
              <p:nvPr/>
            </p:nvSpPr>
            <p:spPr>
              <a:xfrm>
                <a:off x="4648200" y="4598877"/>
                <a:ext cx="363805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r>
                            <a:rPr lang="es-ES" sz="2000" i="1" smtClean="0">
                              <a:latin typeface="Cambria Math" panose="02040503050406030204" pitchFamily="18" charset="0"/>
                              <a:ea typeface="Cambria Math" panose="02040503050406030204" pitchFamily="18" charset="0"/>
                            </a:rPr>
                            <m:t>𝜕</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i="1">
                                  <a:latin typeface="Cambria Math" panose="02040503050406030204" pitchFamily="18" charset="0"/>
                                  <a:ea typeface="Cambria Math" panose="02040503050406030204" pitchFamily="18" charset="0"/>
                                </a:rPr>
                                <m:t>𝑝</m:t>
                              </m:r>
                            </m:sub>
                          </m:sSub>
                        </m:num>
                        <m:den>
                          <m:r>
                            <a:rPr lang="es-ES" sz="2000" i="1" smtClean="0">
                              <a:latin typeface="Cambria Math" panose="02040503050406030204" pitchFamily="18" charset="0"/>
                              <a:ea typeface="Cambria Math" panose="02040503050406030204" pitchFamily="18" charset="0"/>
                            </a:rPr>
                            <m:t>𝜕𝛽</m:t>
                          </m:r>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𝛽</m:t>
                      </m:r>
                      <m:r>
                        <a:rPr lang="es-ES" sz="2000" b="0" i="0" smtClean="0">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𝑥</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e>
                      </m:nary>
                    </m:oMath>
                  </m:oMathPara>
                </a14:m>
                <a:endParaRPr lang="es-ES_tradnl" sz="2000" dirty="0"/>
              </a:p>
            </p:txBody>
          </p:sp>
        </mc:Choice>
        <mc:Fallback>
          <p:sp>
            <p:nvSpPr>
              <p:cNvPr id="14" name="Rectángulo 3">
                <a:extLst>
                  <a:ext uri="{FF2B5EF4-FFF2-40B4-BE49-F238E27FC236}">
                    <a16:creationId xmlns:a16="http://schemas.microsoft.com/office/drawing/2014/main" id="{6AB4C374-BF5C-4495-B6CE-5D4800726A98}"/>
                  </a:ext>
                </a:extLst>
              </p:cNvPr>
              <p:cNvSpPr>
                <a:spLocks noRot="1" noChangeAspect="1" noMove="1" noResize="1" noEditPoints="1" noAdjustHandles="1" noChangeArrowheads="1" noChangeShapeType="1" noTextEdit="1"/>
              </p:cNvSpPr>
              <p:nvPr/>
            </p:nvSpPr>
            <p:spPr>
              <a:xfrm>
                <a:off x="4648200" y="4598877"/>
                <a:ext cx="3638058" cy="932628"/>
              </a:xfrm>
              <a:prstGeom prst="rect">
                <a:avLst/>
              </a:prstGeom>
              <a:blipFill>
                <a:blip r:embed="rId8"/>
                <a:stretch>
                  <a:fillRect/>
                </a:stretch>
              </a:blipFill>
            </p:spPr>
            <p:txBody>
              <a:bodyPr/>
              <a:lstStyle/>
              <a:p>
                <a:r>
                  <a:rPr lang="es-ES_tradnl">
                    <a:noFill/>
                  </a:rPr>
                  <a:t> </a:t>
                </a:r>
              </a:p>
            </p:txBody>
          </p:sp>
        </mc:Fallback>
      </mc:AlternateContent>
    </p:spTree>
    <p:extLst>
      <p:ext uri="{BB962C8B-B14F-4D97-AF65-F5344CB8AC3E}">
        <p14:creationId xmlns:p14="http://schemas.microsoft.com/office/powerpoint/2010/main" val="29046610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ectángulo 9">
                <a:extLst>
                  <a:ext uri="{FF2B5EF4-FFF2-40B4-BE49-F238E27FC236}">
                    <a16:creationId xmlns:a16="http://schemas.microsoft.com/office/drawing/2014/main" id="{8AC922A9-527E-4D69-A4F1-F9639E58D8CF}"/>
                  </a:ext>
                </a:extLst>
              </p:cNvPr>
              <p:cNvSpPr/>
              <p:nvPr/>
            </p:nvSpPr>
            <p:spPr>
              <a:xfrm>
                <a:off x="533400" y="2074864"/>
                <a:ext cx="4274760" cy="439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&gt;</m:t>
                      </m:r>
                      <m:r>
                        <a:rPr lang="es-ES" sz="2000" b="0" i="1" smtClean="0">
                          <a:latin typeface="Cambria Math" panose="02040503050406030204" pitchFamily="18" charset="0"/>
                          <a:ea typeface="Cambria Math" panose="02040503050406030204" pitchFamily="18" charset="0"/>
                        </a:rPr>
                        <m:t>0 −→ </m:t>
                      </m:r>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]=0</m:t>
                      </m:r>
                    </m:oMath>
                  </m:oMathPara>
                </a14:m>
                <a:endParaRPr lang="es-ES_tradnl" sz="2000" dirty="0"/>
              </a:p>
            </p:txBody>
          </p:sp>
        </mc:Choice>
        <mc:Fallback xmlns="">
          <p:sp>
            <p:nvSpPr>
              <p:cNvPr id="10" name="Rectángulo 9">
                <a:extLst>
                  <a:ext uri="{FF2B5EF4-FFF2-40B4-BE49-F238E27FC236}">
                    <a16:creationId xmlns:a16="http://schemas.microsoft.com/office/drawing/2014/main" id="{8AC922A9-527E-4D69-A4F1-F9639E58D8CF}"/>
                  </a:ext>
                </a:extLst>
              </p:cNvPr>
              <p:cNvSpPr>
                <a:spLocks noRot="1" noChangeAspect="1" noMove="1" noResize="1" noEditPoints="1" noAdjustHandles="1" noChangeArrowheads="1" noChangeShapeType="1" noTextEdit="1"/>
              </p:cNvSpPr>
              <p:nvPr/>
            </p:nvSpPr>
            <p:spPr>
              <a:xfrm>
                <a:off x="533400" y="2074864"/>
                <a:ext cx="4274760" cy="439736"/>
              </a:xfrm>
              <a:prstGeom prst="rect">
                <a:avLst/>
              </a:prstGeom>
              <a:blipFill>
                <a:blip r:embed="rId3"/>
                <a:stretch>
                  <a:fillRect b="-9589"/>
                </a:stretch>
              </a:blipFill>
            </p:spPr>
            <p:txBody>
              <a:bodyPr/>
              <a:lstStyle/>
              <a:p>
                <a:r>
                  <a:rPr lang="es-ES_tradnl">
                    <a:noFill/>
                  </a:rPr>
                  <a:t> </a:t>
                </a:r>
              </a:p>
            </p:txBody>
          </p:sp>
        </mc:Fallback>
      </mc:AlternateContent>
      <p:cxnSp>
        <p:nvCxnSpPr>
          <p:cNvPr id="16" name="Conector recto de flecha 15">
            <a:extLst>
              <a:ext uri="{FF2B5EF4-FFF2-40B4-BE49-F238E27FC236}">
                <a16:creationId xmlns:a16="http://schemas.microsoft.com/office/drawing/2014/main" id="{B079C46E-E978-46E3-B6D7-78848D893E7D}"/>
              </a:ext>
            </a:extLst>
          </p:cNvPr>
          <p:cNvCxnSpPr/>
          <p:nvPr/>
        </p:nvCxnSpPr>
        <p:spPr>
          <a:xfrm>
            <a:off x="1363035" y="2828672"/>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9E7ED2BB-8A06-495F-BD21-46C574B01ADC}"/>
              </a:ext>
            </a:extLst>
          </p:cNvPr>
          <p:cNvCxnSpPr/>
          <p:nvPr/>
        </p:nvCxnSpPr>
        <p:spPr>
          <a:xfrm>
            <a:off x="1363035" y="4928030"/>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F0387F26-6663-481B-BA7C-2A53C67D66B7}"/>
              </a:ext>
            </a:extLst>
          </p:cNvPr>
          <p:cNvCxnSpPr>
            <a:cxnSpLocks/>
          </p:cNvCxnSpPr>
          <p:nvPr/>
        </p:nvCxnSpPr>
        <p:spPr>
          <a:xfrm>
            <a:off x="829635" y="3175430"/>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FF3D2FB-0802-438B-BBE2-F79402392378}"/>
                  </a:ext>
                </a:extLst>
              </p:cNvPr>
              <p:cNvSpPr txBox="1"/>
              <p:nvPr/>
            </p:nvSpPr>
            <p:spPr>
              <a:xfrm>
                <a:off x="2712864" y="4161582"/>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19" name="CuadroTexto 18">
                <a:extLst>
                  <a:ext uri="{FF2B5EF4-FFF2-40B4-BE49-F238E27FC236}">
                    <a16:creationId xmlns:a16="http://schemas.microsoft.com/office/drawing/2014/main" id="{AFF3D2FB-0802-438B-BBE2-F79402392378}"/>
                  </a:ext>
                </a:extLst>
              </p:cNvPr>
              <p:cNvSpPr txBox="1">
                <a:spLocks noRot="1" noChangeAspect="1" noMove="1" noResize="1" noEditPoints="1" noAdjustHandles="1" noChangeArrowheads="1" noChangeShapeType="1" noTextEdit="1"/>
              </p:cNvSpPr>
              <p:nvPr/>
            </p:nvSpPr>
            <p:spPr>
              <a:xfrm>
                <a:off x="2712864" y="4161582"/>
                <a:ext cx="1554336" cy="276999"/>
              </a:xfrm>
              <a:prstGeom prst="rect">
                <a:avLst/>
              </a:prstGeom>
              <a:blipFill>
                <a:blip r:embed="rId4"/>
                <a:stretch>
                  <a:fillRect l="-4706" t="-4444" r="-3529" b="-35556"/>
                </a:stretch>
              </a:blipFill>
            </p:spPr>
            <p:txBody>
              <a:bodyPr/>
              <a:lstStyle/>
              <a:p>
                <a:r>
                  <a:rPr lang="es-ES_tradnl">
                    <a:noFill/>
                  </a:rPr>
                  <a:t> </a:t>
                </a:r>
              </a:p>
            </p:txBody>
          </p:sp>
        </mc:Fallback>
      </mc:AlternateContent>
      <p:cxnSp>
        <p:nvCxnSpPr>
          <p:cNvPr id="20" name="Conector recto 19">
            <a:extLst>
              <a:ext uri="{FF2B5EF4-FFF2-40B4-BE49-F238E27FC236}">
                <a16:creationId xmlns:a16="http://schemas.microsoft.com/office/drawing/2014/main" id="{6D21B076-692E-4913-A8E1-03C731B7D337}"/>
              </a:ext>
            </a:extLst>
          </p:cNvPr>
          <p:cNvCxnSpPr>
            <a:cxnSpLocks/>
          </p:cNvCxnSpPr>
          <p:nvPr/>
        </p:nvCxnSpPr>
        <p:spPr>
          <a:xfrm>
            <a:off x="1145770" y="2871427"/>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B97BE87-11A9-49B9-9CA0-5B8183A7A247}"/>
              </a:ext>
            </a:extLst>
          </p:cNvPr>
          <p:cNvCxnSpPr>
            <a:cxnSpLocks/>
          </p:cNvCxnSpPr>
          <p:nvPr/>
        </p:nvCxnSpPr>
        <p:spPr>
          <a:xfrm>
            <a:off x="688570" y="3581400"/>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142AAA4A-4452-414B-B966-3F8C74D70DAB}"/>
              </a:ext>
            </a:extLst>
          </p:cNvPr>
          <p:cNvCxnSpPr>
            <a:cxnSpLocks/>
          </p:cNvCxnSpPr>
          <p:nvPr/>
        </p:nvCxnSpPr>
        <p:spPr>
          <a:xfrm flipV="1">
            <a:off x="1820235" y="3572078"/>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ángulo 23">
                <a:extLst>
                  <a:ext uri="{FF2B5EF4-FFF2-40B4-BE49-F238E27FC236}">
                    <a16:creationId xmlns:a16="http://schemas.microsoft.com/office/drawing/2014/main" id="{64D8916C-FA6B-40A8-AB22-9F7DB7D0D54A}"/>
                  </a:ext>
                </a:extLst>
              </p:cNvPr>
              <p:cNvSpPr/>
              <p:nvPr/>
            </p:nvSpPr>
            <p:spPr>
              <a:xfrm>
                <a:off x="1608458" y="3464004"/>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4" name="Rectángulo 23">
                <a:extLst>
                  <a:ext uri="{FF2B5EF4-FFF2-40B4-BE49-F238E27FC236}">
                    <a16:creationId xmlns:a16="http://schemas.microsoft.com/office/drawing/2014/main" id="{64D8916C-FA6B-40A8-AB22-9F7DB7D0D54A}"/>
                  </a:ext>
                </a:extLst>
              </p:cNvPr>
              <p:cNvSpPr>
                <a:spLocks noRot="1" noChangeAspect="1" noMove="1" noResize="1" noEditPoints="1" noAdjustHandles="1" noChangeArrowheads="1" noChangeShapeType="1" noTextEdit="1"/>
              </p:cNvSpPr>
              <p:nvPr/>
            </p:nvSpPr>
            <p:spPr>
              <a:xfrm>
                <a:off x="1608458" y="3464004"/>
                <a:ext cx="410882" cy="338554"/>
              </a:xfrm>
              <a:prstGeom prst="rect">
                <a:avLst/>
              </a:prstGeom>
              <a:blipFill>
                <a:blip r:embed="rId5"/>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5" name="Rectángulo 24">
                <a:extLst>
                  <a:ext uri="{FF2B5EF4-FFF2-40B4-BE49-F238E27FC236}">
                    <a16:creationId xmlns:a16="http://schemas.microsoft.com/office/drawing/2014/main" id="{DFFBAA08-6734-406E-93FF-AC310B33F9E2}"/>
                  </a:ext>
                </a:extLst>
              </p:cNvPr>
              <p:cNvSpPr/>
              <p:nvPr/>
            </p:nvSpPr>
            <p:spPr>
              <a:xfrm>
                <a:off x="1790353" y="4104382"/>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5" name="Rectángulo 24">
                <a:extLst>
                  <a:ext uri="{FF2B5EF4-FFF2-40B4-BE49-F238E27FC236}">
                    <a16:creationId xmlns:a16="http://schemas.microsoft.com/office/drawing/2014/main" id="{DFFBAA08-6734-406E-93FF-AC310B33F9E2}"/>
                  </a:ext>
                </a:extLst>
              </p:cNvPr>
              <p:cNvSpPr>
                <a:spLocks noRot="1" noChangeAspect="1" noMove="1" noResize="1" noEditPoints="1" noAdjustHandles="1" noChangeArrowheads="1" noChangeShapeType="1" noTextEdit="1"/>
              </p:cNvSpPr>
              <p:nvPr/>
            </p:nvSpPr>
            <p:spPr>
              <a:xfrm>
                <a:off x="1790353" y="4104382"/>
                <a:ext cx="410882" cy="338554"/>
              </a:xfrm>
              <a:prstGeom prst="rect">
                <a:avLst/>
              </a:prstGeom>
              <a:blipFill>
                <a:blip r:embed="rId6"/>
                <a:stretch>
                  <a:fillRect/>
                </a:stretch>
              </a:blipFill>
            </p:spPr>
            <p:txBody>
              <a:bodyPr/>
              <a:lstStyle/>
              <a:p>
                <a:r>
                  <a:rPr lang="es-ES_tradnl">
                    <a:noFill/>
                  </a:rPr>
                  <a:t> </a:t>
                </a:r>
              </a:p>
            </p:txBody>
          </p:sp>
        </mc:Fallback>
      </mc:AlternateContent>
      <p:cxnSp>
        <p:nvCxnSpPr>
          <p:cNvPr id="26" name="Conector recto 25">
            <a:extLst>
              <a:ext uri="{FF2B5EF4-FFF2-40B4-BE49-F238E27FC236}">
                <a16:creationId xmlns:a16="http://schemas.microsoft.com/office/drawing/2014/main" id="{0A48C9F2-F00A-4604-8072-94EBFEE53EC4}"/>
              </a:ext>
            </a:extLst>
          </p:cNvPr>
          <p:cNvCxnSpPr>
            <a:cxnSpLocks/>
          </p:cNvCxnSpPr>
          <p:nvPr/>
        </p:nvCxnSpPr>
        <p:spPr>
          <a:xfrm flipV="1">
            <a:off x="2011446" y="4221731"/>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Diagrama de flujo: conector 26">
            <a:extLst>
              <a:ext uri="{FF2B5EF4-FFF2-40B4-BE49-F238E27FC236}">
                <a16:creationId xmlns:a16="http://schemas.microsoft.com/office/drawing/2014/main" id="{28F81D9E-F0DE-455A-82D7-B4B52E5080EF}"/>
              </a:ext>
            </a:extLst>
          </p:cNvPr>
          <p:cNvSpPr/>
          <p:nvPr/>
        </p:nvSpPr>
        <p:spPr>
          <a:xfrm flipV="1">
            <a:off x="2297240" y="3089010"/>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Diagrama de flujo: conector 27">
            <a:extLst>
              <a:ext uri="{FF2B5EF4-FFF2-40B4-BE49-F238E27FC236}">
                <a16:creationId xmlns:a16="http://schemas.microsoft.com/office/drawing/2014/main" id="{6ADCF163-BF9D-49AC-8591-3109BE8EABB1}"/>
              </a:ext>
            </a:extLst>
          </p:cNvPr>
          <p:cNvSpPr/>
          <p:nvPr/>
        </p:nvSpPr>
        <p:spPr>
          <a:xfrm>
            <a:off x="2810835" y="352853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9" name="Diagrama de flujo: conector 28">
            <a:extLst>
              <a:ext uri="{FF2B5EF4-FFF2-40B4-BE49-F238E27FC236}">
                <a16:creationId xmlns:a16="http://schemas.microsoft.com/office/drawing/2014/main" id="{E67AAA34-E26F-46DE-92B4-486A7D46DFD7}"/>
              </a:ext>
            </a:extLst>
          </p:cNvPr>
          <p:cNvSpPr/>
          <p:nvPr/>
        </p:nvSpPr>
        <p:spPr>
          <a:xfrm flipV="1">
            <a:off x="2887035" y="291893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0" name="Diagrama de flujo: conector 29">
            <a:extLst>
              <a:ext uri="{FF2B5EF4-FFF2-40B4-BE49-F238E27FC236}">
                <a16:creationId xmlns:a16="http://schemas.microsoft.com/office/drawing/2014/main" id="{6FB3C8E1-09A3-4821-A031-FBEAC8B2AE53}"/>
              </a:ext>
            </a:extLst>
          </p:cNvPr>
          <p:cNvSpPr/>
          <p:nvPr/>
        </p:nvSpPr>
        <p:spPr>
          <a:xfrm flipV="1">
            <a:off x="2887035" y="4106336"/>
            <a:ext cx="108000" cy="108000"/>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1" name="Diagrama de flujo: extraer 30">
            <a:extLst>
              <a:ext uri="{FF2B5EF4-FFF2-40B4-BE49-F238E27FC236}">
                <a16:creationId xmlns:a16="http://schemas.microsoft.com/office/drawing/2014/main" id="{631E99EB-57F2-4CB9-BFB5-C10C851F4EEA}"/>
              </a:ext>
            </a:extLst>
          </p:cNvPr>
          <p:cNvSpPr/>
          <p:nvPr/>
        </p:nvSpPr>
        <p:spPr>
          <a:xfrm>
            <a:off x="1058235" y="4545731"/>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extraer 31">
            <a:extLst>
              <a:ext uri="{FF2B5EF4-FFF2-40B4-BE49-F238E27FC236}">
                <a16:creationId xmlns:a16="http://schemas.microsoft.com/office/drawing/2014/main" id="{A4A8F9E6-A7EA-4907-88B1-99C2CB457017}"/>
              </a:ext>
            </a:extLst>
          </p:cNvPr>
          <p:cNvSpPr/>
          <p:nvPr/>
        </p:nvSpPr>
        <p:spPr>
          <a:xfrm>
            <a:off x="1864635" y="4698131"/>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extraer 32">
            <a:extLst>
              <a:ext uri="{FF2B5EF4-FFF2-40B4-BE49-F238E27FC236}">
                <a16:creationId xmlns:a16="http://schemas.microsoft.com/office/drawing/2014/main" id="{8B8044FC-0DF9-4B82-8D84-C0533AF058C6}"/>
              </a:ext>
            </a:extLst>
          </p:cNvPr>
          <p:cNvSpPr/>
          <p:nvPr/>
        </p:nvSpPr>
        <p:spPr>
          <a:xfrm>
            <a:off x="2702835" y="5052536"/>
            <a:ext cx="144000" cy="144000"/>
          </a:xfrm>
          <a:prstGeom prst="flowChartExtra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extraer 33">
            <a:extLst>
              <a:ext uri="{FF2B5EF4-FFF2-40B4-BE49-F238E27FC236}">
                <a16:creationId xmlns:a16="http://schemas.microsoft.com/office/drawing/2014/main" id="{B6E41563-27BF-4F5B-9CBC-46DA32AE7D27}"/>
              </a:ext>
            </a:extLst>
          </p:cNvPr>
          <p:cNvSpPr/>
          <p:nvPr/>
        </p:nvSpPr>
        <p:spPr>
          <a:xfrm>
            <a:off x="982035" y="3757136"/>
            <a:ext cx="144000" cy="144000"/>
          </a:xfrm>
          <a:prstGeom prst="flowChartExtra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5D028EDB-F696-47FE-81AF-A3FAB761DE4A}"/>
              </a:ext>
            </a:extLst>
          </p:cNvPr>
          <p:cNvSpPr/>
          <p:nvPr/>
        </p:nvSpPr>
        <p:spPr>
          <a:xfrm>
            <a:off x="1788435" y="5173136"/>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conector 35">
            <a:extLst>
              <a:ext uri="{FF2B5EF4-FFF2-40B4-BE49-F238E27FC236}">
                <a16:creationId xmlns:a16="http://schemas.microsoft.com/office/drawing/2014/main" id="{52E9FFCB-CAD4-4777-B426-00588F1DE006}"/>
              </a:ext>
            </a:extLst>
          </p:cNvPr>
          <p:cNvSpPr/>
          <p:nvPr/>
        </p:nvSpPr>
        <p:spPr>
          <a:xfrm flipV="1">
            <a:off x="3617235" y="360473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conector 36">
            <a:extLst>
              <a:ext uri="{FF2B5EF4-FFF2-40B4-BE49-F238E27FC236}">
                <a16:creationId xmlns:a16="http://schemas.microsoft.com/office/drawing/2014/main" id="{EAE182C0-95FC-43C0-A29C-146E83D2BFEE}"/>
              </a:ext>
            </a:extLst>
          </p:cNvPr>
          <p:cNvSpPr/>
          <p:nvPr/>
        </p:nvSpPr>
        <p:spPr>
          <a:xfrm flipV="1">
            <a:off x="1896435" y="269033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CuadroTexto 37">
            <a:extLst>
              <a:ext uri="{FF2B5EF4-FFF2-40B4-BE49-F238E27FC236}">
                <a16:creationId xmlns:a16="http://schemas.microsoft.com/office/drawing/2014/main" id="{46C2F3F6-1556-499A-95FD-92786F9813FD}"/>
              </a:ext>
            </a:extLst>
          </p:cNvPr>
          <p:cNvSpPr txBox="1"/>
          <p:nvPr/>
        </p:nvSpPr>
        <p:spPr>
          <a:xfrm>
            <a:off x="578212" y="1321142"/>
            <a:ext cx="2590800" cy="369332"/>
          </a:xfrm>
          <a:prstGeom prst="rect">
            <a:avLst/>
          </a:prstGeom>
          <a:noFill/>
        </p:spPr>
        <p:txBody>
          <a:bodyPr wrap="square" rtlCol="0">
            <a:spAutoFit/>
          </a:bodyPr>
          <a:lstStyle/>
          <a:p>
            <a:r>
              <a:rPr lang="es-ES" b="1" dirty="0" err="1"/>
              <a:t>Support</a:t>
            </a:r>
            <a:r>
              <a:rPr lang="es-ES" b="1" dirty="0"/>
              <a:t> </a:t>
            </a:r>
            <a:r>
              <a:rPr lang="es-ES" b="1" dirty="0" err="1"/>
              <a:t>points</a:t>
            </a:r>
            <a:r>
              <a:rPr lang="es-ES" b="1" dirty="0"/>
              <a:t>:</a:t>
            </a:r>
            <a:endParaRPr lang="es-ES_tradnl" b="1" dirty="0"/>
          </a:p>
        </p:txBody>
      </p:sp>
      <p:sp>
        <p:nvSpPr>
          <p:cNvPr id="39" name="Title 5">
            <a:extLst>
              <a:ext uri="{FF2B5EF4-FFF2-40B4-BE49-F238E27FC236}">
                <a16:creationId xmlns:a16="http://schemas.microsoft.com/office/drawing/2014/main" id="{D882CDD7-E608-4BD6-911A-E53BDB33DA5D}"/>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103496573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6">
            <a:extLst>
              <a:ext uri="{FF2B5EF4-FFF2-40B4-BE49-F238E27FC236}">
                <a16:creationId xmlns:a16="http://schemas.microsoft.com/office/drawing/2014/main" id="{8209C994-6955-44E9-B63C-5283A5A18C31}"/>
              </a:ext>
            </a:extLst>
          </p:cNvPr>
          <p:cNvSpPr txBox="1"/>
          <p:nvPr/>
        </p:nvSpPr>
        <p:spPr>
          <a:xfrm>
            <a:off x="489467" y="22989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77003" y="2794806"/>
                <a:ext cx="4228397" cy="6798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a:latin typeface="Cambria Math" panose="02040503050406030204" pitchFamily="18" charset="0"/>
                              <a:ea typeface="Cambria Math" panose="02040503050406030204" pitchFamily="18" charset="0"/>
                            </a:rPr>
                          </m:ctrlPr>
                        </m:fPr>
                        <m:num>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num>
                        <m:den>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77003" y="2794806"/>
                <a:ext cx="4228397" cy="679866"/>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6764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6764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398883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3988832"/>
                <a:ext cx="2590800" cy="1477328"/>
              </a:xfrm>
              <a:prstGeom prst="rect">
                <a:avLst/>
              </a:prstGeom>
              <a:blipFill>
                <a:blip r:embed="rId5"/>
                <a:stretch>
                  <a:fillRect l="-1882" t="-2881"/>
                </a:stretch>
              </a:blipFill>
            </p:spPr>
            <p:txBody>
              <a:bodyPr/>
              <a:lstStyle/>
              <a:p>
                <a:r>
                  <a:rPr lang="es-ES_tradnl">
                    <a:noFill/>
                  </a:rPr>
                  <a:t> </a:t>
                </a:r>
              </a:p>
            </p:txBody>
          </p:sp>
        </mc:Fallback>
      </mc:AlternateContent>
      <p:sp>
        <p:nvSpPr>
          <p:cNvPr id="2" name="CuadroTexto 1">
            <a:extLst>
              <a:ext uri="{FF2B5EF4-FFF2-40B4-BE49-F238E27FC236}">
                <a16:creationId xmlns:a16="http://schemas.microsoft.com/office/drawing/2014/main" id="{E541F801-C147-4B16-8CAA-DB94A6AFC2A9}"/>
              </a:ext>
            </a:extLst>
          </p:cNvPr>
          <p:cNvSpPr txBox="1"/>
          <p:nvPr/>
        </p:nvSpPr>
        <p:spPr>
          <a:xfrm>
            <a:off x="3352800" y="4369833"/>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p:cxnSp>
        <p:nvCxnSpPr>
          <p:cNvPr id="21" name="Conector recto de flecha 20">
            <a:extLst>
              <a:ext uri="{FF2B5EF4-FFF2-40B4-BE49-F238E27FC236}">
                <a16:creationId xmlns:a16="http://schemas.microsoft.com/office/drawing/2014/main" id="{3A9BD5C6-98BC-40A9-8AD8-5A7771A0C985}"/>
              </a:ext>
            </a:extLst>
          </p:cNvPr>
          <p:cNvCxnSpPr/>
          <p:nvPr/>
        </p:nvCxnSpPr>
        <p:spPr>
          <a:xfrm>
            <a:off x="6087435" y="20697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1768FB4-BED8-4AA3-B73D-F2F9DB13A5A7}"/>
              </a:ext>
            </a:extLst>
          </p:cNvPr>
          <p:cNvCxnSpPr/>
          <p:nvPr/>
        </p:nvCxnSpPr>
        <p:spPr>
          <a:xfrm>
            <a:off x="6087435" y="41691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6E5B33D-9C8B-4636-8B72-3598F048F59A}"/>
              </a:ext>
            </a:extLst>
          </p:cNvPr>
          <p:cNvCxnSpPr>
            <a:cxnSpLocks/>
          </p:cNvCxnSpPr>
          <p:nvPr/>
        </p:nvCxnSpPr>
        <p:spPr>
          <a:xfrm>
            <a:off x="5554035" y="24165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8FD418D-4A54-498B-A3B4-DDC8E93E6E9B}"/>
                  </a:ext>
                </a:extLst>
              </p:cNvPr>
              <p:cNvSpPr txBox="1"/>
              <p:nvPr/>
            </p:nvSpPr>
            <p:spPr>
              <a:xfrm>
                <a:off x="7437264" y="34026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4" name="CuadroTexto 23">
                <a:extLst>
                  <a:ext uri="{FF2B5EF4-FFF2-40B4-BE49-F238E27FC236}">
                    <a16:creationId xmlns:a16="http://schemas.microsoft.com/office/drawing/2014/main" id="{08FD418D-4A54-498B-A3B4-DDC8E93E6E9B}"/>
                  </a:ext>
                </a:extLst>
              </p:cNvPr>
              <p:cNvSpPr txBox="1">
                <a:spLocks noRot="1" noChangeAspect="1" noMove="1" noResize="1" noEditPoints="1" noAdjustHandles="1" noChangeArrowheads="1" noChangeShapeType="1" noTextEdit="1"/>
              </p:cNvSpPr>
              <p:nvPr/>
            </p:nvSpPr>
            <p:spPr>
              <a:xfrm>
                <a:off x="7437264" y="3402678"/>
                <a:ext cx="1554336" cy="276999"/>
              </a:xfrm>
              <a:prstGeom prst="rect">
                <a:avLst/>
              </a:prstGeom>
              <a:blipFill>
                <a:blip r:embed="rId6"/>
                <a:stretch>
                  <a:fillRect l="-4706" t="-4348" r="-3529" b="-32609"/>
                </a:stretch>
              </a:blipFill>
            </p:spPr>
            <p:txBody>
              <a:bodyPr/>
              <a:lstStyle/>
              <a:p>
                <a:r>
                  <a:rPr lang="es-ES_tradnl">
                    <a:noFill/>
                  </a:rPr>
                  <a:t> </a:t>
                </a:r>
              </a:p>
            </p:txBody>
          </p:sp>
        </mc:Fallback>
      </mc:AlternateContent>
      <p:cxnSp>
        <p:nvCxnSpPr>
          <p:cNvPr id="25" name="Conector recto 24">
            <a:extLst>
              <a:ext uri="{FF2B5EF4-FFF2-40B4-BE49-F238E27FC236}">
                <a16:creationId xmlns:a16="http://schemas.microsoft.com/office/drawing/2014/main" id="{40C4C0FC-CD02-4E25-BD9C-84AB02DD7A86}"/>
              </a:ext>
            </a:extLst>
          </p:cNvPr>
          <p:cNvCxnSpPr>
            <a:cxnSpLocks/>
          </p:cNvCxnSpPr>
          <p:nvPr/>
        </p:nvCxnSpPr>
        <p:spPr>
          <a:xfrm>
            <a:off x="5870170" y="21125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D4FD1243-6BC8-4914-8713-6A62C08BC8BE}"/>
              </a:ext>
            </a:extLst>
          </p:cNvPr>
          <p:cNvCxnSpPr>
            <a:cxnSpLocks/>
          </p:cNvCxnSpPr>
          <p:nvPr/>
        </p:nvCxnSpPr>
        <p:spPr>
          <a:xfrm>
            <a:off x="5412970" y="28224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BCE12996-C994-44E2-9C9B-B5DF42CFF38C}"/>
              </a:ext>
            </a:extLst>
          </p:cNvPr>
          <p:cNvCxnSpPr>
            <a:cxnSpLocks/>
          </p:cNvCxnSpPr>
          <p:nvPr/>
        </p:nvCxnSpPr>
        <p:spPr>
          <a:xfrm flipV="1">
            <a:off x="6544635" y="28131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F7C7F9D6-665E-4FCC-A371-AE70328A9B10}"/>
                  </a:ext>
                </a:extLst>
              </p:cNvPr>
              <p:cNvSpPr/>
              <p:nvPr/>
            </p:nvSpPr>
            <p:spPr>
              <a:xfrm>
                <a:off x="6332858" y="27051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F7C7F9D6-665E-4FCC-A371-AE70328A9B10}"/>
                  </a:ext>
                </a:extLst>
              </p:cNvPr>
              <p:cNvSpPr>
                <a:spLocks noRot="1" noChangeAspect="1" noMove="1" noResize="1" noEditPoints="1" noAdjustHandles="1" noChangeArrowheads="1" noChangeShapeType="1" noTextEdit="1"/>
              </p:cNvSpPr>
              <p:nvPr/>
            </p:nvSpPr>
            <p:spPr>
              <a:xfrm>
                <a:off x="6332858" y="2705100"/>
                <a:ext cx="410882" cy="338554"/>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F3E58765-1A6D-499A-82BE-228D2EADE55D}"/>
                  </a:ext>
                </a:extLst>
              </p:cNvPr>
              <p:cNvSpPr/>
              <p:nvPr/>
            </p:nvSpPr>
            <p:spPr>
              <a:xfrm>
                <a:off x="6514753" y="33454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9" name="Rectángulo 28">
                <a:extLst>
                  <a:ext uri="{FF2B5EF4-FFF2-40B4-BE49-F238E27FC236}">
                    <a16:creationId xmlns:a16="http://schemas.microsoft.com/office/drawing/2014/main" id="{F3E58765-1A6D-499A-82BE-228D2EADE55D}"/>
                  </a:ext>
                </a:extLst>
              </p:cNvPr>
              <p:cNvSpPr>
                <a:spLocks noRot="1" noChangeAspect="1" noMove="1" noResize="1" noEditPoints="1" noAdjustHandles="1" noChangeArrowheads="1" noChangeShapeType="1" noTextEdit="1"/>
              </p:cNvSpPr>
              <p:nvPr/>
            </p:nvSpPr>
            <p:spPr>
              <a:xfrm>
                <a:off x="6514753" y="3345478"/>
                <a:ext cx="410882" cy="338554"/>
              </a:xfrm>
              <a:prstGeom prst="rect">
                <a:avLst/>
              </a:prstGeom>
              <a:blipFill>
                <a:blip r:embed="rId8"/>
                <a:stretch>
                  <a:fillRect/>
                </a:stretch>
              </a:blipFill>
            </p:spPr>
            <p:txBody>
              <a:bodyPr/>
              <a:lstStyle/>
              <a:p>
                <a:r>
                  <a:rPr lang="es-ES_tradnl">
                    <a:noFill/>
                  </a:rPr>
                  <a:t> </a:t>
                </a:r>
              </a:p>
            </p:txBody>
          </p:sp>
        </mc:Fallback>
      </mc:AlternateContent>
      <p:cxnSp>
        <p:nvCxnSpPr>
          <p:cNvPr id="30" name="Conector recto 29">
            <a:extLst>
              <a:ext uri="{FF2B5EF4-FFF2-40B4-BE49-F238E27FC236}">
                <a16:creationId xmlns:a16="http://schemas.microsoft.com/office/drawing/2014/main" id="{A856E3D0-34DA-43B3-A5CD-153698CB6863}"/>
              </a:ext>
            </a:extLst>
          </p:cNvPr>
          <p:cNvCxnSpPr>
            <a:cxnSpLocks/>
          </p:cNvCxnSpPr>
          <p:nvPr/>
        </p:nvCxnSpPr>
        <p:spPr>
          <a:xfrm flipV="1">
            <a:off x="6735846" y="34628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3638652B-71FE-4D7E-BA48-E92B9BC8CC80}"/>
              </a:ext>
            </a:extLst>
          </p:cNvPr>
          <p:cNvSpPr/>
          <p:nvPr/>
        </p:nvSpPr>
        <p:spPr>
          <a:xfrm flipV="1">
            <a:off x="7021640" y="23301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A3139DC0-A997-4897-AC7C-F4F1EFF4B71E}"/>
              </a:ext>
            </a:extLst>
          </p:cNvPr>
          <p:cNvSpPr/>
          <p:nvPr/>
        </p:nvSpPr>
        <p:spPr>
          <a:xfrm>
            <a:off x="7535235" y="27696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024D75E9-1EE8-43CE-BA80-D4D3FA137048}"/>
              </a:ext>
            </a:extLst>
          </p:cNvPr>
          <p:cNvSpPr/>
          <p:nvPr/>
        </p:nvSpPr>
        <p:spPr>
          <a:xfrm flipV="1">
            <a:off x="7611435" y="2160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conector 33">
            <a:extLst>
              <a:ext uri="{FF2B5EF4-FFF2-40B4-BE49-F238E27FC236}">
                <a16:creationId xmlns:a16="http://schemas.microsoft.com/office/drawing/2014/main" id="{F8CDFB15-0D8A-4AA8-9788-F1802BF10F98}"/>
              </a:ext>
            </a:extLst>
          </p:cNvPr>
          <p:cNvSpPr/>
          <p:nvPr/>
        </p:nvSpPr>
        <p:spPr>
          <a:xfrm flipV="1">
            <a:off x="7611435" y="3347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F6282451-0B33-493F-8516-C7C7A43CFEB0}"/>
              </a:ext>
            </a:extLst>
          </p:cNvPr>
          <p:cNvSpPr/>
          <p:nvPr/>
        </p:nvSpPr>
        <p:spPr>
          <a:xfrm>
            <a:off x="5782635" y="37868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76CDCAE5-6E3A-40A4-89B5-AEFEB0C96158}"/>
              </a:ext>
            </a:extLst>
          </p:cNvPr>
          <p:cNvSpPr/>
          <p:nvPr/>
        </p:nvSpPr>
        <p:spPr>
          <a:xfrm>
            <a:off x="6589035" y="3939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19C22CEA-F955-4D04-88A2-867E9AFED558}"/>
              </a:ext>
            </a:extLst>
          </p:cNvPr>
          <p:cNvSpPr/>
          <p:nvPr/>
        </p:nvSpPr>
        <p:spPr>
          <a:xfrm>
            <a:off x="7427235" y="4293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659E7B6F-32CB-4EBB-AAC2-BDAC73CC8A9A}"/>
              </a:ext>
            </a:extLst>
          </p:cNvPr>
          <p:cNvSpPr/>
          <p:nvPr/>
        </p:nvSpPr>
        <p:spPr>
          <a:xfrm>
            <a:off x="5706435" y="2998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extraer 38">
            <a:extLst>
              <a:ext uri="{FF2B5EF4-FFF2-40B4-BE49-F238E27FC236}">
                <a16:creationId xmlns:a16="http://schemas.microsoft.com/office/drawing/2014/main" id="{65CA01AF-8937-44B2-B95B-A97478C0A7EF}"/>
              </a:ext>
            </a:extLst>
          </p:cNvPr>
          <p:cNvSpPr/>
          <p:nvPr/>
        </p:nvSpPr>
        <p:spPr>
          <a:xfrm>
            <a:off x="6512835" y="4414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8B16C000-5D4E-4908-9C5D-F32EB717C41C}"/>
              </a:ext>
            </a:extLst>
          </p:cNvPr>
          <p:cNvSpPr/>
          <p:nvPr/>
        </p:nvSpPr>
        <p:spPr>
          <a:xfrm flipV="1">
            <a:off x="8341635" y="2845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Diagrama de flujo: conector 40">
            <a:extLst>
              <a:ext uri="{FF2B5EF4-FFF2-40B4-BE49-F238E27FC236}">
                <a16:creationId xmlns:a16="http://schemas.microsoft.com/office/drawing/2014/main" id="{ABD38F00-81D9-4243-85AF-A03413191BC9}"/>
              </a:ext>
            </a:extLst>
          </p:cNvPr>
          <p:cNvSpPr/>
          <p:nvPr/>
        </p:nvSpPr>
        <p:spPr>
          <a:xfrm flipV="1">
            <a:off x="66208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5" name="Title 5">
            <a:extLst>
              <a:ext uri="{FF2B5EF4-FFF2-40B4-BE49-F238E27FC236}">
                <a16:creationId xmlns:a16="http://schemas.microsoft.com/office/drawing/2014/main" id="{DFD7842B-BF20-4BEA-A781-655086389BC7}"/>
              </a:ext>
            </a:extLst>
          </p:cNvPr>
          <p:cNvSpPr>
            <a:spLocks noGrp="1"/>
          </p:cNvSpPr>
          <p:nvPr>
            <p:ph type="title"/>
          </p:nvPr>
        </p:nvSpPr>
        <p:spPr>
          <a:xfrm>
            <a:off x="191656" y="76200"/>
            <a:ext cx="8114144" cy="609600"/>
          </a:xfrm>
        </p:spPr>
        <p:txBody>
          <a:bodyPr/>
          <a:lstStyle/>
          <a:p>
            <a:r>
              <a:rPr lang="en-US" dirty="0"/>
              <a:t>Optimal Separating Hyperplanes</a:t>
            </a:r>
          </a:p>
        </p:txBody>
      </p:sp>
    </p:spTree>
    <p:extLst>
      <p:ext uri="{BB962C8B-B14F-4D97-AF65-F5344CB8AC3E}">
        <p14:creationId xmlns:p14="http://schemas.microsoft.com/office/powerpoint/2010/main" val="92890269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2989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77003" y="2794806"/>
                <a:ext cx="4228397" cy="6798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a:latin typeface="Cambria Math" panose="02040503050406030204" pitchFamily="18" charset="0"/>
                              <a:ea typeface="Cambria Math" panose="02040503050406030204" pitchFamily="18" charset="0"/>
                            </a:rPr>
                          </m:ctrlPr>
                        </m:fPr>
                        <m:num>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num>
                        <m:den>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77003" y="2794806"/>
                <a:ext cx="4228397" cy="679866"/>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6764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6764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398883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3988832"/>
                <a:ext cx="2590800" cy="1477328"/>
              </a:xfrm>
              <a:prstGeom prst="rect">
                <a:avLst/>
              </a:prstGeom>
              <a:blipFill>
                <a:blip r:embed="rId5"/>
                <a:stretch>
                  <a:fillRect l="-1882" t="-2881"/>
                </a:stretch>
              </a:blipFill>
            </p:spPr>
            <p:txBody>
              <a:bodyPr/>
              <a:lstStyle/>
              <a:p>
                <a:r>
                  <a:rPr lang="es-ES_tradnl">
                    <a:noFill/>
                  </a:rPr>
                  <a:t> </a:t>
                </a:r>
              </a:p>
            </p:txBody>
          </p:sp>
        </mc:Fallback>
      </mc:AlternateContent>
      <p:sp>
        <p:nvSpPr>
          <p:cNvPr id="2" name="CuadroTexto 1">
            <a:extLst>
              <a:ext uri="{FF2B5EF4-FFF2-40B4-BE49-F238E27FC236}">
                <a16:creationId xmlns:a16="http://schemas.microsoft.com/office/drawing/2014/main" id="{E541F801-C147-4B16-8CAA-DB94A6AFC2A9}"/>
              </a:ext>
            </a:extLst>
          </p:cNvPr>
          <p:cNvSpPr txBox="1"/>
          <p:nvPr/>
        </p:nvSpPr>
        <p:spPr>
          <a:xfrm>
            <a:off x="3352800" y="4369833"/>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p:cxnSp>
        <p:nvCxnSpPr>
          <p:cNvPr id="21" name="Conector recto de flecha 20">
            <a:extLst>
              <a:ext uri="{FF2B5EF4-FFF2-40B4-BE49-F238E27FC236}">
                <a16:creationId xmlns:a16="http://schemas.microsoft.com/office/drawing/2014/main" id="{3A9BD5C6-98BC-40A9-8AD8-5A7771A0C985}"/>
              </a:ext>
            </a:extLst>
          </p:cNvPr>
          <p:cNvCxnSpPr/>
          <p:nvPr/>
        </p:nvCxnSpPr>
        <p:spPr>
          <a:xfrm>
            <a:off x="6087435" y="20697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1768FB4-BED8-4AA3-B73D-F2F9DB13A5A7}"/>
              </a:ext>
            </a:extLst>
          </p:cNvPr>
          <p:cNvCxnSpPr/>
          <p:nvPr/>
        </p:nvCxnSpPr>
        <p:spPr>
          <a:xfrm>
            <a:off x="6087435" y="41691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6E5B33D-9C8B-4636-8B72-3598F048F59A}"/>
              </a:ext>
            </a:extLst>
          </p:cNvPr>
          <p:cNvCxnSpPr>
            <a:cxnSpLocks/>
          </p:cNvCxnSpPr>
          <p:nvPr/>
        </p:nvCxnSpPr>
        <p:spPr>
          <a:xfrm>
            <a:off x="5554035" y="24165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8FD418D-4A54-498B-A3B4-DDC8E93E6E9B}"/>
                  </a:ext>
                </a:extLst>
              </p:cNvPr>
              <p:cNvSpPr txBox="1"/>
              <p:nvPr/>
            </p:nvSpPr>
            <p:spPr>
              <a:xfrm>
                <a:off x="7437264" y="34026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4" name="CuadroTexto 23">
                <a:extLst>
                  <a:ext uri="{FF2B5EF4-FFF2-40B4-BE49-F238E27FC236}">
                    <a16:creationId xmlns:a16="http://schemas.microsoft.com/office/drawing/2014/main" id="{08FD418D-4A54-498B-A3B4-DDC8E93E6E9B}"/>
                  </a:ext>
                </a:extLst>
              </p:cNvPr>
              <p:cNvSpPr txBox="1">
                <a:spLocks noRot="1" noChangeAspect="1" noMove="1" noResize="1" noEditPoints="1" noAdjustHandles="1" noChangeArrowheads="1" noChangeShapeType="1" noTextEdit="1"/>
              </p:cNvSpPr>
              <p:nvPr/>
            </p:nvSpPr>
            <p:spPr>
              <a:xfrm>
                <a:off x="7437264" y="3402678"/>
                <a:ext cx="1554336" cy="276999"/>
              </a:xfrm>
              <a:prstGeom prst="rect">
                <a:avLst/>
              </a:prstGeom>
              <a:blipFill>
                <a:blip r:embed="rId6"/>
                <a:stretch>
                  <a:fillRect l="-4706" t="-4348" r="-3529" b="-32609"/>
                </a:stretch>
              </a:blipFill>
            </p:spPr>
            <p:txBody>
              <a:bodyPr/>
              <a:lstStyle/>
              <a:p>
                <a:r>
                  <a:rPr lang="es-ES_tradnl">
                    <a:noFill/>
                  </a:rPr>
                  <a:t> </a:t>
                </a:r>
              </a:p>
            </p:txBody>
          </p:sp>
        </mc:Fallback>
      </mc:AlternateContent>
      <p:cxnSp>
        <p:nvCxnSpPr>
          <p:cNvPr id="25" name="Conector recto 24">
            <a:extLst>
              <a:ext uri="{FF2B5EF4-FFF2-40B4-BE49-F238E27FC236}">
                <a16:creationId xmlns:a16="http://schemas.microsoft.com/office/drawing/2014/main" id="{40C4C0FC-CD02-4E25-BD9C-84AB02DD7A86}"/>
              </a:ext>
            </a:extLst>
          </p:cNvPr>
          <p:cNvCxnSpPr>
            <a:cxnSpLocks/>
          </p:cNvCxnSpPr>
          <p:nvPr/>
        </p:nvCxnSpPr>
        <p:spPr>
          <a:xfrm>
            <a:off x="5870170" y="21125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D4FD1243-6BC8-4914-8713-6A62C08BC8BE}"/>
              </a:ext>
            </a:extLst>
          </p:cNvPr>
          <p:cNvCxnSpPr>
            <a:cxnSpLocks/>
          </p:cNvCxnSpPr>
          <p:nvPr/>
        </p:nvCxnSpPr>
        <p:spPr>
          <a:xfrm>
            <a:off x="5412970" y="28224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BCE12996-C994-44E2-9C9B-B5DF42CFF38C}"/>
              </a:ext>
            </a:extLst>
          </p:cNvPr>
          <p:cNvCxnSpPr>
            <a:cxnSpLocks/>
          </p:cNvCxnSpPr>
          <p:nvPr/>
        </p:nvCxnSpPr>
        <p:spPr>
          <a:xfrm flipV="1">
            <a:off x="6544635" y="28131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F7C7F9D6-665E-4FCC-A371-AE70328A9B10}"/>
                  </a:ext>
                </a:extLst>
              </p:cNvPr>
              <p:cNvSpPr/>
              <p:nvPr/>
            </p:nvSpPr>
            <p:spPr>
              <a:xfrm>
                <a:off x="6332858" y="27051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F7C7F9D6-665E-4FCC-A371-AE70328A9B10}"/>
                  </a:ext>
                </a:extLst>
              </p:cNvPr>
              <p:cNvSpPr>
                <a:spLocks noRot="1" noChangeAspect="1" noMove="1" noResize="1" noEditPoints="1" noAdjustHandles="1" noChangeArrowheads="1" noChangeShapeType="1" noTextEdit="1"/>
              </p:cNvSpPr>
              <p:nvPr/>
            </p:nvSpPr>
            <p:spPr>
              <a:xfrm>
                <a:off x="6332858" y="2705100"/>
                <a:ext cx="410882" cy="338554"/>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F3E58765-1A6D-499A-82BE-228D2EADE55D}"/>
                  </a:ext>
                </a:extLst>
              </p:cNvPr>
              <p:cNvSpPr/>
              <p:nvPr/>
            </p:nvSpPr>
            <p:spPr>
              <a:xfrm>
                <a:off x="6514753" y="33454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9" name="Rectángulo 28">
                <a:extLst>
                  <a:ext uri="{FF2B5EF4-FFF2-40B4-BE49-F238E27FC236}">
                    <a16:creationId xmlns:a16="http://schemas.microsoft.com/office/drawing/2014/main" id="{F3E58765-1A6D-499A-82BE-228D2EADE55D}"/>
                  </a:ext>
                </a:extLst>
              </p:cNvPr>
              <p:cNvSpPr>
                <a:spLocks noRot="1" noChangeAspect="1" noMove="1" noResize="1" noEditPoints="1" noAdjustHandles="1" noChangeArrowheads="1" noChangeShapeType="1" noTextEdit="1"/>
              </p:cNvSpPr>
              <p:nvPr/>
            </p:nvSpPr>
            <p:spPr>
              <a:xfrm>
                <a:off x="6514753" y="3345478"/>
                <a:ext cx="410882" cy="338554"/>
              </a:xfrm>
              <a:prstGeom prst="rect">
                <a:avLst/>
              </a:prstGeom>
              <a:blipFill>
                <a:blip r:embed="rId8"/>
                <a:stretch>
                  <a:fillRect/>
                </a:stretch>
              </a:blipFill>
            </p:spPr>
            <p:txBody>
              <a:bodyPr/>
              <a:lstStyle/>
              <a:p>
                <a:r>
                  <a:rPr lang="es-ES_tradnl">
                    <a:noFill/>
                  </a:rPr>
                  <a:t> </a:t>
                </a:r>
              </a:p>
            </p:txBody>
          </p:sp>
        </mc:Fallback>
      </mc:AlternateContent>
      <p:cxnSp>
        <p:nvCxnSpPr>
          <p:cNvPr id="30" name="Conector recto 29">
            <a:extLst>
              <a:ext uri="{FF2B5EF4-FFF2-40B4-BE49-F238E27FC236}">
                <a16:creationId xmlns:a16="http://schemas.microsoft.com/office/drawing/2014/main" id="{A856E3D0-34DA-43B3-A5CD-153698CB6863}"/>
              </a:ext>
            </a:extLst>
          </p:cNvPr>
          <p:cNvCxnSpPr>
            <a:cxnSpLocks/>
          </p:cNvCxnSpPr>
          <p:nvPr/>
        </p:nvCxnSpPr>
        <p:spPr>
          <a:xfrm flipV="1">
            <a:off x="6735846" y="34628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3638652B-71FE-4D7E-BA48-E92B9BC8CC80}"/>
              </a:ext>
            </a:extLst>
          </p:cNvPr>
          <p:cNvSpPr/>
          <p:nvPr/>
        </p:nvSpPr>
        <p:spPr>
          <a:xfrm flipV="1">
            <a:off x="7021640" y="23301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A3139DC0-A997-4897-AC7C-F4F1EFF4B71E}"/>
              </a:ext>
            </a:extLst>
          </p:cNvPr>
          <p:cNvSpPr/>
          <p:nvPr/>
        </p:nvSpPr>
        <p:spPr>
          <a:xfrm>
            <a:off x="7535235" y="27696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024D75E9-1EE8-43CE-BA80-D4D3FA137048}"/>
              </a:ext>
            </a:extLst>
          </p:cNvPr>
          <p:cNvSpPr/>
          <p:nvPr/>
        </p:nvSpPr>
        <p:spPr>
          <a:xfrm flipV="1">
            <a:off x="7611435" y="2160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conector 33">
            <a:extLst>
              <a:ext uri="{FF2B5EF4-FFF2-40B4-BE49-F238E27FC236}">
                <a16:creationId xmlns:a16="http://schemas.microsoft.com/office/drawing/2014/main" id="{F8CDFB15-0D8A-4AA8-9788-F1802BF10F98}"/>
              </a:ext>
            </a:extLst>
          </p:cNvPr>
          <p:cNvSpPr/>
          <p:nvPr/>
        </p:nvSpPr>
        <p:spPr>
          <a:xfrm flipV="1">
            <a:off x="7611435" y="3347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F6282451-0B33-493F-8516-C7C7A43CFEB0}"/>
              </a:ext>
            </a:extLst>
          </p:cNvPr>
          <p:cNvSpPr/>
          <p:nvPr/>
        </p:nvSpPr>
        <p:spPr>
          <a:xfrm>
            <a:off x="5782635" y="37868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76CDCAE5-6E3A-40A4-89B5-AEFEB0C96158}"/>
              </a:ext>
            </a:extLst>
          </p:cNvPr>
          <p:cNvSpPr/>
          <p:nvPr/>
        </p:nvSpPr>
        <p:spPr>
          <a:xfrm>
            <a:off x="6589035" y="3939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19C22CEA-F955-4D04-88A2-867E9AFED558}"/>
              </a:ext>
            </a:extLst>
          </p:cNvPr>
          <p:cNvSpPr/>
          <p:nvPr/>
        </p:nvSpPr>
        <p:spPr>
          <a:xfrm>
            <a:off x="7427235" y="4293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659E7B6F-32CB-4EBB-AAC2-BDAC73CC8A9A}"/>
              </a:ext>
            </a:extLst>
          </p:cNvPr>
          <p:cNvSpPr/>
          <p:nvPr/>
        </p:nvSpPr>
        <p:spPr>
          <a:xfrm>
            <a:off x="5706435" y="2998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extraer 38">
            <a:extLst>
              <a:ext uri="{FF2B5EF4-FFF2-40B4-BE49-F238E27FC236}">
                <a16:creationId xmlns:a16="http://schemas.microsoft.com/office/drawing/2014/main" id="{65CA01AF-8937-44B2-B95B-A97478C0A7EF}"/>
              </a:ext>
            </a:extLst>
          </p:cNvPr>
          <p:cNvSpPr/>
          <p:nvPr/>
        </p:nvSpPr>
        <p:spPr>
          <a:xfrm>
            <a:off x="6512835" y="44142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8B16C000-5D4E-4908-9C5D-F32EB717C41C}"/>
              </a:ext>
            </a:extLst>
          </p:cNvPr>
          <p:cNvSpPr/>
          <p:nvPr/>
        </p:nvSpPr>
        <p:spPr>
          <a:xfrm flipV="1">
            <a:off x="8341635" y="2845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Diagrama de flujo: conector 40">
            <a:extLst>
              <a:ext uri="{FF2B5EF4-FFF2-40B4-BE49-F238E27FC236}">
                <a16:creationId xmlns:a16="http://schemas.microsoft.com/office/drawing/2014/main" id="{ABD38F00-81D9-4243-85AF-A03413191BC9}"/>
              </a:ext>
            </a:extLst>
          </p:cNvPr>
          <p:cNvSpPr/>
          <p:nvPr/>
        </p:nvSpPr>
        <p:spPr>
          <a:xfrm flipV="1">
            <a:off x="66208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5" name="Diagrama de flujo: extraer 44">
            <a:extLst>
              <a:ext uri="{FF2B5EF4-FFF2-40B4-BE49-F238E27FC236}">
                <a16:creationId xmlns:a16="http://schemas.microsoft.com/office/drawing/2014/main" id="{BE4BB1F4-8FD8-4ECD-826C-D46CF7645D9C}"/>
              </a:ext>
            </a:extLst>
          </p:cNvPr>
          <p:cNvSpPr/>
          <p:nvPr/>
        </p:nvSpPr>
        <p:spPr>
          <a:xfrm>
            <a:off x="7018800" y="31590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6" name="Diagrama de flujo: conector 45">
            <a:extLst>
              <a:ext uri="{FF2B5EF4-FFF2-40B4-BE49-F238E27FC236}">
                <a16:creationId xmlns:a16="http://schemas.microsoft.com/office/drawing/2014/main" id="{512D65D6-781A-4417-947C-84EAADA4B3A7}"/>
              </a:ext>
            </a:extLst>
          </p:cNvPr>
          <p:cNvSpPr/>
          <p:nvPr/>
        </p:nvSpPr>
        <p:spPr>
          <a:xfrm>
            <a:off x="6216600" y="3195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43791767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2989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38200" y="2794806"/>
                <a:ext cx="4616973" cy="6798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num>
                        <m:den>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 − </m:t>
                      </m:r>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𝜀</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38200" y="2794806"/>
                <a:ext cx="4616973" cy="679866"/>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6764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6764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446627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4466272"/>
                <a:ext cx="2590800" cy="1477328"/>
              </a:xfrm>
              <a:prstGeom prst="rect">
                <a:avLst/>
              </a:prstGeom>
              <a:blipFill>
                <a:blip r:embed="rId5"/>
                <a:stretch>
                  <a:fillRect l="-1882" t="-3306"/>
                </a:stretch>
              </a:blipFill>
            </p:spPr>
            <p:txBody>
              <a:bodyPr/>
              <a:lstStyle/>
              <a:p>
                <a:r>
                  <a:rPr lang="es-ES_tradnl">
                    <a:noFill/>
                  </a:rPr>
                  <a:t> </a:t>
                </a:r>
              </a:p>
            </p:txBody>
          </p:sp>
        </mc:Fallback>
      </mc:AlternateContent>
      <p:sp>
        <p:nvSpPr>
          <p:cNvPr id="2" name="CuadroTexto 1">
            <a:extLst>
              <a:ext uri="{FF2B5EF4-FFF2-40B4-BE49-F238E27FC236}">
                <a16:creationId xmlns:a16="http://schemas.microsoft.com/office/drawing/2014/main" id="{E541F801-C147-4B16-8CAA-DB94A6AFC2A9}"/>
              </a:ext>
            </a:extLst>
          </p:cNvPr>
          <p:cNvSpPr txBox="1"/>
          <p:nvPr/>
        </p:nvSpPr>
        <p:spPr>
          <a:xfrm>
            <a:off x="3352800" y="4847273"/>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mc:AlternateContent xmlns:mc="http://schemas.openxmlformats.org/markup-compatibility/2006" xmlns:a14="http://schemas.microsoft.com/office/drawing/2010/main">
        <mc:Choice Requires="a14">
          <p:sp>
            <p:nvSpPr>
              <p:cNvPr id="3" name="Rectángulo 2">
                <a:extLst>
                  <a:ext uri="{FF2B5EF4-FFF2-40B4-BE49-F238E27FC236}">
                    <a16:creationId xmlns:a16="http://schemas.microsoft.com/office/drawing/2014/main" id="{7C9EFC49-3AEF-4706-8B7B-1E5FC53797A9}"/>
                  </a:ext>
                </a:extLst>
              </p:cNvPr>
              <p:cNvSpPr/>
              <p:nvPr/>
            </p:nvSpPr>
            <p:spPr>
              <a:xfrm>
                <a:off x="911630" y="3636527"/>
                <a:ext cx="2254335" cy="400110"/>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s-ES" sz="2000" dirty="0">
                    <a:ea typeface="Cambria Math" panose="02040503050406030204" pitchFamily="18" charset="0"/>
                  </a:rPr>
                  <a:t> </a:t>
                </a:r>
                <a14:m>
                  <m:oMath xmlns:m="http://schemas.openxmlformats.org/officeDocument/2006/math">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3" name="Rectángulo 2">
                <a:extLst>
                  <a:ext uri="{FF2B5EF4-FFF2-40B4-BE49-F238E27FC236}">
                    <a16:creationId xmlns:a16="http://schemas.microsoft.com/office/drawing/2014/main" id="{7C9EFC49-3AEF-4706-8B7B-1E5FC53797A9}"/>
                  </a:ext>
                </a:extLst>
              </p:cNvPr>
              <p:cNvSpPr>
                <a:spLocks noRot="1" noChangeAspect="1" noMove="1" noResize="1" noEditPoints="1" noAdjustHandles="1" noChangeArrowheads="1" noChangeShapeType="1" noTextEdit="1"/>
              </p:cNvSpPr>
              <p:nvPr/>
            </p:nvSpPr>
            <p:spPr>
              <a:xfrm>
                <a:off x="911630" y="3636527"/>
                <a:ext cx="2254335" cy="400110"/>
              </a:xfrm>
              <a:prstGeom prst="rect">
                <a:avLst/>
              </a:prstGeom>
              <a:blipFill>
                <a:blip r:embed="rId9"/>
                <a:stretch>
                  <a:fillRect b="-1538"/>
                </a:stretch>
              </a:blipFill>
            </p:spPr>
            <p:txBody>
              <a:bodyPr/>
              <a:lstStyle/>
              <a:p>
                <a:r>
                  <a:rPr lang="es-ES_tradnl">
                    <a:noFill/>
                  </a:rPr>
                  <a:t> </a:t>
                </a:r>
              </a:p>
            </p:txBody>
          </p:sp>
        </mc:Fallback>
      </mc:AlternateContent>
      <p:cxnSp>
        <p:nvCxnSpPr>
          <p:cNvPr id="47" name="Conector recto de flecha 20">
            <a:extLst>
              <a:ext uri="{FF2B5EF4-FFF2-40B4-BE49-F238E27FC236}">
                <a16:creationId xmlns:a16="http://schemas.microsoft.com/office/drawing/2014/main" id="{DAD7D97B-DCC9-407B-A3D7-E5DD97FA674D}"/>
              </a:ext>
            </a:extLst>
          </p:cNvPr>
          <p:cNvCxnSpPr/>
          <p:nvPr/>
        </p:nvCxnSpPr>
        <p:spPr>
          <a:xfrm>
            <a:off x="6087435" y="18411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Conector recto de flecha 21">
            <a:extLst>
              <a:ext uri="{FF2B5EF4-FFF2-40B4-BE49-F238E27FC236}">
                <a16:creationId xmlns:a16="http://schemas.microsoft.com/office/drawing/2014/main" id="{3072C720-AF63-4C66-B05C-D884A01B53DD}"/>
              </a:ext>
            </a:extLst>
          </p:cNvPr>
          <p:cNvCxnSpPr/>
          <p:nvPr/>
        </p:nvCxnSpPr>
        <p:spPr>
          <a:xfrm>
            <a:off x="6087435" y="39405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22">
            <a:extLst>
              <a:ext uri="{FF2B5EF4-FFF2-40B4-BE49-F238E27FC236}">
                <a16:creationId xmlns:a16="http://schemas.microsoft.com/office/drawing/2014/main" id="{BEB67FC5-D93E-472A-91E0-0CB05551E269}"/>
              </a:ext>
            </a:extLst>
          </p:cNvPr>
          <p:cNvCxnSpPr>
            <a:cxnSpLocks/>
          </p:cNvCxnSpPr>
          <p:nvPr/>
        </p:nvCxnSpPr>
        <p:spPr>
          <a:xfrm>
            <a:off x="5554035" y="21879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uadroTexto 23">
                <a:extLst>
                  <a:ext uri="{FF2B5EF4-FFF2-40B4-BE49-F238E27FC236}">
                    <a16:creationId xmlns:a16="http://schemas.microsoft.com/office/drawing/2014/main" id="{6EC741E4-E695-4071-8AB4-EF46A243C1A7}"/>
                  </a:ext>
                </a:extLst>
              </p:cNvPr>
              <p:cNvSpPr txBox="1"/>
              <p:nvPr/>
            </p:nvSpPr>
            <p:spPr>
              <a:xfrm>
                <a:off x="7437264" y="31740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51" name="CuadroTexto 23">
                <a:extLst>
                  <a:ext uri="{FF2B5EF4-FFF2-40B4-BE49-F238E27FC236}">
                    <a16:creationId xmlns:a16="http://schemas.microsoft.com/office/drawing/2014/main" id="{6EC741E4-E695-4071-8AB4-EF46A243C1A7}"/>
                  </a:ext>
                </a:extLst>
              </p:cNvPr>
              <p:cNvSpPr txBox="1">
                <a:spLocks noRot="1" noChangeAspect="1" noMove="1" noResize="1" noEditPoints="1" noAdjustHandles="1" noChangeArrowheads="1" noChangeShapeType="1" noTextEdit="1"/>
              </p:cNvSpPr>
              <p:nvPr/>
            </p:nvSpPr>
            <p:spPr>
              <a:xfrm>
                <a:off x="7437264" y="3174078"/>
                <a:ext cx="1554336" cy="276999"/>
              </a:xfrm>
              <a:prstGeom prst="rect">
                <a:avLst/>
              </a:prstGeom>
              <a:blipFill>
                <a:blip r:embed="rId10"/>
                <a:stretch>
                  <a:fillRect l="-4706" t="-4444" r="-3529" b="-35556"/>
                </a:stretch>
              </a:blipFill>
            </p:spPr>
            <p:txBody>
              <a:bodyPr/>
              <a:lstStyle/>
              <a:p>
                <a:r>
                  <a:rPr lang="es-ES">
                    <a:noFill/>
                  </a:rPr>
                  <a:t> </a:t>
                </a:r>
              </a:p>
            </p:txBody>
          </p:sp>
        </mc:Fallback>
      </mc:AlternateContent>
      <p:cxnSp>
        <p:nvCxnSpPr>
          <p:cNvPr id="52" name="Conector recto 24">
            <a:extLst>
              <a:ext uri="{FF2B5EF4-FFF2-40B4-BE49-F238E27FC236}">
                <a16:creationId xmlns:a16="http://schemas.microsoft.com/office/drawing/2014/main" id="{B63C5566-713E-40F3-B0EC-BE4D5B333D35}"/>
              </a:ext>
            </a:extLst>
          </p:cNvPr>
          <p:cNvCxnSpPr>
            <a:cxnSpLocks/>
          </p:cNvCxnSpPr>
          <p:nvPr/>
        </p:nvCxnSpPr>
        <p:spPr>
          <a:xfrm>
            <a:off x="5870170" y="18839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3" name="Conector recto 25">
            <a:extLst>
              <a:ext uri="{FF2B5EF4-FFF2-40B4-BE49-F238E27FC236}">
                <a16:creationId xmlns:a16="http://schemas.microsoft.com/office/drawing/2014/main" id="{6E0FCB41-D787-4940-8037-94EEB56F1361}"/>
              </a:ext>
            </a:extLst>
          </p:cNvPr>
          <p:cNvCxnSpPr>
            <a:cxnSpLocks/>
          </p:cNvCxnSpPr>
          <p:nvPr/>
        </p:nvCxnSpPr>
        <p:spPr>
          <a:xfrm>
            <a:off x="5412970" y="25938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4" name="Conector recto 26">
            <a:extLst>
              <a:ext uri="{FF2B5EF4-FFF2-40B4-BE49-F238E27FC236}">
                <a16:creationId xmlns:a16="http://schemas.microsoft.com/office/drawing/2014/main" id="{5F489D73-0DF3-4024-8FE1-B7A184906D61}"/>
              </a:ext>
            </a:extLst>
          </p:cNvPr>
          <p:cNvCxnSpPr>
            <a:cxnSpLocks/>
          </p:cNvCxnSpPr>
          <p:nvPr/>
        </p:nvCxnSpPr>
        <p:spPr>
          <a:xfrm flipV="1">
            <a:off x="6544635" y="25845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ángulo 27">
                <a:extLst>
                  <a:ext uri="{FF2B5EF4-FFF2-40B4-BE49-F238E27FC236}">
                    <a16:creationId xmlns:a16="http://schemas.microsoft.com/office/drawing/2014/main" id="{6713884D-DAAE-45CC-867C-6026E8989E33}"/>
                  </a:ext>
                </a:extLst>
              </p:cNvPr>
              <p:cNvSpPr/>
              <p:nvPr/>
            </p:nvSpPr>
            <p:spPr>
              <a:xfrm>
                <a:off x="6332858" y="24765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5" name="Rectángulo 27">
                <a:extLst>
                  <a:ext uri="{FF2B5EF4-FFF2-40B4-BE49-F238E27FC236}">
                    <a16:creationId xmlns:a16="http://schemas.microsoft.com/office/drawing/2014/main" id="{6713884D-DAAE-45CC-867C-6026E8989E33}"/>
                  </a:ext>
                </a:extLst>
              </p:cNvPr>
              <p:cNvSpPr>
                <a:spLocks noRot="1" noChangeAspect="1" noMove="1" noResize="1" noEditPoints="1" noAdjustHandles="1" noChangeArrowheads="1" noChangeShapeType="1" noTextEdit="1"/>
              </p:cNvSpPr>
              <p:nvPr/>
            </p:nvSpPr>
            <p:spPr>
              <a:xfrm>
                <a:off x="6332858" y="2476500"/>
                <a:ext cx="410882" cy="338554"/>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Rectángulo 28">
                <a:extLst>
                  <a:ext uri="{FF2B5EF4-FFF2-40B4-BE49-F238E27FC236}">
                    <a16:creationId xmlns:a16="http://schemas.microsoft.com/office/drawing/2014/main" id="{CFED14C3-43D0-4A21-933D-462CD6369473}"/>
                  </a:ext>
                </a:extLst>
              </p:cNvPr>
              <p:cNvSpPr/>
              <p:nvPr/>
            </p:nvSpPr>
            <p:spPr>
              <a:xfrm>
                <a:off x="6514753" y="31168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6" name="Rectángulo 28">
                <a:extLst>
                  <a:ext uri="{FF2B5EF4-FFF2-40B4-BE49-F238E27FC236}">
                    <a16:creationId xmlns:a16="http://schemas.microsoft.com/office/drawing/2014/main" id="{CFED14C3-43D0-4A21-933D-462CD6369473}"/>
                  </a:ext>
                </a:extLst>
              </p:cNvPr>
              <p:cNvSpPr>
                <a:spLocks noRot="1" noChangeAspect="1" noMove="1" noResize="1" noEditPoints="1" noAdjustHandles="1" noChangeArrowheads="1" noChangeShapeType="1" noTextEdit="1"/>
              </p:cNvSpPr>
              <p:nvPr/>
            </p:nvSpPr>
            <p:spPr>
              <a:xfrm>
                <a:off x="6514753" y="3116878"/>
                <a:ext cx="410882" cy="338554"/>
              </a:xfrm>
              <a:prstGeom prst="rect">
                <a:avLst/>
              </a:prstGeom>
              <a:blipFill>
                <a:blip r:embed="rId12"/>
                <a:stretch>
                  <a:fillRect/>
                </a:stretch>
              </a:blipFill>
            </p:spPr>
            <p:txBody>
              <a:bodyPr/>
              <a:lstStyle/>
              <a:p>
                <a:r>
                  <a:rPr lang="es-ES">
                    <a:noFill/>
                  </a:rPr>
                  <a:t> </a:t>
                </a:r>
              </a:p>
            </p:txBody>
          </p:sp>
        </mc:Fallback>
      </mc:AlternateContent>
      <p:cxnSp>
        <p:nvCxnSpPr>
          <p:cNvPr id="57" name="Conector recto 29">
            <a:extLst>
              <a:ext uri="{FF2B5EF4-FFF2-40B4-BE49-F238E27FC236}">
                <a16:creationId xmlns:a16="http://schemas.microsoft.com/office/drawing/2014/main" id="{22C8774E-266C-4A83-93E4-5DA8C536164E}"/>
              </a:ext>
            </a:extLst>
          </p:cNvPr>
          <p:cNvCxnSpPr>
            <a:cxnSpLocks/>
          </p:cNvCxnSpPr>
          <p:nvPr/>
        </p:nvCxnSpPr>
        <p:spPr>
          <a:xfrm flipV="1">
            <a:off x="6735846" y="32342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Diagrama de flujo: conector 30">
            <a:extLst>
              <a:ext uri="{FF2B5EF4-FFF2-40B4-BE49-F238E27FC236}">
                <a16:creationId xmlns:a16="http://schemas.microsoft.com/office/drawing/2014/main" id="{C1329DA4-CA28-4004-B649-F98A1454A694}"/>
              </a:ext>
            </a:extLst>
          </p:cNvPr>
          <p:cNvSpPr/>
          <p:nvPr/>
        </p:nvSpPr>
        <p:spPr>
          <a:xfrm flipV="1">
            <a:off x="7021640" y="21015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9" name="Diagrama de flujo: conector 31">
            <a:extLst>
              <a:ext uri="{FF2B5EF4-FFF2-40B4-BE49-F238E27FC236}">
                <a16:creationId xmlns:a16="http://schemas.microsoft.com/office/drawing/2014/main" id="{B07CF43C-6DB0-4FCF-AD78-33988E9127A2}"/>
              </a:ext>
            </a:extLst>
          </p:cNvPr>
          <p:cNvSpPr/>
          <p:nvPr/>
        </p:nvSpPr>
        <p:spPr>
          <a:xfrm>
            <a:off x="7535235" y="2541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0" name="Diagrama de flujo: conector 32">
            <a:extLst>
              <a:ext uri="{FF2B5EF4-FFF2-40B4-BE49-F238E27FC236}">
                <a16:creationId xmlns:a16="http://schemas.microsoft.com/office/drawing/2014/main" id="{529D9BAA-E761-48D1-B5C8-4B5B4D7D8A7C}"/>
              </a:ext>
            </a:extLst>
          </p:cNvPr>
          <p:cNvSpPr/>
          <p:nvPr/>
        </p:nvSpPr>
        <p:spPr>
          <a:xfrm flipV="1">
            <a:off x="76114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Diagrama de flujo: conector 33">
            <a:extLst>
              <a:ext uri="{FF2B5EF4-FFF2-40B4-BE49-F238E27FC236}">
                <a16:creationId xmlns:a16="http://schemas.microsoft.com/office/drawing/2014/main" id="{9586C31A-E0D0-4DB4-8D9F-948A0E2994D6}"/>
              </a:ext>
            </a:extLst>
          </p:cNvPr>
          <p:cNvSpPr/>
          <p:nvPr/>
        </p:nvSpPr>
        <p:spPr>
          <a:xfrm flipV="1">
            <a:off x="7611435" y="3118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Diagrama de flujo: extraer 34">
            <a:extLst>
              <a:ext uri="{FF2B5EF4-FFF2-40B4-BE49-F238E27FC236}">
                <a16:creationId xmlns:a16="http://schemas.microsoft.com/office/drawing/2014/main" id="{53D40CB6-0374-4E25-989D-128FD5E3F62C}"/>
              </a:ext>
            </a:extLst>
          </p:cNvPr>
          <p:cNvSpPr/>
          <p:nvPr/>
        </p:nvSpPr>
        <p:spPr>
          <a:xfrm>
            <a:off x="5782635" y="3558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3" name="Diagrama de flujo: extraer 35">
            <a:extLst>
              <a:ext uri="{FF2B5EF4-FFF2-40B4-BE49-F238E27FC236}">
                <a16:creationId xmlns:a16="http://schemas.microsoft.com/office/drawing/2014/main" id="{26DAA827-E2CF-4F2F-B46B-48FF87A3AA4B}"/>
              </a:ext>
            </a:extLst>
          </p:cNvPr>
          <p:cNvSpPr/>
          <p:nvPr/>
        </p:nvSpPr>
        <p:spPr>
          <a:xfrm>
            <a:off x="6589035" y="37106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Diagrama de flujo: extraer 36">
            <a:extLst>
              <a:ext uri="{FF2B5EF4-FFF2-40B4-BE49-F238E27FC236}">
                <a16:creationId xmlns:a16="http://schemas.microsoft.com/office/drawing/2014/main" id="{33D5F623-C277-40D7-BEE9-791995819BD9}"/>
              </a:ext>
            </a:extLst>
          </p:cNvPr>
          <p:cNvSpPr/>
          <p:nvPr/>
        </p:nvSpPr>
        <p:spPr>
          <a:xfrm>
            <a:off x="7427235" y="40650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5" name="Diagrama de flujo: extraer 37">
            <a:extLst>
              <a:ext uri="{FF2B5EF4-FFF2-40B4-BE49-F238E27FC236}">
                <a16:creationId xmlns:a16="http://schemas.microsoft.com/office/drawing/2014/main" id="{AC635948-1A02-4269-9BA6-9345AEA4E303}"/>
              </a:ext>
            </a:extLst>
          </p:cNvPr>
          <p:cNvSpPr/>
          <p:nvPr/>
        </p:nvSpPr>
        <p:spPr>
          <a:xfrm>
            <a:off x="5706435" y="2769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6" name="Diagrama de flujo: extraer 38">
            <a:extLst>
              <a:ext uri="{FF2B5EF4-FFF2-40B4-BE49-F238E27FC236}">
                <a16:creationId xmlns:a16="http://schemas.microsoft.com/office/drawing/2014/main" id="{87230CFD-6AA9-42CA-A547-DA3C2418F815}"/>
              </a:ext>
            </a:extLst>
          </p:cNvPr>
          <p:cNvSpPr/>
          <p:nvPr/>
        </p:nvSpPr>
        <p:spPr>
          <a:xfrm>
            <a:off x="6512835" y="4185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7" name="Diagrama de flujo: conector 39">
            <a:extLst>
              <a:ext uri="{FF2B5EF4-FFF2-40B4-BE49-F238E27FC236}">
                <a16:creationId xmlns:a16="http://schemas.microsoft.com/office/drawing/2014/main" id="{887E5A87-08C6-4397-B4BE-82E233C347C9}"/>
              </a:ext>
            </a:extLst>
          </p:cNvPr>
          <p:cNvSpPr/>
          <p:nvPr/>
        </p:nvSpPr>
        <p:spPr>
          <a:xfrm flipV="1">
            <a:off x="8341635" y="26172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Diagrama de flujo: conector 40">
            <a:extLst>
              <a:ext uri="{FF2B5EF4-FFF2-40B4-BE49-F238E27FC236}">
                <a16:creationId xmlns:a16="http://schemas.microsoft.com/office/drawing/2014/main" id="{9C9897EF-82B8-4D5F-9C67-66AC7AF86D8B}"/>
              </a:ext>
            </a:extLst>
          </p:cNvPr>
          <p:cNvSpPr/>
          <p:nvPr/>
        </p:nvSpPr>
        <p:spPr>
          <a:xfrm flipV="1">
            <a:off x="6620835" y="1702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9" name="Diagrama de flujo: extraer 44">
            <a:extLst>
              <a:ext uri="{FF2B5EF4-FFF2-40B4-BE49-F238E27FC236}">
                <a16:creationId xmlns:a16="http://schemas.microsoft.com/office/drawing/2014/main" id="{4BE78A49-AFCE-4B34-8B93-21B2DAD2ED16}"/>
              </a:ext>
            </a:extLst>
          </p:cNvPr>
          <p:cNvSpPr/>
          <p:nvPr/>
        </p:nvSpPr>
        <p:spPr>
          <a:xfrm>
            <a:off x="7217064" y="305438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0" name="Diagrama de flujo: conector 45">
            <a:extLst>
              <a:ext uri="{FF2B5EF4-FFF2-40B4-BE49-F238E27FC236}">
                <a16:creationId xmlns:a16="http://schemas.microsoft.com/office/drawing/2014/main" id="{904DE9EC-37D0-43D4-887B-2CB0C9BBA8EE}"/>
              </a:ext>
            </a:extLst>
          </p:cNvPr>
          <p:cNvSpPr/>
          <p:nvPr/>
        </p:nvSpPr>
        <p:spPr>
          <a:xfrm>
            <a:off x="5611996" y="2532027"/>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1" name="CuadroTexto 52">
            <a:extLst>
              <a:ext uri="{FF2B5EF4-FFF2-40B4-BE49-F238E27FC236}">
                <a16:creationId xmlns:a16="http://schemas.microsoft.com/office/drawing/2014/main" id="{49DAF727-73A0-4C65-ABED-47494D747C96}"/>
              </a:ext>
            </a:extLst>
          </p:cNvPr>
          <p:cNvSpPr txBox="1"/>
          <p:nvPr/>
        </p:nvSpPr>
        <p:spPr>
          <a:xfrm>
            <a:off x="5197555" y="4486870"/>
            <a:ext cx="1828800" cy="923330"/>
          </a:xfrm>
          <a:prstGeom prst="rect">
            <a:avLst/>
          </a:prstGeom>
          <a:noFill/>
        </p:spPr>
        <p:txBody>
          <a:bodyPr wrap="square" rtlCol="0">
            <a:spAutoFit/>
          </a:bodyPr>
          <a:lstStyle/>
          <a:p>
            <a:pPr algn="ctr"/>
            <a:r>
              <a:rPr lang="es-ES" b="1" dirty="0" err="1">
                <a:solidFill>
                  <a:srgbClr val="FF0000"/>
                </a:solidFill>
              </a:rPr>
              <a:t>Convex</a:t>
            </a:r>
            <a:r>
              <a:rPr lang="es-ES" b="1" dirty="0">
                <a:solidFill>
                  <a:srgbClr val="FF0000"/>
                </a:solidFill>
              </a:rPr>
              <a:t> </a:t>
            </a:r>
            <a:r>
              <a:rPr lang="es-ES" b="1" dirty="0" err="1">
                <a:solidFill>
                  <a:srgbClr val="FF0000"/>
                </a:solidFill>
              </a:rPr>
              <a:t>optimization</a:t>
            </a:r>
            <a:r>
              <a:rPr lang="es-ES" b="1" dirty="0">
                <a:solidFill>
                  <a:srgbClr val="FF0000"/>
                </a:solidFill>
              </a:rPr>
              <a:t> </a:t>
            </a:r>
            <a:r>
              <a:rPr lang="es-ES" b="1" dirty="0" err="1">
                <a:solidFill>
                  <a:srgbClr val="FF0000"/>
                </a:solidFill>
              </a:rPr>
              <a:t>problem</a:t>
            </a:r>
            <a:endParaRPr lang="es-ES_tradnl" b="1" dirty="0">
              <a:solidFill>
                <a:srgbClr val="FF0000"/>
              </a:solidFill>
            </a:endParaRPr>
          </a:p>
        </p:txBody>
      </p:sp>
    </p:spTree>
    <p:extLst>
      <p:ext uri="{BB962C8B-B14F-4D97-AF65-F5344CB8AC3E}">
        <p14:creationId xmlns:p14="http://schemas.microsoft.com/office/powerpoint/2010/main" val="22504043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375166"/>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838200" y="2871006"/>
                <a:ext cx="4616973" cy="67986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sz="2000" i="1" smtClean="0">
                              <a:latin typeface="Cambria Math" panose="02040503050406030204" pitchFamily="18" charset="0"/>
                              <a:ea typeface="Cambria Math" panose="02040503050406030204" pitchFamily="18" charset="0"/>
                            </a:rPr>
                          </m:ctrlPr>
                        </m:fPr>
                        <m:num>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num>
                        <m:den>
                          <m:d>
                            <m:dPr>
                              <m:begChr m:val="‖"/>
                              <m:endChr m:val="‖"/>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𝛽</m:t>
                              </m:r>
                            </m:e>
                          </m:d>
                        </m:den>
                      </m:f>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𝑀</m:t>
                      </m:r>
                      <m:r>
                        <a:rPr lang="es-ES" sz="2000" b="0" i="1" smtClean="0">
                          <a:latin typeface="Cambria Math" panose="02040503050406030204" pitchFamily="18" charset="0"/>
                          <a:ea typeface="Cambria Math" panose="02040503050406030204" pitchFamily="18" charset="0"/>
                        </a:rPr>
                        <m:t>(1− </m:t>
                      </m:r>
                      <m:sSub>
                        <m:sSubPr>
                          <m:ctrlPr>
                            <a:rPr lang="es-ES" sz="2000" b="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𝜀</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838200" y="2871006"/>
                <a:ext cx="4616973" cy="679866"/>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40D91A5B-941A-4A31-9FA0-4836192B5C00}"/>
                  </a:ext>
                </a:extLst>
              </p:cNvPr>
              <p:cNvSpPr/>
              <p:nvPr/>
            </p:nvSpPr>
            <p:spPr>
              <a:xfrm>
                <a:off x="489467" y="1752600"/>
                <a:ext cx="3016314" cy="40011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𝑚𝑎𝑥</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𝑀</m:t>
                      </m:r>
                    </m:oMath>
                  </m:oMathPara>
                </a14:m>
                <a:endParaRPr lang="es-ES_tradnl" sz="2000" b="0" dirty="0"/>
              </a:p>
            </p:txBody>
          </p:sp>
        </mc:Choice>
        <mc:Fallback xmlns="">
          <p:sp>
            <p:nvSpPr>
              <p:cNvPr id="49" name="Rectángulo 48">
                <a:extLst>
                  <a:ext uri="{FF2B5EF4-FFF2-40B4-BE49-F238E27FC236}">
                    <a16:creationId xmlns:a16="http://schemas.microsoft.com/office/drawing/2014/main" id="{40D91A5B-941A-4A31-9FA0-4836192B5C00}"/>
                  </a:ext>
                </a:extLst>
              </p:cNvPr>
              <p:cNvSpPr>
                <a:spLocks noRot="1" noChangeAspect="1" noMove="1" noResize="1" noEditPoints="1" noAdjustHandles="1" noChangeArrowheads="1" noChangeShapeType="1" noTextEdit="1"/>
              </p:cNvSpPr>
              <p:nvPr/>
            </p:nvSpPr>
            <p:spPr>
              <a:xfrm>
                <a:off x="489467" y="1752600"/>
                <a:ext cx="3016314" cy="400110"/>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B9B80CBD-9A1B-4F75-A4DE-7A3CE8EEB054}"/>
                  </a:ext>
                </a:extLst>
              </p:cNvPr>
              <p:cNvSpPr txBox="1"/>
              <p:nvPr/>
            </p:nvSpPr>
            <p:spPr>
              <a:xfrm>
                <a:off x="609600" y="4495800"/>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42" name="CuadroTexto 41">
                <a:extLst>
                  <a:ext uri="{FF2B5EF4-FFF2-40B4-BE49-F238E27FC236}">
                    <a16:creationId xmlns:a16="http://schemas.microsoft.com/office/drawing/2014/main" id="{B9B80CBD-9A1B-4F75-A4DE-7A3CE8EEB054}"/>
                  </a:ext>
                </a:extLst>
              </p:cNvPr>
              <p:cNvSpPr txBox="1">
                <a:spLocks noRot="1" noChangeAspect="1" noMove="1" noResize="1" noEditPoints="1" noAdjustHandles="1" noChangeArrowheads="1" noChangeShapeType="1" noTextEdit="1"/>
              </p:cNvSpPr>
              <p:nvPr/>
            </p:nvSpPr>
            <p:spPr>
              <a:xfrm>
                <a:off x="609600" y="4495800"/>
                <a:ext cx="2590800" cy="1477328"/>
              </a:xfrm>
              <a:prstGeom prst="rect">
                <a:avLst/>
              </a:prstGeom>
              <a:blipFill>
                <a:blip r:embed="rId5"/>
                <a:stretch>
                  <a:fillRect l="-1882" t="-3306"/>
                </a:stretch>
              </a:blipFill>
            </p:spPr>
            <p:txBody>
              <a:bodyPr/>
              <a:lstStyle/>
              <a:p>
                <a:r>
                  <a:rPr lang="es-ES_tradnl">
                    <a:noFill/>
                  </a:rPr>
                  <a:t> </a:t>
                </a:r>
              </a:p>
            </p:txBody>
          </p:sp>
        </mc:Fallback>
      </mc:AlternateContent>
      <p:sp>
        <p:nvSpPr>
          <p:cNvPr id="2" name="CuadroTexto 1">
            <a:extLst>
              <a:ext uri="{FF2B5EF4-FFF2-40B4-BE49-F238E27FC236}">
                <a16:creationId xmlns:a16="http://schemas.microsoft.com/office/drawing/2014/main" id="{E541F801-C147-4B16-8CAA-DB94A6AFC2A9}"/>
              </a:ext>
            </a:extLst>
          </p:cNvPr>
          <p:cNvSpPr txBox="1"/>
          <p:nvPr/>
        </p:nvSpPr>
        <p:spPr>
          <a:xfrm>
            <a:off x="3352800" y="4876801"/>
            <a:ext cx="1828800" cy="923330"/>
          </a:xfrm>
          <a:prstGeom prst="rect">
            <a:avLst/>
          </a:prstGeom>
          <a:noFill/>
        </p:spPr>
        <p:txBody>
          <a:bodyPr wrap="square" rtlCol="0">
            <a:spAutoFit/>
          </a:bodyPr>
          <a:lstStyle/>
          <a:p>
            <a:pPr algn="ctr"/>
            <a:r>
              <a:rPr lang="es-ES" dirty="0"/>
              <a:t>Non-</a:t>
            </a:r>
            <a:r>
              <a:rPr lang="es-ES" dirty="0" err="1"/>
              <a:t>convex</a:t>
            </a:r>
            <a:r>
              <a:rPr lang="es-ES" dirty="0"/>
              <a:t> </a:t>
            </a:r>
            <a:r>
              <a:rPr lang="es-ES" dirty="0" err="1"/>
              <a:t>optimization</a:t>
            </a:r>
            <a:r>
              <a:rPr lang="es-ES" dirty="0"/>
              <a:t> </a:t>
            </a:r>
            <a:r>
              <a:rPr lang="es-ES" dirty="0" err="1"/>
              <a:t>problem</a:t>
            </a:r>
            <a:endParaRPr lang="es-ES_tradnl" dirty="0"/>
          </a:p>
        </p:txBody>
      </p:sp>
      <mc:AlternateContent xmlns:mc="http://schemas.openxmlformats.org/markup-compatibility/2006" xmlns:a14="http://schemas.microsoft.com/office/drawing/2010/main">
        <mc:Choice Requires="a14">
          <p:sp>
            <p:nvSpPr>
              <p:cNvPr id="47" name="Rectángulo 46">
                <a:extLst>
                  <a:ext uri="{FF2B5EF4-FFF2-40B4-BE49-F238E27FC236}">
                    <a16:creationId xmlns:a16="http://schemas.microsoft.com/office/drawing/2014/main" id="{59D4680E-726E-492D-9F64-328D6E7E4CDD}"/>
                  </a:ext>
                </a:extLst>
              </p:cNvPr>
              <p:cNvSpPr/>
              <p:nvPr/>
            </p:nvSpPr>
            <p:spPr>
              <a:xfrm>
                <a:off x="762000" y="3745468"/>
                <a:ext cx="2254335" cy="400110"/>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s-ES" sz="2000" dirty="0">
                    <a:ea typeface="Cambria Math" panose="02040503050406030204" pitchFamily="18" charset="0"/>
                  </a:rPr>
                  <a:t> </a:t>
                </a:r>
                <a14:m>
                  <m:oMath xmlns:m="http://schemas.openxmlformats.org/officeDocument/2006/math">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47" name="Rectángulo 46">
                <a:extLst>
                  <a:ext uri="{FF2B5EF4-FFF2-40B4-BE49-F238E27FC236}">
                    <a16:creationId xmlns:a16="http://schemas.microsoft.com/office/drawing/2014/main" id="{59D4680E-726E-492D-9F64-328D6E7E4CDD}"/>
                  </a:ext>
                </a:extLst>
              </p:cNvPr>
              <p:cNvSpPr>
                <a:spLocks noRot="1" noChangeAspect="1" noMove="1" noResize="1" noEditPoints="1" noAdjustHandles="1" noChangeArrowheads="1" noChangeShapeType="1" noTextEdit="1"/>
              </p:cNvSpPr>
              <p:nvPr/>
            </p:nvSpPr>
            <p:spPr>
              <a:xfrm>
                <a:off x="762000" y="3745468"/>
                <a:ext cx="2254335" cy="400110"/>
              </a:xfrm>
              <a:prstGeom prst="rect">
                <a:avLst/>
              </a:prstGeom>
              <a:blipFill>
                <a:blip r:embed="rId9"/>
                <a:stretch>
                  <a:fillRect b="-1515"/>
                </a:stretch>
              </a:blipFill>
            </p:spPr>
            <p:txBody>
              <a:bodyPr/>
              <a:lstStyle/>
              <a:p>
                <a:r>
                  <a:rPr lang="es-ES_tradnl">
                    <a:noFill/>
                  </a:rPr>
                  <a:t> </a:t>
                </a:r>
              </a:p>
            </p:txBody>
          </p:sp>
        </mc:Fallback>
      </mc:AlternateContent>
      <p:cxnSp>
        <p:nvCxnSpPr>
          <p:cNvPr id="48" name="Conector recto de flecha 20">
            <a:extLst>
              <a:ext uri="{FF2B5EF4-FFF2-40B4-BE49-F238E27FC236}">
                <a16:creationId xmlns:a16="http://schemas.microsoft.com/office/drawing/2014/main" id="{0F25035B-6F7B-4DFD-AE78-79330D15389C}"/>
              </a:ext>
            </a:extLst>
          </p:cNvPr>
          <p:cNvCxnSpPr/>
          <p:nvPr/>
        </p:nvCxnSpPr>
        <p:spPr>
          <a:xfrm>
            <a:off x="6087435" y="18411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Conector recto de flecha 21">
            <a:extLst>
              <a:ext uri="{FF2B5EF4-FFF2-40B4-BE49-F238E27FC236}">
                <a16:creationId xmlns:a16="http://schemas.microsoft.com/office/drawing/2014/main" id="{0B917F06-1653-4628-9F8E-97169FFAC96F}"/>
              </a:ext>
            </a:extLst>
          </p:cNvPr>
          <p:cNvCxnSpPr/>
          <p:nvPr/>
        </p:nvCxnSpPr>
        <p:spPr>
          <a:xfrm>
            <a:off x="6087435" y="39405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22">
            <a:extLst>
              <a:ext uri="{FF2B5EF4-FFF2-40B4-BE49-F238E27FC236}">
                <a16:creationId xmlns:a16="http://schemas.microsoft.com/office/drawing/2014/main" id="{F04D6287-CC7F-4B1C-9FD2-677060A67726}"/>
              </a:ext>
            </a:extLst>
          </p:cNvPr>
          <p:cNvCxnSpPr>
            <a:cxnSpLocks/>
          </p:cNvCxnSpPr>
          <p:nvPr/>
        </p:nvCxnSpPr>
        <p:spPr>
          <a:xfrm>
            <a:off x="5554035" y="21879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CuadroTexto 23">
                <a:extLst>
                  <a:ext uri="{FF2B5EF4-FFF2-40B4-BE49-F238E27FC236}">
                    <a16:creationId xmlns:a16="http://schemas.microsoft.com/office/drawing/2014/main" id="{4B669ED2-0162-4BDF-956B-9BB2111FEF3B}"/>
                  </a:ext>
                </a:extLst>
              </p:cNvPr>
              <p:cNvSpPr txBox="1"/>
              <p:nvPr/>
            </p:nvSpPr>
            <p:spPr>
              <a:xfrm>
                <a:off x="7437264" y="31740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52" name="CuadroTexto 23">
                <a:extLst>
                  <a:ext uri="{FF2B5EF4-FFF2-40B4-BE49-F238E27FC236}">
                    <a16:creationId xmlns:a16="http://schemas.microsoft.com/office/drawing/2014/main" id="{4B669ED2-0162-4BDF-956B-9BB2111FEF3B}"/>
                  </a:ext>
                </a:extLst>
              </p:cNvPr>
              <p:cNvSpPr txBox="1">
                <a:spLocks noRot="1" noChangeAspect="1" noMove="1" noResize="1" noEditPoints="1" noAdjustHandles="1" noChangeArrowheads="1" noChangeShapeType="1" noTextEdit="1"/>
              </p:cNvSpPr>
              <p:nvPr/>
            </p:nvSpPr>
            <p:spPr>
              <a:xfrm>
                <a:off x="7437264" y="3174078"/>
                <a:ext cx="1554336" cy="276999"/>
              </a:xfrm>
              <a:prstGeom prst="rect">
                <a:avLst/>
              </a:prstGeom>
              <a:blipFill>
                <a:blip r:embed="rId3"/>
                <a:stretch>
                  <a:fillRect l="-4706" t="-4444" r="-3529" b="-35556"/>
                </a:stretch>
              </a:blipFill>
            </p:spPr>
            <p:txBody>
              <a:bodyPr/>
              <a:lstStyle/>
              <a:p>
                <a:r>
                  <a:rPr lang="es-ES">
                    <a:noFill/>
                  </a:rPr>
                  <a:t> </a:t>
                </a:r>
              </a:p>
            </p:txBody>
          </p:sp>
        </mc:Fallback>
      </mc:AlternateContent>
      <p:cxnSp>
        <p:nvCxnSpPr>
          <p:cNvPr id="53" name="Conector recto 24">
            <a:extLst>
              <a:ext uri="{FF2B5EF4-FFF2-40B4-BE49-F238E27FC236}">
                <a16:creationId xmlns:a16="http://schemas.microsoft.com/office/drawing/2014/main" id="{56FE24E6-6A8A-4EA7-9BC2-F18B5B87200F}"/>
              </a:ext>
            </a:extLst>
          </p:cNvPr>
          <p:cNvCxnSpPr>
            <a:cxnSpLocks/>
          </p:cNvCxnSpPr>
          <p:nvPr/>
        </p:nvCxnSpPr>
        <p:spPr>
          <a:xfrm>
            <a:off x="5870170" y="18839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4" name="Conector recto 25">
            <a:extLst>
              <a:ext uri="{FF2B5EF4-FFF2-40B4-BE49-F238E27FC236}">
                <a16:creationId xmlns:a16="http://schemas.microsoft.com/office/drawing/2014/main" id="{1C83FEA3-18E6-4F30-AFF1-29A68B637891}"/>
              </a:ext>
            </a:extLst>
          </p:cNvPr>
          <p:cNvCxnSpPr>
            <a:cxnSpLocks/>
          </p:cNvCxnSpPr>
          <p:nvPr/>
        </p:nvCxnSpPr>
        <p:spPr>
          <a:xfrm>
            <a:off x="5412970" y="25938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5" name="Conector recto 26">
            <a:extLst>
              <a:ext uri="{FF2B5EF4-FFF2-40B4-BE49-F238E27FC236}">
                <a16:creationId xmlns:a16="http://schemas.microsoft.com/office/drawing/2014/main" id="{9164E11C-0E4E-4703-9AF8-74242592D3FF}"/>
              </a:ext>
            </a:extLst>
          </p:cNvPr>
          <p:cNvCxnSpPr>
            <a:cxnSpLocks/>
          </p:cNvCxnSpPr>
          <p:nvPr/>
        </p:nvCxnSpPr>
        <p:spPr>
          <a:xfrm flipV="1">
            <a:off x="6544635" y="25845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Rectángulo 27">
                <a:extLst>
                  <a:ext uri="{FF2B5EF4-FFF2-40B4-BE49-F238E27FC236}">
                    <a16:creationId xmlns:a16="http://schemas.microsoft.com/office/drawing/2014/main" id="{4E72B90D-397F-4FC0-800E-22BF813641DC}"/>
                  </a:ext>
                </a:extLst>
              </p:cNvPr>
              <p:cNvSpPr/>
              <p:nvPr/>
            </p:nvSpPr>
            <p:spPr>
              <a:xfrm>
                <a:off x="6332858" y="24765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6" name="Rectángulo 27">
                <a:extLst>
                  <a:ext uri="{FF2B5EF4-FFF2-40B4-BE49-F238E27FC236}">
                    <a16:creationId xmlns:a16="http://schemas.microsoft.com/office/drawing/2014/main" id="{4E72B90D-397F-4FC0-800E-22BF813641DC}"/>
                  </a:ext>
                </a:extLst>
              </p:cNvPr>
              <p:cNvSpPr>
                <a:spLocks noRot="1" noChangeAspect="1" noMove="1" noResize="1" noEditPoints="1" noAdjustHandles="1" noChangeArrowheads="1" noChangeShapeType="1" noTextEdit="1"/>
              </p:cNvSpPr>
              <p:nvPr/>
            </p:nvSpPr>
            <p:spPr>
              <a:xfrm>
                <a:off x="6332858" y="2476500"/>
                <a:ext cx="410882" cy="338554"/>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Rectángulo 28">
                <a:extLst>
                  <a:ext uri="{FF2B5EF4-FFF2-40B4-BE49-F238E27FC236}">
                    <a16:creationId xmlns:a16="http://schemas.microsoft.com/office/drawing/2014/main" id="{AD38FEE3-D755-484D-8F6D-0F1F1F5AC3F1}"/>
                  </a:ext>
                </a:extLst>
              </p:cNvPr>
              <p:cNvSpPr/>
              <p:nvPr/>
            </p:nvSpPr>
            <p:spPr>
              <a:xfrm>
                <a:off x="6514753" y="31168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7" name="Rectángulo 28">
                <a:extLst>
                  <a:ext uri="{FF2B5EF4-FFF2-40B4-BE49-F238E27FC236}">
                    <a16:creationId xmlns:a16="http://schemas.microsoft.com/office/drawing/2014/main" id="{AD38FEE3-D755-484D-8F6D-0F1F1F5AC3F1}"/>
                  </a:ext>
                </a:extLst>
              </p:cNvPr>
              <p:cNvSpPr>
                <a:spLocks noRot="1" noChangeAspect="1" noMove="1" noResize="1" noEditPoints="1" noAdjustHandles="1" noChangeArrowheads="1" noChangeShapeType="1" noTextEdit="1"/>
              </p:cNvSpPr>
              <p:nvPr/>
            </p:nvSpPr>
            <p:spPr>
              <a:xfrm>
                <a:off x="6514753" y="3116878"/>
                <a:ext cx="410882" cy="338554"/>
              </a:xfrm>
              <a:prstGeom prst="rect">
                <a:avLst/>
              </a:prstGeom>
              <a:blipFill>
                <a:blip r:embed="rId5"/>
                <a:stretch>
                  <a:fillRect/>
                </a:stretch>
              </a:blipFill>
            </p:spPr>
            <p:txBody>
              <a:bodyPr/>
              <a:lstStyle/>
              <a:p>
                <a:r>
                  <a:rPr lang="es-ES">
                    <a:noFill/>
                  </a:rPr>
                  <a:t> </a:t>
                </a:r>
              </a:p>
            </p:txBody>
          </p:sp>
        </mc:Fallback>
      </mc:AlternateContent>
      <p:cxnSp>
        <p:nvCxnSpPr>
          <p:cNvPr id="58" name="Conector recto 29">
            <a:extLst>
              <a:ext uri="{FF2B5EF4-FFF2-40B4-BE49-F238E27FC236}">
                <a16:creationId xmlns:a16="http://schemas.microsoft.com/office/drawing/2014/main" id="{4B63E9B9-7A00-43B2-A349-CC56E67ADD04}"/>
              </a:ext>
            </a:extLst>
          </p:cNvPr>
          <p:cNvCxnSpPr>
            <a:cxnSpLocks/>
          </p:cNvCxnSpPr>
          <p:nvPr/>
        </p:nvCxnSpPr>
        <p:spPr>
          <a:xfrm flipV="1">
            <a:off x="6735846" y="32342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9" name="Diagrama de flujo: conector 30">
            <a:extLst>
              <a:ext uri="{FF2B5EF4-FFF2-40B4-BE49-F238E27FC236}">
                <a16:creationId xmlns:a16="http://schemas.microsoft.com/office/drawing/2014/main" id="{D33C23D3-B22B-4EF3-AE58-AA78728B94E8}"/>
              </a:ext>
            </a:extLst>
          </p:cNvPr>
          <p:cNvSpPr/>
          <p:nvPr/>
        </p:nvSpPr>
        <p:spPr>
          <a:xfrm flipV="1">
            <a:off x="7021640" y="21015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0" name="Diagrama de flujo: conector 31">
            <a:extLst>
              <a:ext uri="{FF2B5EF4-FFF2-40B4-BE49-F238E27FC236}">
                <a16:creationId xmlns:a16="http://schemas.microsoft.com/office/drawing/2014/main" id="{F208D5EF-7E38-4FD4-ABBF-8F17FD7E0B68}"/>
              </a:ext>
            </a:extLst>
          </p:cNvPr>
          <p:cNvSpPr/>
          <p:nvPr/>
        </p:nvSpPr>
        <p:spPr>
          <a:xfrm>
            <a:off x="7535235" y="2541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Diagrama de flujo: conector 32">
            <a:extLst>
              <a:ext uri="{FF2B5EF4-FFF2-40B4-BE49-F238E27FC236}">
                <a16:creationId xmlns:a16="http://schemas.microsoft.com/office/drawing/2014/main" id="{A0FCDC01-DFE6-4F1D-91F3-B64DC6F4F7F1}"/>
              </a:ext>
            </a:extLst>
          </p:cNvPr>
          <p:cNvSpPr/>
          <p:nvPr/>
        </p:nvSpPr>
        <p:spPr>
          <a:xfrm flipV="1">
            <a:off x="76114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Diagrama de flujo: conector 33">
            <a:extLst>
              <a:ext uri="{FF2B5EF4-FFF2-40B4-BE49-F238E27FC236}">
                <a16:creationId xmlns:a16="http://schemas.microsoft.com/office/drawing/2014/main" id="{23CBC3EF-E029-462D-BFA7-86512667F9C9}"/>
              </a:ext>
            </a:extLst>
          </p:cNvPr>
          <p:cNvSpPr/>
          <p:nvPr/>
        </p:nvSpPr>
        <p:spPr>
          <a:xfrm flipV="1">
            <a:off x="7611435" y="3118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3" name="Diagrama de flujo: extraer 34">
            <a:extLst>
              <a:ext uri="{FF2B5EF4-FFF2-40B4-BE49-F238E27FC236}">
                <a16:creationId xmlns:a16="http://schemas.microsoft.com/office/drawing/2014/main" id="{D14EADF0-0CD6-42FC-A2AD-0250E9C57C2E}"/>
              </a:ext>
            </a:extLst>
          </p:cNvPr>
          <p:cNvSpPr/>
          <p:nvPr/>
        </p:nvSpPr>
        <p:spPr>
          <a:xfrm>
            <a:off x="5782635" y="3558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Diagrama de flujo: extraer 35">
            <a:extLst>
              <a:ext uri="{FF2B5EF4-FFF2-40B4-BE49-F238E27FC236}">
                <a16:creationId xmlns:a16="http://schemas.microsoft.com/office/drawing/2014/main" id="{1F414428-D94A-474B-8B7A-6E7E4525A8EE}"/>
              </a:ext>
            </a:extLst>
          </p:cNvPr>
          <p:cNvSpPr/>
          <p:nvPr/>
        </p:nvSpPr>
        <p:spPr>
          <a:xfrm>
            <a:off x="6589035" y="37106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5" name="Diagrama de flujo: extraer 36">
            <a:extLst>
              <a:ext uri="{FF2B5EF4-FFF2-40B4-BE49-F238E27FC236}">
                <a16:creationId xmlns:a16="http://schemas.microsoft.com/office/drawing/2014/main" id="{59D83108-C682-4FF8-9737-6BE95712998E}"/>
              </a:ext>
            </a:extLst>
          </p:cNvPr>
          <p:cNvSpPr/>
          <p:nvPr/>
        </p:nvSpPr>
        <p:spPr>
          <a:xfrm>
            <a:off x="7427235" y="40650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6" name="Diagrama de flujo: extraer 37">
            <a:extLst>
              <a:ext uri="{FF2B5EF4-FFF2-40B4-BE49-F238E27FC236}">
                <a16:creationId xmlns:a16="http://schemas.microsoft.com/office/drawing/2014/main" id="{46A7E615-F8F9-401A-B2B5-9D5D905CB00E}"/>
              </a:ext>
            </a:extLst>
          </p:cNvPr>
          <p:cNvSpPr/>
          <p:nvPr/>
        </p:nvSpPr>
        <p:spPr>
          <a:xfrm>
            <a:off x="5706435" y="2769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7" name="Diagrama de flujo: extraer 38">
            <a:extLst>
              <a:ext uri="{FF2B5EF4-FFF2-40B4-BE49-F238E27FC236}">
                <a16:creationId xmlns:a16="http://schemas.microsoft.com/office/drawing/2014/main" id="{0A198A8A-0FC7-4D74-A446-F9CBE7323F64}"/>
              </a:ext>
            </a:extLst>
          </p:cNvPr>
          <p:cNvSpPr/>
          <p:nvPr/>
        </p:nvSpPr>
        <p:spPr>
          <a:xfrm>
            <a:off x="6512835" y="4185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Diagrama de flujo: conector 39">
            <a:extLst>
              <a:ext uri="{FF2B5EF4-FFF2-40B4-BE49-F238E27FC236}">
                <a16:creationId xmlns:a16="http://schemas.microsoft.com/office/drawing/2014/main" id="{E9E76062-922C-4434-8297-4B62534F3FBC}"/>
              </a:ext>
            </a:extLst>
          </p:cNvPr>
          <p:cNvSpPr/>
          <p:nvPr/>
        </p:nvSpPr>
        <p:spPr>
          <a:xfrm flipV="1">
            <a:off x="8341635" y="26172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9" name="Diagrama de flujo: conector 40">
            <a:extLst>
              <a:ext uri="{FF2B5EF4-FFF2-40B4-BE49-F238E27FC236}">
                <a16:creationId xmlns:a16="http://schemas.microsoft.com/office/drawing/2014/main" id="{4041A2F1-5966-47A5-9C37-C4540CF19BA3}"/>
              </a:ext>
            </a:extLst>
          </p:cNvPr>
          <p:cNvSpPr/>
          <p:nvPr/>
        </p:nvSpPr>
        <p:spPr>
          <a:xfrm flipV="1">
            <a:off x="6620835" y="1702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0" name="Diagrama de flujo: extraer 44">
            <a:extLst>
              <a:ext uri="{FF2B5EF4-FFF2-40B4-BE49-F238E27FC236}">
                <a16:creationId xmlns:a16="http://schemas.microsoft.com/office/drawing/2014/main" id="{2B898379-47A7-4E8D-85F1-193B4021C087}"/>
              </a:ext>
            </a:extLst>
          </p:cNvPr>
          <p:cNvSpPr/>
          <p:nvPr/>
        </p:nvSpPr>
        <p:spPr>
          <a:xfrm>
            <a:off x="7211616" y="3068240"/>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1" name="Diagrama de flujo: conector 45">
            <a:extLst>
              <a:ext uri="{FF2B5EF4-FFF2-40B4-BE49-F238E27FC236}">
                <a16:creationId xmlns:a16="http://schemas.microsoft.com/office/drawing/2014/main" id="{6E7E156C-4279-459D-8875-783E421C9303}"/>
              </a:ext>
            </a:extLst>
          </p:cNvPr>
          <p:cNvSpPr/>
          <p:nvPr/>
        </p:nvSpPr>
        <p:spPr>
          <a:xfrm>
            <a:off x="5611996" y="2532027"/>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73" name="Conector recto 54">
            <a:extLst>
              <a:ext uri="{FF2B5EF4-FFF2-40B4-BE49-F238E27FC236}">
                <a16:creationId xmlns:a16="http://schemas.microsoft.com/office/drawing/2014/main" id="{4AB44D6E-7A75-4EB5-AD84-1AB5B8FFB10C}"/>
              </a:ext>
            </a:extLst>
          </p:cNvPr>
          <p:cNvCxnSpPr>
            <a:cxnSpLocks/>
          </p:cNvCxnSpPr>
          <p:nvPr/>
        </p:nvCxnSpPr>
        <p:spPr>
          <a:xfrm flipV="1">
            <a:off x="6910944" y="3203964"/>
            <a:ext cx="381907" cy="506664"/>
          </a:xfrm>
          <a:prstGeom prst="line">
            <a:avLst/>
          </a:prstGeom>
          <a:ln w="254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4" name="Conector recto 56">
            <a:extLst>
              <a:ext uri="{FF2B5EF4-FFF2-40B4-BE49-F238E27FC236}">
                <a16:creationId xmlns:a16="http://schemas.microsoft.com/office/drawing/2014/main" id="{652C6017-CA04-415C-9E21-1DBAE4994BF1}"/>
              </a:ext>
            </a:extLst>
          </p:cNvPr>
          <p:cNvCxnSpPr>
            <a:cxnSpLocks/>
            <a:stCxn id="71" idx="7"/>
          </p:cNvCxnSpPr>
          <p:nvPr/>
        </p:nvCxnSpPr>
        <p:spPr>
          <a:xfrm flipV="1">
            <a:off x="5704180" y="2012105"/>
            <a:ext cx="393881" cy="535738"/>
          </a:xfrm>
          <a:prstGeom prst="line">
            <a:avLst/>
          </a:prstGeom>
          <a:ln w="25400">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Rectángulo 57">
                <a:extLst>
                  <a:ext uri="{FF2B5EF4-FFF2-40B4-BE49-F238E27FC236}">
                    <a16:creationId xmlns:a16="http://schemas.microsoft.com/office/drawing/2014/main" id="{2BC6B071-E084-497E-A62C-0283E738918D}"/>
                  </a:ext>
                </a:extLst>
              </p:cNvPr>
              <p:cNvSpPr/>
              <p:nvPr/>
            </p:nvSpPr>
            <p:spPr>
              <a:xfrm>
                <a:off x="5594190" y="1952319"/>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75" name="Rectángulo 57">
                <a:extLst>
                  <a:ext uri="{FF2B5EF4-FFF2-40B4-BE49-F238E27FC236}">
                    <a16:creationId xmlns:a16="http://schemas.microsoft.com/office/drawing/2014/main" id="{2BC6B071-E084-497E-A62C-0283E738918D}"/>
                  </a:ext>
                </a:extLst>
              </p:cNvPr>
              <p:cNvSpPr>
                <a:spLocks noRot="1" noChangeAspect="1" noMove="1" noResize="1" noEditPoints="1" noAdjustHandles="1" noChangeArrowheads="1" noChangeShapeType="1" noTextEdit="1"/>
              </p:cNvSpPr>
              <p:nvPr/>
            </p:nvSpPr>
            <p:spPr>
              <a:xfrm>
                <a:off x="5594190" y="1952319"/>
                <a:ext cx="387094" cy="338554"/>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6" name="Rectángulo 58">
                <a:extLst>
                  <a:ext uri="{FF2B5EF4-FFF2-40B4-BE49-F238E27FC236}">
                    <a16:creationId xmlns:a16="http://schemas.microsoft.com/office/drawing/2014/main" id="{7DD34D70-4022-4136-BCCD-42F63689720B}"/>
                  </a:ext>
                </a:extLst>
              </p:cNvPr>
              <p:cNvSpPr/>
              <p:nvPr/>
            </p:nvSpPr>
            <p:spPr>
              <a:xfrm>
                <a:off x="7004248" y="3371106"/>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76" name="Rectángulo 58">
                <a:extLst>
                  <a:ext uri="{FF2B5EF4-FFF2-40B4-BE49-F238E27FC236}">
                    <a16:creationId xmlns:a16="http://schemas.microsoft.com/office/drawing/2014/main" id="{7DD34D70-4022-4136-BCCD-42F63689720B}"/>
                  </a:ext>
                </a:extLst>
              </p:cNvPr>
              <p:cNvSpPr>
                <a:spLocks noRot="1" noChangeAspect="1" noMove="1" noResize="1" noEditPoints="1" noAdjustHandles="1" noChangeArrowheads="1" noChangeShapeType="1" noTextEdit="1"/>
              </p:cNvSpPr>
              <p:nvPr/>
            </p:nvSpPr>
            <p:spPr>
              <a:xfrm>
                <a:off x="7004248" y="3371106"/>
                <a:ext cx="387094" cy="338554"/>
              </a:xfrm>
              <a:prstGeom prst="rect">
                <a:avLst/>
              </a:prstGeom>
              <a:blipFill>
                <a:blip r:embed="rId11"/>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75097411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cxnSp>
        <p:nvCxnSpPr>
          <p:cNvPr id="21" name="Conector recto de flecha 20">
            <a:extLst>
              <a:ext uri="{FF2B5EF4-FFF2-40B4-BE49-F238E27FC236}">
                <a16:creationId xmlns:a16="http://schemas.microsoft.com/office/drawing/2014/main" id="{3A9BD5C6-98BC-40A9-8AD8-5A7771A0C985}"/>
              </a:ext>
            </a:extLst>
          </p:cNvPr>
          <p:cNvCxnSpPr/>
          <p:nvPr/>
        </p:nvCxnSpPr>
        <p:spPr>
          <a:xfrm>
            <a:off x="6087435" y="18411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91768FB4-BED8-4AA3-B73D-F2F9DB13A5A7}"/>
              </a:ext>
            </a:extLst>
          </p:cNvPr>
          <p:cNvCxnSpPr/>
          <p:nvPr/>
        </p:nvCxnSpPr>
        <p:spPr>
          <a:xfrm>
            <a:off x="6087435" y="39405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6E5B33D-9C8B-4636-8B72-3598F048F59A}"/>
              </a:ext>
            </a:extLst>
          </p:cNvPr>
          <p:cNvCxnSpPr>
            <a:cxnSpLocks/>
          </p:cNvCxnSpPr>
          <p:nvPr/>
        </p:nvCxnSpPr>
        <p:spPr>
          <a:xfrm>
            <a:off x="5554035" y="21879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8FD418D-4A54-498B-A3B4-DDC8E93E6E9B}"/>
                  </a:ext>
                </a:extLst>
              </p:cNvPr>
              <p:cNvSpPr txBox="1"/>
              <p:nvPr/>
            </p:nvSpPr>
            <p:spPr>
              <a:xfrm>
                <a:off x="7437264" y="31740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24" name="CuadroTexto 23">
                <a:extLst>
                  <a:ext uri="{FF2B5EF4-FFF2-40B4-BE49-F238E27FC236}">
                    <a16:creationId xmlns:a16="http://schemas.microsoft.com/office/drawing/2014/main" id="{08FD418D-4A54-498B-A3B4-DDC8E93E6E9B}"/>
                  </a:ext>
                </a:extLst>
              </p:cNvPr>
              <p:cNvSpPr txBox="1">
                <a:spLocks noRot="1" noChangeAspect="1" noMove="1" noResize="1" noEditPoints="1" noAdjustHandles="1" noChangeArrowheads="1" noChangeShapeType="1" noTextEdit="1"/>
              </p:cNvSpPr>
              <p:nvPr/>
            </p:nvSpPr>
            <p:spPr>
              <a:xfrm>
                <a:off x="7437264" y="3174078"/>
                <a:ext cx="1554336" cy="276999"/>
              </a:xfrm>
              <a:prstGeom prst="rect">
                <a:avLst/>
              </a:prstGeom>
              <a:blipFill>
                <a:blip r:embed="rId3"/>
                <a:stretch>
                  <a:fillRect l="-4706" t="-4444" r="-3529" b="-35556"/>
                </a:stretch>
              </a:blipFill>
            </p:spPr>
            <p:txBody>
              <a:bodyPr/>
              <a:lstStyle/>
              <a:p>
                <a:r>
                  <a:rPr lang="es-ES_tradnl">
                    <a:noFill/>
                  </a:rPr>
                  <a:t> </a:t>
                </a:r>
              </a:p>
            </p:txBody>
          </p:sp>
        </mc:Fallback>
      </mc:AlternateContent>
      <p:cxnSp>
        <p:nvCxnSpPr>
          <p:cNvPr id="25" name="Conector recto 24">
            <a:extLst>
              <a:ext uri="{FF2B5EF4-FFF2-40B4-BE49-F238E27FC236}">
                <a16:creationId xmlns:a16="http://schemas.microsoft.com/office/drawing/2014/main" id="{40C4C0FC-CD02-4E25-BD9C-84AB02DD7A86}"/>
              </a:ext>
            </a:extLst>
          </p:cNvPr>
          <p:cNvCxnSpPr>
            <a:cxnSpLocks/>
          </p:cNvCxnSpPr>
          <p:nvPr/>
        </p:nvCxnSpPr>
        <p:spPr>
          <a:xfrm>
            <a:off x="5870170" y="18839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D4FD1243-6BC8-4914-8713-6A62C08BC8BE}"/>
              </a:ext>
            </a:extLst>
          </p:cNvPr>
          <p:cNvCxnSpPr>
            <a:cxnSpLocks/>
          </p:cNvCxnSpPr>
          <p:nvPr/>
        </p:nvCxnSpPr>
        <p:spPr>
          <a:xfrm>
            <a:off x="5412970" y="25938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BCE12996-C994-44E2-9C9B-B5DF42CFF38C}"/>
              </a:ext>
            </a:extLst>
          </p:cNvPr>
          <p:cNvCxnSpPr>
            <a:cxnSpLocks/>
          </p:cNvCxnSpPr>
          <p:nvPr/>
        </p:nvCxnSpPr>
        <p:spPr>
          <a:xfrm flipV="1">
            <a:off x="6544635" y="25845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27">
                <a:extLst>
                  <a:ext uri="{FF2B5EF4-FFF2-40B4-BE49-F238E27FC236}">
                    <a16:creationId xmlns:a16="http://schemas.microsoft.com/office/drawing/2014/main" id="{F7C7F9D6-665E-4FCC-A371-AE70328A9B10}"/>
                  </a:ext>
                </a:extLst>
              </p:cNvPr>
              <p:cNvSpPr/>
              <p:nvPr/>
            </p:nvSpPr>
            <p:spPr>
              <a:xfrm>
                <a:off x="6332858" y="24765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8" name="Rectángulo 27">
                <a:extLst>
                  <a:ext uri="{FF2B5EF4-FFF2-40B4-BE49-F238E27FC236}">
                    <a16:creationId xmlns:a16="http://schemas.microsoft.com/office/drawing/2014/main" id="{F7C7F9D6-665E-4FCC-A371-AE70328A9B10}"/>
                  </a:ext>
                </a:extLst>
              </p:cNvPr>
              <p:cNvSpPr>
                <a:spLocks noRot="1" noChangeAspect="1" noMove="1" noResize="1" noEditPoints="1" noAdjustHandles="1" noChangeArrowheads="1" noChangeShapeType="1" noTextEdit="1"/>
              </p:cNvSpPr>
              <p:nvPr/>
            </p:nvSpPr>
            <p:spPr>
              <a:xfrm>
                <a:off x="6332858" y="2476500"/>
                <a:ext cx="410882" cy="338554"/>
              </a:xfrm>
              <a:prstGeom prst="rect">
                <a:avLst/>
              </a:prstGeom>
              <a:blipFill>
                <a:blip r:embed="rId4"/>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9" name="Rectángulo 28">
                <a:extLst>
                  <a:ext uri="{FF2B5EF4-FFF2-40B4-BE49-F238E27FC236}">
                    <a16:creationId xmlns:a16="http://schemas.microsoft.com/office/drawing/2014/main" id="{F3E58765-1A6D-499A-82BE-228D2EADE55D}"/>
                  </a:ext>
                </a:extLst>
              </p:cNvPr>
              <p:cNvSpPr/>
              <p:nvPr/>
            </p:nvSpPr>
            <p:spPr>
              <a:xfrm>
                <a:off x="6514753" y="31168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29" name="Rectángulo 28">
                <a:extLst>
                  <a:ext uri="{FF2B5EF4-FFF2-40B4-BE49-F238E27FC236}">
                    <a16:creationId xmlns:a16="http://schemas.microsoft.com/office/drawing/2014/main" id="{F3E58765-1A6D-499A-82BE-228D2EADE55D}"/>
                  </a:ext>
                </a:extLst>
              </p:cNvPr>
              <p:cNvSpPr>
                <a:spLocks noRot="1" noChangeAspect="1" noMove="1" noResize="1" noEditPoints="1" noAdjustHandles="1" noChangeArrowheads="1" noChangeShapeType="1" noTextEdit="1"/>
              </p:cNvSpPr>
              <p:nvPr/>
            </p:nvSpPr>
            <p:spPr>
              <a:xfrm>
                <a:off x="6514753" y="3116878"/>
                <a:ext cx="410882" cy="338554"/>
              </a:xfrm>
              <a:prstGeom prst="rect">
                <a:avLst/>
              </a:prstGeom>
              <a:blipFill>
                <a:blip r:embed="rId5"/>
                <a:stretch>
                  <a:fillRect/>
                </a:stretch>
              </a:blipFill>
            </p:spPr>
            <p:txBody>
              <a:bodyPr/>
              <a:lstStyle/>
              <a:p>
                <a:r>
                  <a:rPr lang="es-ES_tradnl">
                    <a:noFill/>
                  </a:rPr>
                  <a:t> </a:t>
                </a:r>
              </a:p>
            </p:txBody>
          </p:sp>
        </mc:Fallback>
      </mc:AlternateContent>
      <p:cxnSp>
        <p:nvCxnSpPr>
          <p:cNvPr id="30" name="Conector recto 29">
            <a:extLst>
              <a:ext uri="{FF2B5EF4-FFF2-40B4-BE49-F238E27FC236}">
                <a16:creationId xmlns:a16="http://schemas.microsoft.com/office/drawing/2014/main" id="{A856E3D0-34DA-43B3-A5CD-153698CB6863}"/>
              </a:ext>
            </a:extLst>
          </p:cNvPr>
          <p:cNvCxnSpPr>
            <a:cxnSpLocks/>
          </p:cNvCxnSpPr>
          <p:nvPr/>
        </p:nvCxnSpPr>
        <p:spPr>
          <a:xfrm flipV="1">
            <a:off x="6735846" y="32342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Diagrama de flujo: conector 30">
            <a:extLst>
              <a:ext uri="{FF2B5EF4-FFF2-40B4-BE49-F238E27FC236}">
                <a16:creationId xmlns:a16="http://schemas.microsoft.com/office/drawing/2014/main" id="{3638652B-71FE-4D7E-BA48-E92B9BC8CC80}"/>
              </a:ext>
            </a:extLst>
          </p:cNvPr>
          <p:cNvSpPr/>
          <p:nvPr/>
        </p:nvSpPr>
        <p:spPr>
          <a:xfrm flipV="1">
            <a:off x="7021640" y="21015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2" name="Diagrama de flujo: conector 31">
            <a:extLst>
              <a:ext uri="{FF2B5EF4-FFF2-40B4-BE49-F238E27FC236}">
                <a16:creationId xmlns:a16="http://schemas.microsoft.com/office/drawing/2014/main" id="{A3139DC0-A997-4897-AC7C-F4F1EFF4B71E}"/>
              </a:ext>
            </a:extLst>
          </p:cNvPr>
          <p:cNvSpPr/>
          <p:nvPr/>
        </p:nvSpPr>
        <p:spPr>
          <a:xfrm>
            <a:off x="7535235" y="2541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Diagrama de flujo: conector 32">
            <a:extLst>
              <a:ext uri="{FF2B5EF4-FFF2-40B4-BE49-F238E27FC236}">
                <a16:creationId xmlns:a16="http://schemas.microsoft.com/office/drawing/2014/main" id="{024D75E9-1EE8-43CE-BA80-D4D3FA137048}"/>
              </a:ext>
            </a:extLst>
          </p:cNvPr>
          <p:cNvSpPr/>
          <p:nvPr/>
        </p:nvSpPr>
        <p:spPr>
          <a:xfrm flipV="1">
            <a:off x="76114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Diagrama de flujo: conector 33">
            <a:extLst>
              <a:ext uri="{FF2B5EF4-FFF2-40B4-BE49-F238E27FC236}">
                <a16:creationId xmlns:a16="http://schemas.microsoft.com/office/drawing/2014/main" id="{F8CDFB15-0D8A-4AA8-9788-F1802BF10F98}"/>
              </a:ext>
            </a:extLst>
          </p:cNvPr>
          <p:cNvSpPr/>
          <p:nvPr/>
        </p:nvSpPr>
        <p:spPr>
          <a:xfrm flipV="1">
            <a:off x="7611435" y="3118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5" name="Diagrama de flujo: extraer 34">
            <a:extLst>
              <a:ext uri="{FF2B5EF4-FFF2-40B4-BE49-F238E27FC236}">
                <a16:creationId xmlns:a16="http://schemas.microsoft.com/office/drawing/2014/main" id="{F6282451-0B33-493F-8516-C7C7A43CFEB0}"/>
              </a:ext>
            </a:extLst>
          </p:cNvPr>
          <p:cNvSpPr/>
          <p:nvPr/>
        </p:nvSpPr>
        <p:spPr>
          <a:xfrm>
            <a:off x="5782635" y="3558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6" name="Diagrama de flujo: extraer 35">
            <a:extLst>
              <a:ext uri="{FF2B5EF4-FFF2-40B4-BE49-F238E27FC236}">
                <a16:creationId xmlns:a16="http://schemas.microsoft.com/office/drawing/2014/main" id="{76CDCAE5-6E3A-40A4-89B5-AEFEB0C96158}"/>
              </a:ext>
            </a:extLst>
          </p:cNvPr>
          <p:cNvSpPr/>
          <p:nvPr/>
        </p:nvSpPr>
        <p:spPr>
          <a:xfrm>
            <a:off x="6589035" y="37106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Diagrama de flujo: extraer 36">
            <a:extLst>
              <a:ext uri="{FF2B5EF4-FFF2-40B4-BE49-F238E27FC236}">
                <a16:creationId xmlns:a16="http://schemas.microsoft.com/office/drawing/2014/main" id="{19C22CEA-F955-4D04-88A2-867E9AFED558}"/>
              </a:ext>
            </a:extLst>
          </p:cNvPr>
          <p:cNvSpPr/>
          <p:nvPr/>
        </p:nvSpPr>
        <p:spPr>
          <a:xfrm>
            <a:off x="7427235" y="40650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Diagrama de flujo: extraer 37">
            <a:extLst>
              <a:ext uri="{FF2B5EF4-FFF2-40B4-BE49-F238E27FC236}">
                <a16:creationId xmlns:a16="http://schemas.microsoft.com/office/drawing/2014/main" id="{659E7B6F-32CB-4EBB-AAC2-BDAC73CC8A9A}"/>
              </a:ext>
            </a:extLst>
          </p:cNvPr>
          <p:cNvSpPr/>
          <p:nvPr/>
        </p:nvSpPr>
        <p:spPr>
          <a:xfrm>
            <a:off x="5706435" y="2769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Diagrama de flujo: extraer 38">
            <a:extLst>
              <a:ext uri="{FF2B5EF4-FFF2-40B4-BE49-F238E27FC236}">
                <a16:creationId xmlns:a16="http://schemas.microsoft.com/office/drawing/2014/main" id="{65CA01AF-8937-44B2-B95B-A97478C0A7EF}"/>
              </a:ext>
            </a:extLst>
          </p:cNvPr>
          <p:cNvSpPr/>
          <p:nvPr/>
        </p:nvSpPr>
        <p:spPr>
          <a:xfrm>
            <a:off x="6512835" y="4185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Diagrama de flujo: conector 39">
            <a:extLst>
              <a:ext uri="{FF2B5EF4-FFF2-40B4-BE49-F238E27FC236}">
                <a16:creationId xmlns:a16="http://schemas.microsoft.com/office/drawing/2014/main" id="{8B16C000-5D4E-4908-9C5D-F32EB717C41C}"/>
              </a:ext>
            </a:extLst>
          </p:cNvPr>
          <p:cNvSpPr/>
          <p:nvPr/>
        </p:nvSpPr>
        <p:spPr>
          <a:xfrm flipV="1">
            <a:off x="8341635" y="26172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Diagrama de flujo: conector 40">
            <a:extLst>
              <a:ext uri="{FF2B5EF4-FFF2-40B4-BE49-F238E27FC236}">
                <a16:creationId xmlns:a16="http://schemas.microsoft.com/office/drawing/2014/main" id="{ABD38F00-81D9-4243-85AF-A03413191BC9}"/>
              </a:ext>
            </a:extLst>
          </p:cNvPr>
          <p:cNvSpPr/>
          <p:nvPr/>
        </p:nvSpPr>
        <p:spPr>
          <a:xfrm flipV="1">
            <a:off x="6620835" y="1702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5" name="Diagrama de flujo: extraer 44">
            <a:extLst>
              <a:ext uri="{FF2B5EF4-FFF2-40B4-BE49-F238E27FC236}">
                <a16:creationId xmlns:a16="http://schemas.microsoft.com/office/drawing/2014/main" id="{BE4BB1F4-8FD8-4ECD-826C-D46CF7645D9C}"/>
              </a:ext>
            </a:extLst>
          </p:cNvPr>
          <p:cNvSpPr/>
          <p:nvPr/>
        </p:nvSpPr>
        <p:spPr>
          <a:xfrm>
            <a:off x="7217064" y="305438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6" name="Diagrama de flujo: conector 45">
            <a:extLst>
              <a:ext uri="{FF2B5EF4-FFF2-40B4-BE49-F238E27FC236}">
                <a16:creationId xmlns:a16="http://schemas.microsoft.com/office/drawing/2014/main" id="{512D65D6-781A-4417-947C-84EAADA4B3A7}"/>
              </a:ext>
            </a:extLst>
          </p:cNvPr>
          <p:cNvSpPr/>
          <p:nvPr/>
        </p:nvSpPr>
        <p:spPr>
          <a:xfrm>
            <a:off x="5611996" y="2532027"/>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7" name="TextBox 6">
            <a:extLst>
              <a:ext uri="{FF2B5EF4-FFF2-40B4-BE49-F238E27FC236}">
                <a16:creationId xmlns:a16="http://schemas.microsoft.com/office/drawing/2014/main" id="{AACBCA13-BDAA-4DBC-B9CB-DC13259A494D}"/>
              </a:ext>
            </a:extLst>
          </p:cNvPr>
          <p:cNvSpPr txBox="1"/>
          <p:nvPr/>
        </p:nvSpPr>
        <p:spPr>
          <a:xfrm>
            <a:off x="489467" y="2070366"/>
            <a:ext cx="1066800" cy="369332"/>
          </a:xfrm>
          <a:prstGeom prst="rect">
            <a:avLst/>
          </a:prstGeom>
          <a:noFill/>
        </p:spPr>
        <p:txBody>
          <a:bodyPr wrap="square" rtlCol="0">
            <a:spAutoFit/>
          </a:bodyPr>
          <a:lstStyle/>
          <a:p>
            <a:r>
              <a:rPr lang="es-ES_tradnl" sz="18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8" name="TextBox 6">
                <a:extLst>
                  <a:ext uri="{FF2B5EF4-FFF2-40B4-BE49-F238E27FC236}">
                    <a16:creationId xmlns:a16="http://schemas.microsoft.com/office/drawing/2014/main" id="{29A5085A-FE1B-4A7A-9710-1BC8663CAE93}"/>
                  </a:ext>
                </a:extLst>
              </p:cNvPr>
              <p:cNvSpPr txBox="1"/>
              <p:nvPr/>
            </p:nvSpPr>
            <p:spPr>
              <a:xfrm>
                <a:off x="877003" y="2566206"/>
                <a:ext cx="4533197" cy="3246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8" name="TextBox 6">
                <a:extLst>
                  <a:ext uri="{FF2B5EF4-FFF2-40B4-BE49-F238E27FC236}">
                    <a16:creationId xmlns:a16="http://schemas.microsoft.com/office/drawing/2014/main" id="{29A5085A-FE1B-4A7A-9710-1BC8663CAE93}"/>
                  </a:ext>
                </a:extLst>
              </p:cNvPr>
              <p:cNvSpPr txBox="1">
                <a:spLocks noRot="1" noChangeAspect="1" noMove="1" noResize="1" noEditPoints="1" noAdjustHandles="1" noChangeArrowheads="1" noChangeShapeType="1" noTextEdit="1"/>
              </p:cNvSpPr>
              <p:nvPr/>
            </p:nvSpPr>
            <p:spPr>
              <a:xfrm>
                <a:off x="877003" y="2566206"/>
                <a:ext cx="4533197" cy="324641"/>
              </a:xfrm>
              <a:prstGeom prst="rect">
                <a:avLst/>
              </a:prstGeom>
              <a:blipFill>
                <a:blip r:embed="rId6"/>
                <a:stretch>
                  <a:fillRect b="-3396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0" name="Rectángulo 49">
                <a:extLst>
                  <a:ext uri="{FF2B5EF4-FFF2-40B4-BE49-F238E27FC236}">
                    <a16:creationId xmlns:a16="http://schemas.microsoft.com/office/drawing/2014/main" id="{509BCE03-2346-4081-A1E9-643A8F84DCD0}"/>
                  </a:ext>
                </a:extLst>
              </p:cNvPr>
              <p:cNvSpPr/>
              <p:nvPr/>
            </p:nvSpPr>
            <p:spPr>
              <a:xfrm>
                <a:off x="489467" y="1447800"/>
                <a:ext cx="3016314" cy="634789"/>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1800" b="0" i="1" smtClean="0">
                          <a:latin typeface="Cambria Math" panose="02040503050406030204" pitchFamily="18" charset="0"/>
                          <a:ea typeface="Cambria Math" panose="02040503050406030204" pitchFamily="18" charset="0"/>
                        </a:rPr>
                        <m:t>𝑚𝑖𝑛</m:t>
                      </m:r>
                      <m:r>
                        <a:rPr lang="es-ES" sz="1800" b="0" i="1" smtClean="0">
                          <a:latin typeface="Cambria Math" panose="02040503050406030204" pitchFamily="18" charset="0"/>
                          <a:ea typeface="Cambria Math" panose="02040503050406030204" pitchFamily="18" charset="0"/>
                        </a:rPr>
                        <m:t>  </m:t>
                      </m:r>
                      <m:f>
                        <m:fPr>
                          <m:ctrlPr>
                            <a:rPr lang="es-ES" sz="1800" b="0" i="1" smtClean="0">
                              <a:latin typeface="Cambria Math" panose="02040503050406030204" pitchFamily="18" charset="0"/>
                              <a:ea typeface="Cambria Math" panose="02040503050406030204" pitchFamily="18" charset="0"/>
                            </a:rPr>
                          </m:ctrlPr>
                        </m:fPr>
                        <m:num>
                          <m:r>
                            <a:rPr lang="es-ES" sz="1800" b="0" i="1" smtClean="0">
                              <a:latin typeface="Cambria Math" panose="02040503050406030204" pitchFamily="18" charset="0"/>
                              <a:ea typeface="Cambria Math" panose="02040503050406030204" pitchFamily="18" charset="0"/>
                            </a:rPr>
                            <m:t>1</m:t>
                          </m:r>
                        </m:num>
                        <m:den>
                          <m:r>
                            <a:rPr lang="es-ES" sz="1800" b="0" i="1" smtClean="0">
                              <a:latin typeface="Cambria Math" panose="02040503050406030204" pitchFamily="18" charset="0"/>
                              <a:ea typeface="Cambria Math" panose="02040503050406030204" pitchFamily="18" charset="0"/>
                            </a:rPr>
                            <m:t>2</m:t>
                          </m:r>
                        </m:den>
                      </m:f>
                      <m:sSup>
                        <m:sSupPr>
                          <m:ctrlPr>
                            <a:rPr lang="es-ES" sz="1800" b="0" i="1" smtClean="0">
                              <a:latin typeface="Cambria Math" panose="02040503050406030204" pitchFamily="18" charset="0"/>
                              <a:ea typeface="Cambria Math" panose="02040503050406030204" pitchFamily="18" charset="0"/>
                            </a:rPr>
                          </m:ctrlPr>
                        </m:sSupPr>
                        <m:e>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e>
                        <m:sup>
                          <m:r>
                            <a:rPr lang="es-ES" sz="1800" b="0" i="1" smtClean="0">
                              <a:latin typeface="Cambria Math" panose="02040503050406030204" pitchFamily="18" charset="0"/>
                              <a:ea typeface="Cambria Math" panose="02040503050406030204" pitchFamily="18" charset="0"/>
                            </a:rPr>
                            <m:t>2</m:t>
                          </m:r>
                        </m:sup>
                      </m:sSup>
                    </m:oMath>
                  </m:oMathPara>
                </a14:m>
                <a:endParaRPr lang="es-ES_tradnl" sz="1800" b="0" dirty="0"/>
              </a:p>
            </p:txBody>
          </p:sp>
        </mc:Choice>
        <mc:Fallback xmlns="">
          <p:sp>
            <p:nvSpPr>
              <p:cNvPr id="50" name="Rectángulo 49">
                <a:extLst>
                  <a:ext uri="{FF2B5EF4-FFF2-40B4-BE49-F238E27FC236}">
                    <a16:creationId xmlns:a16="http://schemas.microsoft.com/office/drawing/2014/main" id="{509BCE03-2346-4081-A1E9-643A8F84DCD0}"/>
                  </a:ext>
                </a:extLst>
              </p:cNvPr>
              <p:cNvSpPr>
                <a:spLocks noRot="1" noChangeAspect="1" noMove="1" noResize="1" noEditPoints="1" noAdjustHandles="1" noChangeArrowheads="1" noChangeShapeType="1" noTextEdit="1"/>
              </p:cNvSpPr>
              <p:nvPr/>
            </p:nvSpPr>
            <p:spPr>
              <a:xfrm>
                <a:off x="489467" y="1447800"/>
                <a:ext cx="3016314" cy="634789"/>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8AE6DC34-9BDD-4616-B9CC-12825E474412}"/>
                  </a:ext>
                </a:extLst>
              </p:cNvPr>
              <p:cNvSpPr txBox="1"/>
              <p:nvPr/>
            </p:nvSpPr>
            <p:spPr>
              <a:xfrm>
                <a:off x="609600" y="408527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51" name="CuadroTexto 50">
                <a:extLst>
                  <a:ext uri="{FF2B5EF4-FFF2-40B4-BE49-F238E27FC236}">
                    <a16:creationId xmlns:a16="http://schemas.microsoft.com/office/drawing/2014/main" id="{8AE6DC34-9BDD-4616-B9CC-12825E474412}"/>
                  </a:ext>
                </a:extLst>
              </p:cNvPr>
              <p:cNvSpPr txBox="1">
                <a:spLocks noRot="1" noChangeAspect="1" noMove="1" noResize="1" noEditPoints="1" noAdjustHandles="1" noChangeArrowheads="1" noChangeShapeType="1" noTextEdit="1"/>
              </p:cNvSpPr>
              <p:nvPr/>
            </p:nvSpPr>
            <p:spPr>
              <a:xfrm>
                <a:off x="609600" y="4085272"/>
                <a:ext cx="2590800" cy="1477328"/>
              </a:xfrm>
              <a:prstGeom prst="rect">
                <a:avLst/>
              </a:prstGeom>
              <a:blipFill>
                <a:blip r:embed="rId8"/>
                <a:stretch>
                  <a:fillRect l="-1882" t="-2881"/>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2" name="Rectángulo 51">
                <a:extLst>
                  <a:ext uri="{FF2B5EF4-FFF2-40B4-BE49-F238E27FC236}">
                    <a16:creationId xmlns:a16="http://schemas.microsoft.com/office/drawing/2014/main" id="{660F961F-99E6-48A6-A529-E8E6CE79B1A9}"/>
                  </a:ext>
                </a:extLst>
              </p:cNvPr>
              <p:cNvSpPr/>
              <p:nvPr/>
            </p:nvSpPr>
            <p:spPr>
              <a:xfrm>
                <a:off x="3669766" y="4649720"/>
                <a:ext cx="1132361" cy="6594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𝑀</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den>
                      </m:f>
                    </m:oMath>
                  </m:oMathPara>
                </a14:m>
                <a:endParaRPr lang="es-ES_tradnl" dirty="0"/>
              </a:p>
            </p:txBody>
          </p:sp>
        </mc:Choice>
        <mc:Fallback xmlns="">
          <p:sp>
            <p:nvSpPr>
              <p:cNvPr id="52" name="Rectángulo 51">
                <a:extLst>
                  <a:ext uri="{FF2B5EF4-FFF2-40B4-BE49-F238E27FC236}">
                    <a16:creationId xmlns:a16="http://schemas.microsoft.com/office/drawing/2014/main" id="{660F961F-99E6-48A6-A529-E8E6CE79B1A9}"/>
                  </a:ext>
                </a:extLst>
              </p:cNvPr>
              <p:cNvSpPr>
                <a:spLocks noRot="1" noChangeAspect="1" noMove="1" noResize="1" noEditPoints="1" noAdjustHandles="1" noChangeArrowheads="1" noChangeShapeType="1" noTextEdit="1"/>
              </p:cNvSpPr>
              <p:nvPr/>
            </p:nvSpPr>
            <p:spPr>
              <a:xfrm>
                <a:off x="3669766" y="4649720"/>
                <a:ext cx="1132361" cy="659411"/>
              </a:xfrm>
              <a:prstGeom prst="rect">
                <a:avLst/>
              </a:prstGeom>
              <a:blipFill>
                <a:blip r:embed="rId9"/>
                <a:stretch>
                  <a:fillRect/>
                </a:stretch>
              </a:blipFill>
            </p:spPr>
            <p:txBody>
              <a:bodyPr/>
              <a:lstStyle/>
              <a:p>
                <a:r>
                  <a:rPr lang="es-ES_tradnl">
                    <a:noFill/>
                  </a:rPr>
                  <a:t> </a:t>
                </a:r>
              </a:p>
            </p:txBody>
          </p:sp>
        </mc:Fallback>
      </mc:AlternateContent>
      <p:sp>
        <p:nvSpPr>
          <p:cNvPr id="53" name="CuadroTexto 52">
            <a:extLst>
              <a:ext uri="{FF2B5EF4-FFF2-40B4-BE49-F238E27FC236}">
                <a16:creationId xmlns:a16="http://schemas.microsoft.com/office/drawing/2014/main" id="{DF58247A-639B-4B9D-B6FC-5B480E480E83}"/>
              </a:ext>
            </a:extLst>
          </p:cNvPr>
          <p:cNvSpPr txBox="1"/>
          <p:nvPr/>
        </p:nvSpPr>
        <p:spPr>
          <a:xfrm>
            <a:off x="5197555" y="4486870"/>
            <a:ext cx="1828800" cy="923330"/>
          </a:xfrm>
          <a:prstGeom prst="rect">
            <a:avLst/>
          </a:prstGeom>
          <a:noFill/>
        </p:spPr>
        <p:txBody>
          <a:bodyPr wrap="square" rtlCol="0">
            <a:spAutoFit/>
          </a:bodyPr>
          <a:lstStyle/>
          <a:p>
            <a:pPr algn="ctr"/>
            <a:r>
              <a:rPr lang="es-ES" b="1" dirty="0" err="1">
                <a:solidFill>
                  <a:srgbClr val="FF0000"/>
                </a:solidFill>
              </a:rPr>
              <a:t>Convex</a:t>
            </a:r>
            <a:r>
              <a:rPr lang="es-ES" b="1" dirty="0">
                <a:solidFill>
                  <a:srgbClr val="FF0000"/>
                </a:solidFill>
              </a:rPr>
              <a:t> </a:t>
            </a:r>
            <a:r>
              <a:rPr lang="es-ES" b="1" dirty="0" err="1">
                <a:solidFill>
                  <a:srgbClr val="FF0000"/>
                </a:solidFill>
              </a:rPr>
              <a:t>optimization</a:t>
            </a:r>
            <a:r>
              <a:rPr lang="es-ES" b="1" dirty="0">
                <a:solidFill>
                  <a:srgbClr val="FF0000"/>
                </a:solidFill>
              </a:rPr>
              <a:t> </a:t>
            </a:r>
            <a:r>
              <a:rPr lang="es-ES" b="1" dirty="0" err="1">
                <a:solidFill>
                  <a:srgbClr val="FF0000"/>
                </a:solidFill>
              </a:rPr>
              <a:t>problem</a:t>
            </a:r>
            <a:endParaRPr lang="es-ES_tradnl" b="1" dirty="0">
              <a:solidFill>
                <a:srgbClr val="FF0000"/>
              </a:solidFill>
            </a:endParaRPr>
          </a:p>
        </p:txBody>
      </p:sp>
      <p:cxnSp>
        <p:nvCxnSpPr>
          <p:cNvPr id="55" name="Conector recto 54">
            <a:extLst>
              <a:ext uri="{FF2B5EF4-FFF2-40B4-BE49-F238E27FC236}">
                <a16:creationId xmlns:a16="http://schemas.microsoft.com/office/drawing/2014/main" id="{D96573D4-CC47-4872-8FE2-0F8D83DBDBB7}"/>
              </a:ext>
            </a:extLst>
          </p:cNvPr>
          <p:cNvCxnSpPr>
            <a:cxnSpLocks/>
          </p:cNvCxnSpPr>
          <p:nvPr/>
        </p:nvCxnSpPr>
        <p:spPr>
          <a:xfrm flipV="1">
            <a:off x="6910944" y="3203964"/>
            <a:ext cx="381907" cy="506664"/>
          </a:xfrm>
          <a:prstGeom prst="line">
            <a:avLst/>
          </a:prstGeom>
          <a:ln w="254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1BF2D2E3-7E62-47D8-90F4-80CB3169788F}"/>
              </a:ext>
            </a:extLst>
          </p:cNvPr>
          <p:cNvCxnSpPr>
            <a:cxnSpLocks/>
            <a:stCxn id="46" idx="7"/>
          </p:cNvCxnSpPr>
          <p:nvPr/>
        </p:nvCxnSpPr>
        <p:spPr>
          <a:xfrm flipV="1">
            <a:off x="5704180" y="2012105"/>
            <a:ext cx="393881" cy="535738"/>
          </a:xfrm>
          <a:prstGeom prst="line">
            <a:avLst/>
          </a:prstGeom>
          <a:ln w="25400">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Rectángulo 57">
                <a:extLst>
                  <a:ext uri="{FF2B5EF4-FFF2-40B4-BE49-F238E27FC236}">
                    <a16:creationId xmlns:a16="http://schemas.microsoft.com/office/drawing/2014/main" id="{16B3476A-04D5-4265-B759-8A7C981D1328}"/>
                  </a:ext>
                </a:extLst>
              </p:cNvPr>
              <p:cNvSpPr/>
              <p:nvPr/>
            </p:nvSpPr>
            <p:spPr>
              <a:xfrm>
                <a:off x="5594190" y="1952319"/>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58" name="Rectángulo 57">
                <a:extLst>
                  <a:ext uri="{FF2B5EF4-FFF2-40B4-BE49-F238E27FC236}">
                    <a16:creationId xmlns:a16="http://schemas.microsoft.com/office/drawing/2014/main" id="{16B3476A-04D5-4265-B759-8A7C981D1328}"/>
                  </a:ext>
                </a:extLst>
              </p:cNvPr>
              <p:cNvSpPr>
                <a:spLocks noRot="1" noChangeAspect="1" noMove="1" noResize="1" noEditPoints="1" noAdjustHandles="1" noChangeArrowheads="1" noChangeShapeType="1" noTextEdit="1"/>
              </p:cNvSpPr>
              <p:nvPr/>
            </p:nvSpPr>
            <p:spPr>
              <a:xfrm>
                <a:off x="5594190" y="1952319"/>
                <a:ext cx="387094" cy="338554"/>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9" name="Rectángulo 58">
                <a:extLst>
                  <a:ext uri="{FF2B5EF4-FFF2-40B4-BE49-F238E27FC236}">
                    <a16:creationId xmlns:a16="http://schemas.microsoft.com/office/drawing/2014/main" id="{73243359-C2E1-412F-ADA2-62F7D0DED36D}"/>
                  </a:ext>
                </a:extLst>
              </p:cNvPr>
              <p:cNvSpPr/>
              <p:nvPr/>
            </p:nvSpPr>
            <p:spPr>
              <a:xfrm>
                <a:off x="7004248" y="3371106"/>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59" name="Rectángulo 58">
                <a:extLst>
                  <a:ext uri="{FF2B5EF4-FFF2-40B4-BE49-F238E27FC236}">
                    <a16:creationId xmlns:a16="http://schemas.microsoft.com/office/drawing/2014/main" id="{73243359-C2E1-412F-ADA2-62F7D0DED36D}"/>
                  </a:ext>
                </a:extLst>
              </p:cNvPr>
              <p:cNvSpPr>
                <a:spLocks noRot="1" noChangeAspect="1" noMove="1" noResize="1" noEditPoints="1" noAdjustHandles="1" noChangeArrowheads="1" noChangeShapeType="1" noTextEdit="1"/>
              </p:cNvSpPr>
              <p:nvPr/>
            </p:nvSpPr>
            <p:spPr>
              <a:xfrm>
                <a:off x="7004248" y="3371106"/>
                <a:ext cx="387094" cy="338554"/>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Rectángulo 61">
                <a:extLst>
                  <a:ext uri="{FF2B5EF4-FFF2-40B4-BE49-F238E27FC236}">
                    <a16:creationId xmlns:a16="http://schemas.microsoft.com/office/drawing/2014/main" id="{95B794CB-EAD3-4D86-AE07-10FC7B5157A9}"/>
                  </a:ext>
                </a:extLst>
              </p:cNvPr>
              <p:cNvSpPr/>
              <p:nvPr/>
            </p:nvSpPr>
            <p:spPr>
              <a:xfrm>
                <a:off x="946065" y="3181290"/>
                <a:ext cx="2254335" cy="400110"/>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s-ES" sz="2000" dirty="0">
                    <a:ea typeface="Cambria Math" panose="02040503050406030204" pitchFamily="18" charset="0"/>
                  </a:rPr>
                  <a:t> </a:t>
                </a:r>
                <a14:m>
                  <m:oMath xmlns:m="http://schemas.openxmlformats.org/officeDocument/2006/math">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62" name="Rectángulo 61">
                <a:extLst>
                  <a:ext uri="{FF2B5EF4-FFF2-40B4-BE49-F238E27FC236}">
                    <a16:creationId xmlns:a16="http://schemas.microsoft.com/office/drawing/2014/main" id="{95B794CB-EAD3-4D86-AE07-10FC7B5157A9}"/>
                  </a:ext>
                </a:extLst>
              </p:cNvPr>
              <p:cNvSpPr>
                <a:spLocks noRot="1" noChangeAspect="1" noMove="1" noResize="1" noEditPoints="1" noAdjustHandles="1" noChangeArrowheads="1" noChangeShapeType="1" noTextEdit="1"/>
              </p:cNvSpPr>
              <p:nvPr/>
            </p:nvSpPr>
            <p:spPr>
              <a:xfrm>
                <a:off x="946065" y="3181290"/>
                <a:ext cx="2254335" cy="400110"/>
              </a:xfrm>
              <a:prstGeom prst="rect">
                <a:avLst/>
              </a:prstGeom>
              <a:blipFill>
                <a:blip r:embed="rId12"/>
                <a:stretch>
                  <a:fillRect/>
                </a:stretch>
              </a:blipFill>
            </p:spPr>
            <p:txBody>
              <a:bodyPr/>
              <a:lstStyle/>
              <a:p>
                <a:r>
                  <a:rPr lang="es-ES_tradnl">
                    <a:noFill/>
                  </a:rPr>
                  <a:t> </a:t>
                </a:r>
              </a:p>
            </p:txBody>
          </p:sp>
        </mc:Fallback>
      </mc:AlternateContent>
    </p:spTree>
    <p:extLst>
      <p:ext uri="{BB962C8B-B14F-4D97-AF65-F5344CB8AC3E}">
        <p14:creationId xmlns:p14="http://schemas.microsoft.com/office/powerpoint/2010/main" val="50202627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348770"/>
            <a:ext cx="7848600" cy="784830"/>
          </a:xfrm>
          <a:prstGeom prst="rect">
            <a:avLst/>
          </a:prstGeom>
        </p:spPr>
        <p:txBody>
          <a:bodyPr wrap="square">
            <a:spAutoFit/>
          </a:bodyPr>
          <a:lstStyle/>
          <a:p>
            <a:pPr algn="just">
              <a:spcBef>
                <a:spcPct val="50000"/>
              </a:spcBef>
            </a:pPr>
            <a:r>
              <a:rPr lang="en-US" b="1" dirty="0"/>
              <a:t>Primal Formulation</a:t>
            </a:r>
          </a:p>
          <a:p>
            <a:pPr algn="just">
              <a:spcBef>
                <a:spcPct val="50000"/>
              </a:spcBef>
            </a:pPr>
            <a:endParaRPr lang="es-ES" b="1" dirty="0"/>
          </a:p>
        </p:txBody>
      </p:sp>
      <p:sp>
        <p:nvSpPr>
          <p:cNvPr id="47" name="TextBox 6">
            <a:extLst>
              <a:ext uri="{FF2B5EF4-FFF2-40B4-BE49-F238E27FC236}">
                <a16:creationId xmlns:a16="http://schemas.microsoft.com/office/drawing/2014/main" id="{AACBCA13-BDAA-4DBC-B9CB-DC13259A494D}"/>
              </a:ext>
            </a:extLst>
          </p:cNvPr>
          <p:cNvSpPr txBox="1"/>
          <p:nvPr/>
        </p:nvSpPr>
        <p:spPr>
          <a:xfrm>
            <a:off x="489467" y="2729734"/>
            <a:ext cx="1066800" cy="369332"/>
          </a:xfrm>
          <a:prstGeom prst="rect">
            <a:avLst/>
          </a:prstGeom>
          <a:noFill/>
        </p:spPr>
        <p:txBody>
          <a:bodyPr wrap="square" rtlCol="0">
            <a:spAutoFit/>
          </a:bodyPr>
          <a:lstStyle/>
          <a:p>
            <a:r>
              <a:rPr lang="es-ES_tradnl" sz="18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8" name="TextBox 6">
                <a:extLst>
                  <a:ext uri="{FF2B5EF4-FFF2-40B4-BE49-F238E27FC236}">
                    <a16:creationId xmlns:a16="http://schemas.microsoft.com/office/drawing/2014/main" id="{29A5085A-FE1B-4A7A-9710-1BC8663CAE93}"/>
                  </a:ext>
                </a:extLst>
              </p:cNvPr>
              <p:cNvSpPr txBox="1"/>
              <p:nvPr/>
            </p:nvSpPr>
            <p:spPr>
              <a:xfrm>
                <a:off x="877003" y="3225574"/>
                <a:ext cx="4533197" cy="3246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8" name="TextBox 6">
                <a:extLst>
                  <a:ext uri="{FF2B5EF4-FFF2-40B4-BE49-F238E27FC236}">
                    <a16:creationId xmlns:a16="http://schemas.microsoft.com/office/drawing/2014/main" id="{29A5085A-FE1B-4A7A-9710-1BC8663CAE93}"/>
                  </a:ext>
                </a:extLst>
              </p:cNvPr>
              <p:cNvSpPr txBox="1">
                <a:spLocks noRot="1" noChangeAspect="1" noMove="1" noResize="1" noEditPoints="1" noAdjustHandles="1" noChangeArrowheads="1" noChangeShapeType="1" noTextEdit="1"/>
              </p:cNvSpPr>
              <p:nvPr/>
            </p:nvSpPr>
            <p:spPr>
              <a:xfrm>
                <a:off x="877003" y="3225574"/>
                <a:ext cx="4533197" cy="324641"/>
              </a:xfrm>
              <a:prstGeom prst="rect">
                <a:avLst/>
              </a:prstGeom>
              <a:blipFill>
                <a:blip r:embed="rId6"/>
                <a:stretch>
                  <a:fillRect b="-3396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0" name="Rectángulo 49">
                <a:extLst>
                  <a:ext uri="{FF2B5EF4-FFF2-40B4-BE49-F238E27FC236}">
                    <a16:creationId xmlns:a16="http://schemas.microsoft.com/office/drawing/2014/main" id="{509BCE03-2346-4081-A1E9-643A8F84DCD0}"/>
                  </a:ext>
                </a:extLst>
              </p:cNvPr>
              <p:cNvSpPr/>
              <p:nvPr/>
            </p:nvSpPr>
            <p:spPr>
              <a:xfrm>
                <a:off x="489467" y="2057400"/>
                <a:ext cx="3016314" cy="84856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1800" b="0" i="1" smtClean="0">
                          <a:latin typeface="Cambria Math" panose="02040503050406030204" pitchFamily="18" charset="0"/>
                          <a:ea typeface="Cambria Math" panose="02040503050406030204" pitchFamily="18" charset="0"/>
                        </a:rPr>
                        <m:t>𝑚𝑖𝑛</m:t>
                      </m:r>
                      <m:r>
                        <a:rPr lang="es-ES" sz="1800" b="0" i="1" smtClean="0">
                          <a:latin typeface="Cambria Math" panose="02040503050406030204" pitchFamily="18" charset="0"/>
                          <a:ea typeface="Cambria Math" panose="02040503050406030204" pitchFamily="18" charset="0"/>
                        </a:rPr>
                        <m:t>  </m:t>
                      </m:r>
                      <m:f>
                        <m:fPr>
                          <m:ctrlPr>
                            <a:rPr lang="es-ES" sz="1800" b="0" i="1" smtClean="0">
                              <a:latin typeface="Cambria Math" panose="02040503050406030204" pitchFamily="18" charset="0"/>
                              <a:ea typeface="Cambria Math" panose="02040503050406030204" pitchFamily="18" charset="0"/>
                            </a:rPr>
                          </m:ctrlPr>
                        </m:fPr>
                        <m:num>
                          <m:r>
                            <a:rPr lang="es-ES" sz="1800" b="0" i="1" smtClean="0">
                              <a:latin typeface="Cambria Math" panose="02040503050406030204" pitchFamily="18" charset="0"/>
                              <a:ea typeface="Cambria Math" panose="02040503050406030204" pitchFamily="18" charset="0"/>
                            </a:rPr>
                            <m:t>1</m:t>
                          </m:r>
                        </m:num>
                        <m:den>
                          <m:r>
                            <a:rPr lang="es-ES" sz="1800" b="0" i="1" smtClean="0">
                              <a:latin typeface="Cambria Math" panose="02040503050406030204" pitchFamily="18" charset="0"/>
                              <a:ea typeface="Cambria Math" panose="02040503050406030204" pitchFamily="18" charset="0"/>
                            </a:rPr>
                            <m:t>2</m:t>
                          </m:r>
                        </m:den>
                      </m:f>
                      <m:sSup>
                        <m:sSupPr>
                          <m:ctrlPr>
                            <a:rPr lang="es-ES" sz="1800" b="0" i="1" smtClean="0">
                              <a:latin typeface="Cambria Math" panose="02040503050406030204" pitchFamily="18" charset="0"/>
                              <a:ea typeface="Cambria Math" panose="02040503050406030204" pitchFamily="18" charset="0"/>
                            </a:rPr>
                          </m:ctrlPr>
                        </m:sSupPr>
                        <m:e>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e>
                        <m:sup>
                          <m:r>
                            <a:rPr lang="es-ES" sz="1800" b="0" i="1" smtClean="0">
                              <a:latin typeface="Cambria Math" panose="02040503050406030204" pitchFamily="18" charset="0"/>
                              <a:ea typeface="Cambria Math" panose="02040503050406030204" pitchFamily="18" charset="0"/>
                            </a:rPr>
                            <m:t>2</m:t>
                          </m:r>
                        </m:sup>
                      </m:sSup>
                      <m:r>
                        <a:rPr lang="es-ES" sz="1800" b="0" i="1" smtClean="0">
                          <a:latin typeface="Cambria Math" panose="02040503050406030204" pitchFamily="18" charset="0"/>
                          <a:ea typeface="Cambria Math" panose="02040503050406030204" pitchFamily="18" charset="0"/>
                        </a:rPr>
                        <m:t>+</m:t>
                      </m:r>
                      <m:r>
                        <a:rPr lang="es-ES" sz="1800" b="0" i="1" smtClean="0">
                          <a:latin typeface="Cambria Math" panose="02040503050406030204" pitchFamily="18" charset="0"/>
                          <a:ea typeface="Cambria Math" panose="02040503050406030204" pitchFamily="18" charset="0"/>
                        </a:rPr>
                        <m:t>𝐶</m:t>
                      </m:r>
                      <m:nary>
                        <m:naryPr>
                          <m:chr m:val="∑"/>
                          <m:ctrlPr>
                            <a:rPr lang="es-ES" sz="1800" b="0" i="1" smtClean="0">
                              <a:latin typeface="Cambria Math" panose="02040503050406030204" pitchFamily="18" charset="0"/>
                              <a:ea typeface="Cambria Math" panose="02040503050406030204" pitchFamily="18" charset="0"/>
                            </a:rPr>
                          </m:ctrlPr>
                        </m:naryPr>
                        <m:sub>
                          <m:r>
                            <m:rPr>
                              <m:brk m:alnAt="23"/>
                            </m:rPr>
                            <a:rPr lang="es-ES" sz="1800" b="0" i="1" smtClean="0">
                              <a:latin typeface="Cambria Math" panose="02040503050406030204" pitchFamily="18" charset="0"/>
                              <a:ea typeface="Cambria Math" panose="02040503050406030204" pitchFamily="18" charset="0"/>
                            </a:rPr>
                            <m:t>𝑖</m:t>
                          </m:r>
                          <m:r>
                            <a:rPr lang="es-ES" sz="1800" b="0" i="1" smtClean="0">
                              <a:latin typeface="Cambria Math" panose="02040503050406030204" pitchFamily="18" charset="0"/>
                              <a:ea typeface="Cambria Math" panose="02040503050406030204" pitchFamily="18" charset="0"/>
                            </a:rPr>
                            <m:t>=1</m:t>
                          </m:r>
                        </m:sub>
                        <m:sup>
                          <m:r>
                            <a:rPr lang="es-ES" sz="1800" b="0" i="1" smtClean="0">
                              <a:latin typeface="Cambria Math" panose="02040503050406030204" pitchFamily="18" charset="0"/>
                              <a:ea typeface="Cambria Math" panose="02040503050406030204" pitchFamily="18" charset="0"/>
                            </a:rPr>
                            <m:t>𝑛</m:t>
                          </m:r>
                        </m:sup>
                        <m:e>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i="1">
                                  <a:latin typeface="Cambria Math" panose="02040503050406030204" pitchFamily="18" charset="0"/>
                                  <a:ea typeface="Cambria Math" panose="02040503050406030204" pitchFamily="18" charset="0"/>
                                </a:rPr>
                                <m:t>𝑖</m:t>
                              </m:r>
                            </m:sub>
                          </m:sSub>
                        </m:e>
                      </m:nary>
                    </m:oMath>
                  </m:oMathPara>
                </a14:m>
                <a:endParaRPr lang="es-ES_tradnl" sz="1800" b="0" dirty="0"/>
              </a:p>
            </p:txBody>
          </p:sp>
        </mc:Choice>
        <mc:Fallback xmlns="">
          <p:sp>
            <p:nvSpPr>
              <p:cNvPr id="50" name="Rectángulo 49">
                <a:extLst>
                  <a:ext uri="{FF2B5EF4-FFF2-40B4-BE49-F238E27FC236}">
                    <a16:creationId xmlns:a16="http://schemas.microsoft.com/office/drawing/2014/main" id="{509BCE03-2346-4081-A1E9-643A8F84DCD0}"/>
                  </a:ext>
                </a:extLst>
              </p:cNvPr>
              <p:cNvSpPr>
                <a:spLocks noRot="1" noChangeAspect="1" noMove="1" noResize="1" noEditPoints="1" noAdjustHandles="1" noChangeArrowheads="1" noChangeShapeType="1" noTextEdit="1"/>
              </p:cNvSpPr>
              <p:nvPr/>
            </p:nvSpPr>
            <p:spPr>
              <a:xfrm>
                <a:off x="489467" y="2057400"/>
                <a:ext cx="3016314" cy="848566"/>
              </a:xfrm>
              <a:prstGeom prst="rect">
                <a:avLst/>
              </a:prstGeom>
              <a:blipFill>
                <a:blip r:embed="rId7"/>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8AE6DC34-9BDD-4616-B9CC-12825E474412}"/>
                  </a:ext>
                </a:extLst>
              </p:cNvPr>
              <p:cNvSpPr txBox="1"/>
              <p:nvPr/>
            </p:nvSpPr>
            <p:spPr>
              <a:xfrm>
                <a:off x="609600" y="4618672"/>
                <a:ext cx="2590800" cy="1477328"/>
              </a:xfrm>
              <a:prstGeom prst="rect">
                <a:avLst/>
              </a:prstGeom>
              <a:noFill/>
            </p:spPr>
            <p:txBody>
              <a:bodyPr wrap="square" rtlCol="0">
                <a:spAutoFit/>
              </a:bodyPr>
              <a:lstStyle/>
              <a:p>
                <a:r>
                  <a:rPr lang="es-ES" dirty="0">
                    <a:latin typeface="Cambria Math" panose="02040503050406030204" pitchFamily="18" charset="0"/>
                    <a:ea typeface="Cambria Math" panose="02040503050406030204" pitchFamily="18" charset="0"/>
                  </a:rPr>
                  <a:t>For </a:t>
                </a:r>
                <a:r>
                  <a:rPr lang="es-ES" dirty="0" err="1">
                    <a:latin typeface="Cambria Math" panose="02040503050406030204" pitchFamily="18" charset="0"/>
                    <a:ea typeface="Cambria Math" panose="02040503050406030204" pitchFamily="18" charset="0"/>
                  </a:rPr>
                  <a:t>each</a:t>
                </a:r>
                <a:r>
                  <a:rPr lang="es-ES" dirty="0">
                    <a:latin typeface="Cambria Math" panose="02040503050406030204" pitchFamily="18" charset="0"/>
                    <a:ea typeface="Cambria Math" panose="02040503050406030204" pitchFamily="18" charset="0"/>
                  </a:rPr>
                  <a:t> </a:t>
                </a:r>
                <a:r>
                  <a:rPr lang="es-ES" dirty="0" err="1">
                    <a:latin typeface="Cambria Math" panose="02040503050406030204" pitchFamily="18" charset="0"/>
                    <a:ea typeface="Cambria Math" panose="02040503050406030204" pitchFamily="18" charset="0"/>
                  </a:rPr>
                  <a:t>sample</a:t>
                </a:r>
                <a:r>
                  <a:rPr lang="es-ES" dirty="0">
                    <a:latin typeface="Cambria Math" panose="02040503050406030204" pitchFamily="18" charset="0"/>
                    <a:ea typeface="Cambria Math" panose="02040503050406030204" pitchFamily="18" charset="0"/>
                  </a:rPr>
                  <a:t> </a:t>
                </a:r>
                <a:r>
                  <a:rPr lang="es-ES" i="1" dirty="0"/>
                  <a:t>i</a:t>
                </a:r>
                <a:r>
                  <a:rPr lang="es-ES" dirty="0"/>
                  <a:t>: </a:t>
                </a:r>
              </a:p>
              <a:p>
                <a:endParaRPr lang="es-ES" dirty="0"/>
              </a:p>
              <a:p>
                <a14:m>
                  <m:oMath xmlns:m="http://schemas.openxmlformats.org/officeDocument/2006/math">
                    <m:sSub>
                      <m:sSubPr>
                        <m:ctrlPr>
                          <a:rPr lang="es-ES" b="1" i="1" smtClean="0">
                            <a:latin typeface="Cambria Math" panose="02040503050406030204" pitchFamily="18" charset="0"/>
                            <a:ea typeface="Cambria Math" panose="02040503050406030204" pitchFamily="18" charset="0"/>
                          </a:rPr>
                        </m:ctrlPr>
                      </m:sSubPr>
                      <m:e>
                        <m:r>
                          <a:rPr lang="es-ES" b="1" i="1" smtClean="0">
                            <a:latin typeface="Cambria Math" panose="02040503050406030204" pitchFamily="18" charset="0"/>
                            <a:ea typeface="Cambria Math" panose="02040503050406030204" pitchFamily="18" charset="0"/>
                          </a:rPr>
                          <m:t> </m:t>
                        </m:r>
                        <m:r>
                          <a:rPr lang="es-ES" b="1" i="1" smtClean="0">
                            <a:latin typeface="Cambria Math" panose="02040503050406030204" pitchFamily="18" charset="0"/>
                            <a:ea typeface="Cambria Math" panose="02040503050406030204" pitchFamily="18" charset="0"/>
                          </a:rPr>
                          <m:t>𝒙</m:t>
                        </m:r>
                      </m:e>
                      <m:sub>
                        <m:r>
                          <a:rPr lang="es-ES" b="1" i="1">
                            <a:latin typeface="Cambria Math" panose="02040503050406030204" pitchFamily="18" charset="0"/>
                            <a:ea typeface="Cambria Math" panose="02040503050406030204" pitchFamily="18" charset="0"/>
                          </a:rPr>
                          <m:t>𝒊</m:t>
                        </m:r>
                      </m:sub>
                    </m:sSub>
                  </m:oMath>
                </a14:m>
                <a:r>
                  <a:rPr lang="es-ES" dirty="0">
                    <a:latin typeface="Cambria Math" panose="02040503050406030204" pitchFamily="18" charset="0"/>
                    <a:ea typeface="Cambria Math" panose="02040503050406030204" pitchFamily="18" charset="0"/>
                  </a:rPr>
                  <a:t> : input vector 1xp</a:t>
                </a:r>
              </a:p>
              <a:p>
                <a:r>
                  <a:rPr lang="es-ES" dirty="0">
                    <a:latin typeface="Cambria Math" panose="02040503050406030204" pitchFamily="18" charset="0"/>
                    <a:ea typeface="Cambria Math" panose="02040503050406030204" pitchFamily="18" charset="0"/>
                  </a:rPr>
                  <a:t> </a:t>
                </a:r>
                <a14:m>
                  <m:oMath xmlns:m="http://schemas.openxmlformats.org/officeDocument/2006/math">
                    <m:sSub>
                      <m:sSubPr>
                        <m:ctrlPr>
                          <a:rPr lang="es-ES" b="1" i="1">
                            <a:latin typeface="Cambria Math" panose="02040503050406030204" pitchFamily="18" charset="0"/>
                            <a:ea typeface="Cambria Math" panose="02040503050406030204" pitchFamily="18" charset="0"/>
                          </a:rPr>
                        </m:ctrlPr>
                      </m:sSubPr>
                      <m:e>
                        <m:r>
                          <a:rPr lang="es-ES" b="1" i="1">
                            <a:latin typeface="Cambria Math" panose="02040503050406030204" pitchFamily="18" charset="0"/>
                            <a:ea typeface="Cambria Math" panose="02040503050406030204" pitchFamily="18" charset="0"/>
                          </a:rPr>
                          <m:t>𝒚</m:t>
                        </m:r>
                      </m:e>
                      <m:sub>
                        <m:r>
                          <a:rPr lang="es-ES" b="1" i="1">
                            <a:latin typeface="Cambria Math" panose="02040503050406030204" pitchFamily="18" charset="0"/>
                            <a:ea typeface="Cambria Math" panose="02040503050406030204" pitchFamily="18" charset="0"/>
                          </a:rPr>
                          <m:t>𝒊</m:t>
                        </m:r>
                      </m:sub>
                    </m:sSub>
                    <m:r>
                      <a:rPr lang="es-ES" b="1"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{−1,1}</m:t>
                    </m:r>
                  </m:oMath>
                </a14:m>
                <a:endParaRPr lang="es-ES_tradnl" dirty="0"/>
              </a:p>
              <a:p>
                <a:endParaRPr lang="es-ES" dirty="0"/>
              </a:p>
            </p:txBody>
          </p:sp>
        </mc:Choice>
        <mc:Fallback xmlns="">
          <p:sp>
            <p:nvSpPr>
              <p:cNvPr id="51" name="CuadroTexto 50">
                <a:extLst>
                  <a:ext uri="{FF2B5EF4-FFF2-40B4-BE49-F238E27FC236}">
                    <a16:creationId xmlns:a16="http://schemas.microsoft.com/office/drawing/2014/main" id="{8AE6DC34-9BDD-4616-B9CC-12825E474412}"/>
                  </a:ext>
                </a:extLst>
              </p:cNvPr>
              <p:cNvSpPr txBox="1">
                <a:spLocks noRot="1" noChangeAspect="1" noMove="1" noResize="1" noEditPoints="1" noAdjustHandles="1" noChangeArrowheads="1" noChangeShapeType="1" noTextEdit="1"/>
              </p:cNvSpPr>
              <p:nvPr/>
            </p:nvSpPr>
            <p:spPr>
              <a:xfrm>
                <a:off x="609600" y="4618672"/>
                <a:ext cx="2590800" cy="1477328"/>
              </a:xfrm>
              <a:prstGeom prst="rect">
                <a:avLst/>
              </a:prstGeom>
              <a:blipFill>
                <a:blip r:embed="rId8"/>
                <a:stretch>
                  <a:fillRect l="-1882" t="-330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2" name="Rectángulo 51">
                <a:extLst>
                  <a:ext uri="{FF2B5EF4-FFF2-40B4-BE49-F238E27FC236}">
                    <a16:creationId xmlns:a16="http://schemas.microsoft.com/office/drawing/2014/main" id="{660F961F-99E6-48A6-A529-E8E6CE79B1A9}"/>
                  </a:ext>
                </a:extLst>
              </p:cNvPr>
              <p:cNvSpPr/>
              <p:nvPr/>
            </p:nvSpPr>
            <p:spPr>
              <a:xfrm>
                <a:off x="3669766" y="5183120"/>
                <a:ext cx="1132361" cy="6594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ea typeface="Cambria Math" panose="02040503050406030204" pitchFamily="18" charset="0"/>
                        </a:rPr>
                        <m:t>𝑀</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1</m:t>
                          </m:r>
                        </m:num>
                        <m:den>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den>
                      </m:f>
                    </m:oMath>
                  </m:oMathPara>
                </a14:m>
                <a:endParaRPr lang="es-ES_tradnl" dirty="0"/>
              </a:p>
            </p:txBody>
          </p:sp>
        </mc:Choice>
        <mc:Fallback xmlns="">
          <p:sp>
            <p:nvSpPr>
              <p:cNvPr id="52" name="Rectángulo 51">
                <a:extLst>
                  <a:ext uri="{FF2B5EF4-FFF2-40B4-BE49-F238E27FC236}">
                    <a16:creationId xmlns:a16="http://schemas.microsoft.com/office/drawing/2014/main" id="{660F961F-99E6-48A6-A529-E8E6CE79B1A9}"/>
                  </a:ext>
                </a:extLst>
              </p:cNvPr>
              <p:cNvSpPr>
                <a:spLocks noRot="1" noChangeAspect="1" noMove="1" noResize="1" noEditPoints="1" noAdjustHandles="1" noChangeArrowheads="1" noChangeShapeType="1" noTextEdit="1"/>
              </p:cNvSpPr>
              <p:nvPr/>
            </p:nvSpPr>
            <p:spPr>
              <a:xfrm>
                <a:off x="3669766" y="5183120"/>
                <a:ext cx="1132361" cy="659411"/>
              </a:xfrm>
              <a:prstGeom prst="rect">
                <a:avLst/>
              </a:prstGeom>
              <a:blipFill>
                <a:blip r:embed="rId9"/>
                <a:stretch>
                  <a:fillRect/>
                </a:stretch>
              </a:blipFill>
            </p:spPr>
            <p:txBody>
              <a:bodyPr/>
              <a:lstStyle/>
              <a:p>
                <a:r>
                  <a:rPr lang="es-ES_tradnl">
                    <a:noFill/>
                  </a:rPr>
                  <a:t> </a:t>
                </a:r>
              </a:p>
            </p:txBody>
          </p:sp>
        </mc:Fallback>
      </mc:AlternateContent>
      <p:sp>
        <p:nvSpPr>
          <p:cNvPr id="53" name="CuadroTexto 52">
            <a:extLst>
              <a:ext uri="{FF2B5EF4-FFF2-40B4-BE49-F238E27FC236}">
                <a16:creationId xmlns:a16="http://schemas.microsoft.com/office/drawing/2014/main" id="{DF58247A-639B-4B9D-B6FC-5B480E480E83}"/>
              </a:ext>
            </a:extLst>
          </p:cNvPr>
          <p:cNvSpPr txBox="1"/>
          <p:nvPr/>
        </p:nvSpPr>
        <p:spPr>
          <a:xfrm>
            <a:off x="5197555" y="4969324"/>
            <a:ext cx="1828800" cy="923330"/>
          </a:xfrm>
          <a:prstGeom prst="rect">
            <a:avLst/>
          </a:prstGeom>
          <a:noFill/>
        </p:spPr>
        <p:txBody>
          <a:bodyPr wrap="square" rtlCol="0">
            <a:spAutoFit/>
          </a:bodyPr>
          <a:lstStyle/>
          <a:p>
            <a:pPr algn="ctr"/>
            <a:r>
              <a:rPr lang="es-ES" b="1" dirty="0" err="1">
                <a:solidFill>
                  <a:srgbClr val="FF0000"/>
                </a:solidFill>
              </a:rPr>
              <a:t>Convex</a:t>
            </a:r>
            <a:r>
              <a:rPr lang="es-ES" b="1" dirty="0">
                <a:solidFill>
                  <a:srgbClr val="FF0000"/>
                </a:solidFill>
              </a:rPr>
              <a:t> </a:t>
            </a:r>
            <a:r>
              <a:rPr lang="es-ES" b="1" dirty="0" err="1">
                <a:solidFill>
                  <a:srgbClr val="FF0000"/>
                </a:solidFill>
              </a:rPr>
              <a:t>optimization</a:t>
            </a:r>
            <a:r>
              <a:rPr lang="es-ES" b="1" dirty="0">
                <a:solidFill>
                  <a:srgbClr val="FF0000"/>
                </a:solidFill>
              </a:rPr>
              <a:t> </a:t>
            </a:r>
            <a:r>
              <a:rPr lang="es-ES" b="1" dirty="0" err="1">
                <a:solidFill>
                  <a:srgbClr val="FF0000"/>
                </a:solidFill>
              </a:rPr>
              <a:t>problem</a:t>
            </a:r>
            <a:endParaRPr lang="es-ES_tradnl" b="1" dirty="0">
              <a:solidFill>
                <a:srgbClr val="FF0000"/>
              </a:solidFill>
            </a:endParaRPr>
          </a:p>
        </p:txBody>
      </p:sp>
      <mc:AlternateContent xmlns:mc="http://schemas.openxmlformats.org/markup-compatibility/2006" xmlns:a14="http://schemas.microsoft.com/office/drawing/2010/main">
        <mc:Choice Requires="a14">
          <p:sp>
            <p:nvSpPr>
              <p:cNvPr id="42" name="Rectángulo 41">
                <a:extLst>
                  <a:ext uri="{FF2B5EF4-FFF2-40B4-BE49-F238E27FC236}">
                    <a16:creationId xmlns:a16="http://schemas.microsoft.com/office/drawing/2014/main" id="{D15B7C7E-0EA0-41F0-8319-7DA4CA4268A4}"/>
                  </a:ext>
                </a:extLst>
              </p:cNvPr>
              <p:cNvSpPr/>
              <p:nvPr/>
            </p:nvSpPr>
            <p:spPr>
              <a:xfrm>
                <a:off x="946065" y="3867090"/>
                <a:ext cx="2254335" cy="400110"/>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s-ES" sz="2000" dirty="0">
                    <a:ea typeface="Cambria Math" panose="02040503050406030204" pitchFamily="18" charset="0"/>
                  </a:rPr>
                  <a:t> </a:t>
                </a:r>
                <a14:m>
                  <m:oMath xmlns:m="http://schemas.openxmlformats.org/officeDocument/2006/math">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42" name="Rectángulo 41">
                <a:extLst>
                  <a:ext uri="{FF2B5EF4-FFF2-40B4-BE49-F238E27FC236}">
                    <a16:creationId xmlns:a16="http://schemas.microsoft.com/office/drawing/2014/main" id="{D15B7C7E-0EA0-41F0-8319-7DA4CA4268A4}"/>
                  </a:ext>
                </a:extLst>
              </p:cNvPr>
              <p:cNvSpPr>
                <a:spLocks noRot="1" noChangeAspect="1" noMove="1" noResize="1" noEditPoints="1" noAdjustHandles="1" noChangeArrowheads="1" noChangeShapeType="1" noTextEdit="1"/>
              </p:cNvSpPr>
              <p:nvPr/>
            </p:nvSpPr>
            <p:spPr>
              <a:xfrm>
                <a:off x="946065" y="3867090"/>
                <a:ext cx="2254335" cy="400110"/>
              </a:xfrm>
              <a:prstGeom prst="rect">
                <a:avLst/>
              </a:prstGeom>
              <a:blipFill>
                <a:blip r:embed="rId12"/>
                <a:stretch>
                  <a:fillRect b="-1515"/>
                </a:stretch>
              </a:blipFill>
            </p:spPr>
            <p:txBody>
              <a:bodyPr/>
              <a:lstStyle/>
              <a:p>
                <a:r>
                  <a:rPr lang="es-ES_tradnl">
                    <a:noFill/>
                  </a:rPr>
                  <a:t> </a:t>
                </a:r>
              </a:p>
            </p:txBody>
          </p:sp>
        </mc:Fallback>
      </mc:AlternateContent>
      <p:cxnSp>
        <p:nvCxnSpPr>
          <p:cNvPr id="82" name="Conector recto de flecha 20">
            <a:extLst>
              <a:ext uri="{FF2B5EF4-FFF2-40B4-BE49-F238E27FC236}">
                <a16:creationId xmlns:a16="http://schemas.microsoft.com/office/drawing/2014/main" id="{6D711FF0-5D20-4CA2-84A9-46814CF8A663}"/>
              </a:ext>
            </a:extLst>
          </p:cNvPr>
          <p:cNvCxnSpPr/>
          <p:nvPr/>
        </p:nvCxnSpPr>
        <p:spPr>
          <a:xfrm>
            <a:off x="6087435" y="1841168"/>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3" name="Conector recto de flecha 21">
            <a:extLst>
              <a:ext uri="{FF2B5EF4-FFF2-40B4-BE49-F238E27FC236}">
                <a16:creationId xmlns:a16="http://schemas.microsoft.com/office/drawing/2014/main" id="{6FDE8F01-EFF9-4E4A-BD44-ED00AB90CD81}"/>
              </a:ext>
            </a:extLst>
          </p:cNvPr>
          <p:cNvCxnSpPr/>
          <p:nvPr/>
        </p:nvCxnSpPr>
        <p:spPr>
          <a:xfrm>
            <a:off x="6087435" y="3940526"/>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Conector recto 22">
            <a:extLst>
              <a:ext uri="{FF2B5EF4-FFF2-40B4-BE49-F238E27FC236}">
                <a16:creationId xmlns:a16="http://schemas.microsoft.com/office/drawing/2014/main" id="{DE35CA53-5B1A-4462-A096-AF35D94B19ED}"/>
              </a:ext>
            </a:extLst>
          </p:cNvPr>
          <p:cNvCxnSpPr>
            <a:cxnSpLocks/>
          </p:cNvCxnSpPr>
          <p:nvPr/>
        </p:nvCxnSpPr>
        <p:spPr>
          <a:xfrm>
            <a:off x="5554035" y="2187926"/>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CuadroTexto 23">
                <a:extLst>
                  <a:ext uri="{FF2B5EF4-FFF2-40B4-BE49-F238E27FC236}">
                    <a16:creationId xmlns:a16="http://schemas.microsoft.com/office/drawing/2014/main" id="{D24A5E25-2757-4B25-BAF1-CB70BAEA17DA}"/>
                  </a:ext>
                </a:extLst>
              </p:cNvPr>
              <p:cNvSpPr txBox="1"/>
              <p:nvPr/>
            </p:nvSpPr>
            <p:spPr>
              <a:xfrm>
                <a:off x="7437264" y="3174078"/>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85" name="CuadroTexto 23">
                <a:extLst>
                  <a:ext uri="{FF2B5EF4-FFF2-40B4-BE49-F238E27FC236}">
                    <a16:creationId xmlns:a16="http://schemas.microsoft.com/office/drawing/2014/main" id="{D24A5E25-2757-4B25-BAF1-CB70BAEA17DA}"/>
                  </a:ext>
                </a:extLst>
              </p:cNvPr>
              <p:cNvSpPr txBox="1">
                <a:spLocks noRot="1" noChangeAspect="1" noMove="1" noResize="1" noEditPoints="1" noAdjustHandles="1" noChangeArrowheads="1" noChangeShapeType="1" noTextEdit="1"/>
              </p:cNvSpPr>
              <p:nvPr/>
            </p:nvSpPr>
            <p:spPr>
              <a:xfrm>
                <a:off x="7437264" y="3174078"/>
                <a:ext cx="1554336" cy="276999"/>
              </a:xfrm>
              <a:prstGeom prst="rect">
                <a:avLst/>
              </a:prstGeom>
              <a:blipFill>
                <a:blip r:embed="rId13"/>
                <a:stretch>
                  <a:fillRect l="-4706" t="-4444" r="-3529" b="-35556"/>
                </a:stretch>
              </a:blipFill>
            </p:spPr>
            <p:txBody>
              <a:bodyPr/>
              <a:lstStyle/>
              <a:p>
                <a:r>
                  <a:rPr lang="es-ES">
                    <a:noFill/>
                  </a:rPr>
                  <a:t> </a:t>
                </a:r>
              </a:p>
            </p:txBody>
          </p:sp>
        </mc:Fallback>
      </mc:AlternateContent>
      <p:cxnSp>
        <p:nvCxnSpPr>
          <p:cNvPr id="86" name="Conector recto 24">
            <a:extLst>
              <a:ext uri="{FF2B5EF4-FFF2-40B4-BE49-F238E27FC236}">
                <a16:creationId xmlns:a16="http://schemas.microsoft.com/office/drawing/2014/main" id="{9E587CF6-2FA1-4BE1-96A6-EAF74BD26F61}"/>
              </a:ext>
            </a:extLst>
          </p:cNvPr>
          <p:cNvCxnSpPr>
            <a:cxnSpLocks/>
          </p:cNvCxnSpPr>
          <p:nvPr/>
        </p:nvCxnSpPr>
        <p:spPr>
          <a:xfrm>
            <a:off x="5870170" y="188392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87" name="Conector recto 25">
            <a:extLst>
              <a:ext uri="{FF2B5EF4-FFF2-40B4-BE49-F238E27FC236}">
                <a16:creationId xmlns:a16="http://schemas.microsoft.com/office/drawing/2014/main" id="{E3D2642C-2106-403A-98A4-42BA697EDD50}"/>
              </a:ext>
            </a:extLst>
          </p:cNvPr>
          <p:cNvCxnSpPr>
            <a:cxnSpLocks/>
          </p:cNvCxnSpPr>
          <p:nvPr/>
        </p:nvCxnSpPr>
        <p:spPr>
          <a:xfrm>
            <a:off x="5412970" y="2593896"/>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88" name="Conector recto 26">
            <a:extLst>
              <a:ext uri="{FF2B5EF4-FFF2-40B4-BE49-F238E27FC236}">
                <a16:creationId xmlns:a16="http://schemas.microsoft.com/office/drawing/2014/main" id="{EA610A91-45BF-49BC-88D9-F8BF04493EB6}"/>
              </a:ext>
            </a:extLst>
          </p:cNvPr>
          <p:cNvCxnSpPr>
            <a:cxnSpLocks/>
          </p:cNvCxnSpPr>
          <p:nvPr/>
        </p:nvCxnSpPr>
        <p:spPr>
          <a:xfrm flipV="1">
            <a:off x="6544635" y="2584574"/>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Rectángulo 27">
                <a:extLst>
                  <a:ext uri="{FF2B5EF4-FFF2-40B4-BE49-F238E27FC236}">
                    <a16:creationId xmlns:a16="http://schemas.microsoft.com/office/drawing/2014/main" id="{22532E47-F8AA-4AD2-B5D9-6989AD0A18F6}"/>
                  </a:ext>
                </a:extLst>
              </p:cNvPr>
              <p:cNvSpPr/>
              <p:nvPr/>
            </p:nvSpPr>
            <p:spPr>
              <a:xfrm>
                <a:off x="6332858" y="2476500"/>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89" name="Rectángulo 27">
                <a:extLst>
                  <a:ext uri="{FF2B5EF4-FFF2-40B4-BE49-F238E27FC236}">
                    <a16:creationId xmlns:a16="http://schemas.microsoft.com/office/drawing/2014/main" id="{22532E47-F8AA-4AD2-B5D9-6989AD0A18F6}"/>
                  </a:ext>
                </a:extLst>
              </p:cNvPr>
              <p:cNvSpPr>
                <a:spLocks noRot="1" noChangeAspect="1" noMove="1" noResize="1" noEditPoints="1" noAdjustHandles="1" noChangeArrowheads="1" noChangeShapeType="1" noTextEdit="1"/>
              </p:cNvSpPr>
              <p:nvPr/>
            </p:nvSpPr>
            <p:spPr>
              <a:xfrm>
                <a:off x="6332858" y="2476500"/>
                <a:ext cx="410882" cy="338554"/>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0" name="Rectángulo 28">
                <a:extLst>
                  <a:ext uri="{FF2B5EF4-FFF2-40B4-BE49-F238E27FC236}">
                    <a16:creationId xmlns:a16="http://schemas.microsoft.com/office/drawing/2014/main" id="{A3AA9960-8325-42EE-9BC4-B7C9EA476D3A}"/>
                  </a:ext>
                </a:extLst>
              </p:cNvPr>
              <p:cNvSpPr/>
              <p:nvPr/>
            </p:nvSpPr>
            <p:spPr>
              <a:xfrm>
                <a:off x="6514753" y="3116878"/>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90" name="Rectángulo 28">
                <a:extLst>
                  <a:ext uri="{FF2B5EF4-FFF2-40B4-BE49-F238E27FC236}">
                    <a16:creationId xmlns:a16="http://schemas.microsoft.com/office/drawing/2014/main" id="{A3AA9960-8325-42EE-9BC4-B7C9EA476D3A}"/>
                  </a:ext>
                </a:extLst>
              </p:cNvPr>
              <p:cNvSpPr>
                <a:spLocks noRot="1" noChangeAspect="1" noMove="1" noResize="1" noEditPoints="1" noAdjustHandles="1" noChangeArrowheads="1" noChangeShapeType="1" noTextEdit="1"/>
              </p:cNvSpPr>
              <p:nvPr/>
            </p:nvSpPr>
            <p:spPr>
              <a:xfrm>
                <a:off x="6514753" y="3116878"/>
                <a:ext cx="410882" cy="338554"/>
              </a:xfrm>
              <a:prstGeom prst="rect">
                <a:avLst/>
              </a:prstGeom>
              <a:blipFill>
                <a:blip r:embed="rId15"/>
                <a:stretch>
                  <a:fillRect/>
                </a:stretch>
              </a:blipFill>
            </p:spPr>
            <p:txBody>
              <a:bodyPr/>
              <a:lstStyle/>
              <a:p>
                <a:r>
                  <a:rPr lang="es-ES">
                    <a:noFill/>
                  </a:rPr>
                  <a:t> </a:t>
                </a:r>
              </a:p>
            </p:txBody>
          </p:sp>
        </mc:Fallback>
      </mc:AlternateContent>
      <p:cxnSp>
        <p:nvCxnSpPr>
          <p:cNvPr id="91" name="Conector recto 29">
            <a:extLst>
              <a:ext uri="{FF2B5EF4-FFF2-40B4-BE49-F238E27FC236}">
                <a16:creationId xmlns:a16="http://schemas.microsoft.com/office/drawing/2014/main" id="{08E610E2-5B4F-46FA-ACFD-44CBDB4FF4AE}"/>
              </a:ext>
            </a:extLst>
          </p:cNvPr>
          <p:cNvCxnSpPr>
            <a:cxnSpLocks/>
          </p:cNvCxnSpPr>
          <p:nvPr/>
        </p:nvCxnSpPr>
        <p:spPr>
          <a:xfrm flipV="1">
            <a:off x="6735846" y="3234227"/>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2" name="Diagrama de flujo: conector 30">
            <a:extLst>
              <a:ext uri="{FF2B5EF4-FFF2-40B4-BE49-F238E27FC236}">
                <a16:creationId xmlns:a16="http://schemas.microsoft.com/office/drawing/2014/main" id="{B72BB5F2-A067-494B-B42D-3851FBD20DA7}"/>
              </a:ext>
            </a:extLst>
          </p:cNvPr>
          <p:cNvSpPr/>
          <p:nvPr/>
        </p:nvSpPr>
        <p:spPr>
          <a:xfrm flipV="1">
            <a:off x="7021640" y="2101506"/>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3" name="Diagrama de flujo: conector 31">
            <a:extLst>
              <a:ext uri="{FF2B5EF4-FFF2-40B4-BE49-F238E27FC236}">
                <a16:creationId xmlns:a16="http://schemas.microsoft.com/office/drawing/2014/main" id="{D9655D3C-6FAF-44C8-AD18-EFD718033C5F}"/>
              </a:ext>
            </a:extLst>
          </p:cNvPr>
          <p:cNvSpPr/>
          <p:nvPr/>
        </p:nvSpPr>
        <p:spPr>
          <a:xfrm>
            <a:off x="7535235" y="25410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4" name="Diagrama de flujo: conector 32">
            <a:extLst>
              <a:ext uri="{FF2B5EF4-FFF2-40B4-BE49-F238E27FC236}">
                <a16:creationId xmlns:a16="http://schemas.microsoft.com/office/drawing/2014/main" id="{EB57C14A-199E-46EA-8AFA-62A8AE73FC79}"/>
              </a:ext>
            </a:extLst>
          </p:cNvPr>
          <p:cNvSpPr/>
          <p:nvPr/>
        </p:nvSpPr>
        <p:spPr>
          <a:xfrm flipV="1">
            <a:off x="7611435" y="19314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5" name="Diagrama de flujo: conector 33">
            <a:extLst>
              <a:ext uri="{FF2B5EF4-FFF2-40B4-BE49-F238E27FC236}">
                <a16:creationId xmlns:a16="http://schemas.microsoft.com/office/drawing/2014/main" id="{670237E7-7EA8-4EEF-AE0B-47800E68F4ED}"/>
              </a:ext>
            </a:extLst>
          </p:cNvPr>
          <p:cNvSpPr/>
          <p:nvPr/>
        </p:nvSpPr>
        <p:spPr>
          <a:xfrm flipV="1">
            <a:off x="7611435" y="3118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6" name="Diagrama de flujo: extraer 34">
            <a:extLst>
              <a:ext uri="{FF2B5EF4-FFF2-40B4-BE49-F238E27FC236}">
                <a16:creationId xmlns:a16="http://schemas.microsoft.com/office/drawing/2014/main" id="{6E519D1D-5ACB-4D4E-9914-CFDD8E6EE549}"/>
              </a:ext>
            </a:extLst>
          </p:cNvPr>
          <p:cNvSpPr/>
          <p:nvPr/>
        </p:nvSpPr>
        <p:spPr>
          <a:xfrm>
            <a:off x="5782635" y="35582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7" name="Diagrama de flujo: extraer 35">
            <a:extLst>
              <a:ext uri="{FF2B5EF4-FFF2-40B4-BE49-F238E27FC236}">
                <a16:creationId xmlns:a16="http://schemas.microsoft.com/office/drawing/2014/main" id="{2C854050-CE6E-4D54-9A7D-A5AFB3EF2A29}"/>
              </a:ext>
            </a:extLst>
          </p:cNvPr>
          <p:cNvSpPr/>
          <p:nvPr/>
        </p:nvSpPr>
        <p:spPr>
          <a:xfrm>
            <a:off x="6589035" y="3710627"/>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8" name="Diagrama de flujo: extraer 36">
            <a:extLst>
              <a:ext uri="{FF2B5EF4-FFF2-40B4-BE49-F238E27FC236}">
                <a16:creationId xmlns:a16="http://schemas.microsoft.com/office/drawing/2014/main" id="{5F4E2517-4AA6-4E04-944D-BDF9B4585087}"/>
              </a:ext>
            </a:extLst>
          </p:cNvPr>
          <p:cNvSpPr/>
          <p:nvPr/>
        </p:nvSpPr>
        <p:spPr>
          <a:xfrm>
            <a:off x="7427235" y="40650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9" name="Diagrama de flujo: extraer 37">
            <a:extLst>
              <a:ext uri="{FF2B5EF4-FFF2-40B4-BE49-F238E27FC236}">
                <a16:creationId xmlns:a16="http://schemas.microsoft.com/office/drawing/2014/main" id="{2B582DC6-DB42-4465-8592-B0997EE36A8A}"/>
              </a:ext>
            </a:extLst>
          </p:cNvPr>
          <p:cNvSpPr/>
          <p:nvPr/>
        </p:nvSpPr>
        <p:spPr>
          <a:xfrm>
            <a:off x="5706435" y="2769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0" name="Diagrama de flujo: extraer 38">
            <a:extLst>
              <a:ext uri="{FF2B5EF4-FFF2-40B4-BE49-F238E27FC236}">
                <a16:creationId xmlns:a16="http://schemas.microsoft.com/office/drawing/2014/main" id="{EE03FD6E-EA46-482B-9519-B808886E5D2C}"/>
              </a:ext>
            </a:extLst>
          </p:cNvPr>
          <p:cNvSpPr/>
          <p:nvPr/>
        </p:nvSpPr>
        <p:spPr>
          <a:xfrm>
            <a:off x="6512835" y="418563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1" name="Diagrama de flujo: conector 39">
            <a:extLst>
              <a:ext uri="{FF2B5EF4-FFF2-40B4-BE49-F238E27FC236}">
                <a16:creationId xmlns:a16="http://schemas.microsoft.com/office/drawing/2014/main" id="{93499A8D-357C-4D8D-9C20-E800DE641139}"/>
              </a:ext>
            </a:extLst>
          </p:cNvPr>
          <p:cNvSpPr/>
          <p:nvPr/>
        </p:nvSpPr>
        <p:spPr>
          <a:xfrm flipV="1">
            <a:off x="8341635" y="26172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2" name="Diagrama de flujo: conector 40">
            <a:extLst>
              <a:ext uri="{FF2B5EF4-FFF2-40B4-BE49-F238E27FC236}">
                <a16:creationId xmlns:a16="http://schemas.microsoft.com/office/drawing/2014/main" id="{4F0A1A51-C3E3-41B8-822E-004222DAD616}"/>
              </a:ext>
            </a:extLst>
          </p:cNvPr>
          <p:cNvSpPr/>
          <p:nvPr/>
        </p:nvSpPr>
        <p:spPr>
          <a:xfrm flipV="1">
            <a:off x="6620835" y="1702832"/>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3" name="Diagrama de flujo: extraer 44">
            <a:extLst>
              <a:ext uri="{FF2B5EF4-FFF2-40B4-BE49-F238E27FC236}">
                <a16:creationId xmlns:a16="http://schemas.microsoft.com/office/drawing/2014/main" id="{9D799574-9BE4-4759-A2A8-6EC17071B6F9}"/>
              </a:ext>
            </a:extLst>
          </p:cNvPr>
          <p:cNvSpPr/>
          <p:nvPr/>
        </p:nvSpPr>
        <p:spPr>
          <a:xfrm>
            <a:off x="7217064" y="3054382"/>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4" name="Diagrama de flujo: conector 45">
            <a:extLst>
              <a:ext uri="{FF2B5EF4-FFF2-40B4-BE49-F238E27FC236}">
                <a16:creationId xmlns:a16="http://schemas.microsoft.com/office/drawing/2014/main" id="{30F2507A-96A1-4A00-8038-BD954C352A92}"/>
              </a:ext>
            </a:extLst>
          </p:cNvPr>
          <p:cNvSpPr/>
          <p:nvPr/>
        </p:nvSpPr>
        <p:spPr>
          <a:xfrm>
            <a:off x="5611996" y="2532027"/>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05" name="Conector recto 54">
            <a:extLst>
              <a:ext uri="{FF2B5EF4-FFF2-40B4-BE49-F238E27FC236}">
                <a16:creationId xmlns:a16="http://schemas.microsoft.com/office/drawing/2014/main" id="{4ECE3611-0F3D-4446-8D2F-5F02E1F29E94}"/>
              </a:ext>
            </a:extLst>
          </p:cNvPr>
          <p:cNvCxnSpPr>
            <a:cxnSpLocks/>
          </p:cNvCxnSpPr>
          <p:nvPr/>
        </p:nvCxnSpPr>
        <p:spPr>
          <a:xfrm flipV="1">
            <a:off x="6910944" y="3203964"/>
            <a:ext cx="381907" cy="506664"/>
          </a:xfrm>
          <a:prstGeom prst="line">
            <a:avLst/>
          </a:prstGeom>
          <a:ln w="254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6" name="Conector recto 56">
            <a:extLst>
              <a:ext uri="{FF2B5EF4-FFF2-40B4-BE49-F238E27FC236}">
                <a16:creationId xmlns:a16="http://schemas.microsoft.com/office/drawing/2014/main" id="{1743C530-2A5A-4EFE-AE50-4B0F260D1F2B}"/>
              </a:ext>
            </a:extLst>
          </p:cNvPr>
          <p:cNvCxnSpPr>
            <a:cxnSpLocks/>
            <a:stCxn id="104" idx="7"/>
          </p:cNvCxnSpPr>
          <p:nvPr/>
        </p:nvCxnSpPr>
        <p:spPr>
          <a:xfrm flipV="1">
            <a:off x="5704180" y="2012105"/>
            <a:ext cx="393881" cy="535738"/>
          </a:xfrm>
          <a:prstGeom prst="line">
            <a:avLst/>
          </a:prstGeom>
          <a:ln w="25400">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Rectángulo 57">
                <a:extLst>
                  <a:ext uri="{FF2B5EF4-FFF2-40B4-BE49-F238E27FC236}">
                    <a16:creationId xmlns:a16="http://schemas.microsoft.com/office/drawing/2014/main" id="{44F3FAD6-EE18-4672-9BA5-A44089D167BA}"/>
                  </a:ext>
                </a:extLst>
              </p:cNvPr>
              <p:cNvSpPr/>
              <p:nvPr/>
            </p:nvSpPr>
            <p:spPr>
              <a:xfrm>
                <a:off x="5594190" y="1952319"/>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107" name="Rectángulo 57">
                <a:extLst>
                  <a:ext uri="{FF2B5EF4-FFF2-40B4-BE49-F238E27FC236}">
                    <a16:creationId xmlns:a16="http://schemas.microsoft.com/office/drawing/2014/main" id="{44F3FAD6-EE18-4672-9BA5-A44089D167BA}"/>
                  </a:ext>
                </a:extLst>
              </p:cNvPr>
              <p:cNvSpPr>
                <a:spLocks noRot="1" noChangeAspect="1" noMove="1" noResize="1" noEditPoints="1" noAdjustHandles="1" noChangeArrowheads="1" noChangeShapeType="1" noTextEdit="1"/>
              </p:cNvSpPr>
              <p:nvPr/>
            </p:nvSpPr>
            <p:spPr>
              <a:xfrm>
                <a:off x="5594190" y="1952319"/>
                <a:ext cx="387094" cy="338554"/>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8" name="Rectángulo 58">
                <a:extLst>
                  <a:ext uri="{FF2B5EF4-FFF2-40B4-BE49-F238E27FC236}">
                    <a16:creationId xmlns:a16="http://schemas.microsoft.com/office/drawing/2014/main" id="{91332BAA-966E-47D6-A549-A5E52E680E4A}"/>
                  </a:ext>
                </a:extLst>
              </p:cNvPr>
              <p:cNvSpPr/>
              <p:nvPr/>
            </p:nvSpPr>
            <p:spPr>
              <a:xfrm>
                <a:off x="7004248" y="3371106"/>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108" name="Rectángulo 58">
                <a:extLst>
                  <a:ext uri="{FF2B5EF4-FFF2-40B4-BE49-F238E27FC236}">
                    <a16:creationId xmlns:a16="http://schemas.microsoft.com/office/drawing/2014/main" id="{91332BAA-966E-47D6-A549-A5E52E680E4A}"/>
                  </a:ext>
                </a:extLst>
              </p:cNvPr>
              <p:cNvSpPr>
                <a:spLocks noRot="1" noChangeAspect="1" noMove="1" noResize="1" noEditPoints="1" noAdjustHandles="1" noChangeArrowheads="1" noChangeShapeType="1" noTextEdit="1"/>
              </p:cNvSpPr>
              <p:nvPr/>
            </p:nvSpPr>
            <p:spPr>
              <a:xfrm>
                <a:off x="7004248" y="3371106"/>
                <a:ext cx="387094" cy="338554"/>
              </a:xfrm>
              <a:prstGeom prst="rect">
                <a:avLst/>
              </a:prstGeom>
              <a:blipFill>
                <a:blip r:embed="rId1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9319705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Dual formulation </a:t>
            </a:r>
          </a:p>
          <a:p>
            <a:pPr algn="just">
              <a:spcBef>
                <a:spcPct val="50000"/>
              </a:spcBef>
            </a:pPr>
            <a:endParaRPr lang="es-ES" b="1" dirty="0"/>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729734"/>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572203" y="4291100"/>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572203" y="4291100"/>
                <a:ext cx="4533197" cy="307777"/>
              </a:xfrm>
              <a:prstGeom prst="rect">
                <a:avLst/>
              </a:prstGeom>
              <a:blipFill>
                <a:blip r:embed="rId3"/>
                <a:stretch>
                  <a:fillRect b="-1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1136C05-3DA5-4D8C-808B-73426413394C}"/>
                  </a:ext>
                </a:extLst>
              </p:cNvPr>
              <p:cNvSpPr txBox="1"/>
              <p:nvPr/>
            </p:nvSpPr>
            <p:spPr>
              <a:xfrm>
                <a:off x="515270" y="1803712"/>
                <a:ext cx="2989930"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r>
                            <a:rPr lang="es-ES" sz="2000" b="0" i="1" smtClean="0">
                              <a:latin typeface="Cambria Math" panose="02040503050406030204" pitchFamily="18" charset="0"/>
                            </a:rPr>
                            <m:t>𝑚𝑎𝑥</m:t>
                          </m:r>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b="0" i="1" smtClean="0">
                                  <a:latin typeface="Cambria Math" panose="02040503050406030204" pitchFamily="18" charset="0"/>
                                  <a:ea typeface="Cambria Math" panose="02040503050406030204" pitchFamily="18" charset="0"/>
                                </a:rPr>
                                <m:t>𝐷</m:t>
                              </m:r>
                            </m:sub>
                          </m:sSub>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r>
                                    <a:rPr lang="es-ES" sz="2000" b="0" i="1" smtClean="0">
                                      <a:latin typeface="Cambria Math" panose="02040503050406030204" pitchFamily="18" charset="0"/>
                                      <a:ea typeface="Cambria Math" panose="02040503050406030204" pitchFamily="18" charset="0"/>
                                    </a:rPr>
                                    <m:t>2</m:t>
                                  </m:r>
                                </m:den>
                              </m:f>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𝑘</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𝑘</m:t>
                                          </m:r>
                                        </m:sub>
                                      </m:sSub>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𝑥</m:t>
                                          </m:r>
                                        </m:e>
                                        <m:sub>
                                          <m:r>
                                            <a:rPr lang="es-ES" sz="2000" b="0" i="1" smtClean="0">
                                              <a:latin typeface="Cambria Math" panose="02040503050406030204" pitchFamily="18" charset="0"/>
                                            </a:rPr>
                                            <m:t>𝑘</m:t>
                                          </m:r>
                                        </m:sub>
                                      </m:sSub>
                                    </m:e>
                                  </m:nary>
                                </m:e>
                              </m:nary>
                            </m:e>
                          </m:nary>
                        </m:e>
                      </m:func>
                    </m:oMath>
                  </m:oMathPara>
                </a14:m>
                <a:endParaRPr lang="es-ES_tradnl" sz="2000" dirty="0"/>
              </a:p>
            </p:txBody>
          </p:sp>
        </mc:Choice>
        <mc:Fallback xmlns="">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15270" y="1803712"/>
                <a:ext cx="2989930" cy="840295"/>
              </a:xfrm>
              <a:prstGeom prst="rect">
                <a:avLst/>
              </a:prstGeom>
              <a:blipFill>
                <a:blip r:embed="rId4"/>
                <a:stretch>
                  <a:fillRect r="-5183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063092B3-6318-4A04-8541-4F2EF149839A}"/>
                  </a:ext>
                </a:extLst>
              </p:cNvPr>
              <p:cNvSpPr/>
              <p:nvPr/>
            </p:nvSpPr>
            <p:spPr>
              <a:xfrm>
                <a:off x="1299431" y="3148424"/>
                <a:ext cx="1558632"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e>
                      </m:nary>
                    </m:oMath>
                  </m:oMathPara>
                </a14:m>
                <a:endParaRPr lang="es-ES_tradnl" sz="2000" dirty="0"/>
              </a:p>
            </p:txBody>
          </p:sp>
        </mc:Choice>
        <mc:Fallback xmlns="">
          <p:sp>
            <p:nvSpPr>
              <p:cNvPr id="2" name="Rectángulo 1">
                <a:extLst>
                  <a:ext uri="{FF2B5EF4-FFF2-40B4-BE49-F238E27FC236}">
                    <a16:creationId xmlns:a16="http://schemas.microsoft.com/office/drawing/2014/main" id="{063092B3-6318-4A04-8541-4F2EF149839A}"/>
                  </a:ext>
                </a:extLst>
              </p:cNvPr>
              <p:cNvSpPr>
                <a:spLocks noRot="1" noChangeAspect="1" noMove="1" noResize="1" noEditPoints="1" noAdjustHandles="1" noChangeArrowheads="1" noChangeShapeType="1" noTextEdit="1"/>
              </p:cNvSpPr>
              <p:nvPr/>
            </p:nvSpPr>
            <p:spPr>
              <a:xfrm>
                <a:off x="1299431" y="3148424"/>
                <a:ext cx="1558632" cy="932628"/>
              </a:xfrm>
              <a:prstGeom prst="rect">
                <a:avLst/>
              </a:prstGeom>
              <a:blipFill>
                <a:blip r:embed="rId5"/>
                <a:stretch>
                  <a:fillRect/>
                </a:stretch>
              </a:blipFill>
            </p:spPr>
            <p:txBody>
              <a:bodyPr/>
              <a:lstStyle/>
              <a:p>
                <a:r>
                  <a:rPr lang="es-ES_tradnl">
                    <a:noFill/>
                  </a:rPr>
                  <a:t> </a:t>
                </a:r>
              </a:p>
            </p:txBody>
          </p:sp>
        </mc:Fallback>
      </mc:AlternateContent>
    </p:spTree>
    <p:extLst>
      <p:ext uri="{BB962C8B-B14F-4D97-AF65-F5344CB8AC3E}">
        <p14:creationId xmlns:p14="http://schemas.microsoft.com/office/powerpoint/2010/main" val="12855608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Optimal Solution: </a:t>
            </a:r>
          </a:p>
          <a:p>
            <a:pPr algn="just">
              <a:spcBef>
                <a:spcPct val="50000"/>
              </a:spcBef>
            </a:pPr>
            <a:endParaRPr lang="es-ES" b="1" dirty="0"/>
          </a:p>
        </p:txBody>
      </p:sp>
      <mc:AlternateContent xmlns:mc="http://schemas.openxmlformats.org/markup-compatibility/2006" xmlns:a14="http://schemas.microsoft.com/office/drawing/2010/main">
        <mc:Choice Requires="a14">
          <p:sp>
            <p:nvSpPr>
              <p:cNvPr id="12" name="Rectángulo 11">
                <a:extLst>
                  <a:ext uri="{FF2B5EF4-FFF2-40B4-BE49-F238E27FC236}">
                    <a16:creationId xmlns:a16="http://schemas.microsoft.com/office/drawing/2014/main" id="{4C86F3C6-F76A-4B01-BC85-5D92A9EE84B5}"/>
                  </a:ext>
                </a:extLst>
              </p:cNvPr>
              <p:cNvSpPr/>
              <p:nvPr/>
            </p:nvSpPr>
            <p:spPr>
              <a:xfrm>
                <a:off x="285086" y="1828800"/>
                <a:ext cx="2381914"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𝛽</m:t>
                      </m:r>
                      <m:r>
                        <a:rPr lang="es-ES" sz="2000" b="0" i="0" smtClean="0">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𝑥</m:t>
                              </m:r>
                            </m:e>
                            <m:sub>
                              <m:r>
                                <a:rPr lang="es-ES" sz="2000" b="0" i="1" smtClean="0">
                                  <a:latin typeface="Cambria Math" panose="02040503050406030204" pitchFamily="18" charset="0"/>
                                  <a:ea typeface="Cambria Math" panose="02040503050406030204" pitchFamily="18" charset="0"/>
                                </a:rPr>
                                <m:t>𝑖</m:t>
                              </m:r>
                            </m:sub>
                          </m:sSub>
                        </m:e>
                      </m:nary>
                    </m:oMath>
                  </m:oMathPara>
                </a14:m>
                <a:endParaRPr lang="es-ES_tradnl" sz="2000" dirty="0"/>
              </a:p>
            </p:txBody>
          </p:sp>
        </mc:Choice>
        <mc:Fallback xmlns="">
          <p:sp>
            <p:nvSpPr>
              <p:cNvPr id="12" name="Rectángulo 11">
                <a:extLst>
                  <a:ext uri="{FF2B5EF4-FFF2-40B4-BE49-F238E27FC236}">
                    <a16:creationId xmlns:a16="http://schemas.microsoft.com/office/drawing/2014/main" id="{4C86F3C6-F76A-4B01-BC85-5D92A9EE84B5}"/>
                  </a:ext>
                </a:extLst>
              </p:cNvPr>
              <p:cNvSpPr>
                <a:spLocks noRot="1" noChangeAspect="1" noMove="1" noResize="1" noEditPoints="1" noAdjustHandles="1" noChangeArrowheads="1" noChangeShapeType="1" noTextEdit="1"/>
              </p:cNvSpPr>
              <p:nvPr/>
            </p:nvSpPr>
            <p:spPr>
              <a:xfrm>
                <a:off x="285086" y="1828800"/>
                <a:ext cx="2381914" cy="932628"/>
              </a:xfrm>
              <a:prstGeom prst="rect">
                <a:avLst/>
              </a:prstGeom>
              <a:blipFill>
                <a:blip r:embed="rId3"/>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Rectángulo 13">
                <a:extLst>
                  <a:ext uri="{FF2B5EF4-FFF2-40B4-BE49-F238E27FC236}">
                    <a16:creationId xmlns:a16="http://schemas.microsoft.com/office/drawing/2014/main" id="{4CE64F3B-9561-4E22-9094-8D3EB3A88054}"/>
                  </a:ext>
                </a:extLst>
              </p:cNvPr>
              <p:cNvSpPr/>
              <p:nvPr/>
            </p:nvSpPr>
            <p:spPr>
              <a:xfrm>
                <a:off x="609600" y="3048000"/>
                <a:ext cx="5144357" cy="439736"/>
              </a:xfrm>
              <a:prstGeom prst="rect">
                <a:avLst/>
              </a:prstGeom>
            </p:spPr>
            <p:txBody>
              <a:bodyPr wrap="none">
                <a:spAutoFit/>
              </a:bodyPr>
              <a:lstStyle/>
              <a:p>
                <a14:m>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d>
                      <m:dPr>
                        <m:begChr m:val="["/>
                        <m:ctrlPr>
                          <a:rPr lang="es-ES" sz="2000" b="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b="0" i="1" smtClean="0">
                        <a:latin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oMath>
                </a14:m>
                <a:r>
                  <a:rPr lang="es-ES_tradnl" sz="2000" dirty="0"/>
                  <a:t>,   </a:t>
                </a:r>
                <a14:m>
                  <m:oMath xmlns:m="http://schemas.openxmlformats.org/officeDocument/2006/math">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14" name="Rectángulo 13">
                <a:extLst>
                  <a:ext uri="{FF2B5EF4-FFF2-40B4-BE49-F238E27FC236}">
                    <a16:creationId xmlns:a16="http://schemas.microsoft.com/office/drawing/2014/main" id="{4CE64F3B-9561-4E22-9094-8D3EB3A88054}"/>
                  </a:ext>
                </a:extLst>
              </p:cNvPr>
              <p:cNvSpPr>
                <a:spLocks noRot="1" noChangeAspect="1" noMove="1" noResize="1" noEditPoints="1" noAdjustHandles="1" noChangeArrowheads="1" noChangeShapeType="1" noTextEdit="1"/>
              </p:cNvSpPr>
              <p:nvPr/>
            </p:nvSpPr>
            <p:spPr>
              <a:xfrm>
                <a:off x="609600" y="3048000"/>
                <a:ext cx="5144357" cy="439736"/>
              </a:xfrm>
              <a:prstGeom prst="rect">
                <a:avLst/>
              </a:prstGeom>
              <a:blipFill>
                <a:blip r:embed="rId4"/>
                <a:stretch>
                  <a:fillRect t="-1389" b="-2083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BA781AEC-A23D-4ADE-9B26-58A77238B058}"/>
                  </a:ext>
                </a:extLst>
              </p:cNvPr>
              <p:cNvSpPr/>
              <p:nvPr/>
            </p:nvSpPr>
            <p:spPr>
              <a:xfrm>
                <a:off x="515076" y="4360864"/>
                <a:ext cx="4988032" cy="439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&gt;</m:t>
                      </m:r>
                      <m:r>
                        <a:rPr lang="es-ES" sz="2000" b="0" i="1" smtClean="0">
                          <a:latin typeface="Cambria Math" panose="02040503050406030204" pitchFamily="18" charset="0"/>
                          <a:ea typeface="Cambria Math" panose="02040503050406030204" pitchFamily="18" charset="0"/>
                        </a:rPr>
                        <m:t>0 −→ </m:t>
                      </m:r>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oMath>
                  </m:oMathPara>
                </a14:m>
                <a:endParaRPr lang="es-ES_tradnl" sz="2000" dirty="0"/>
              </a:p>
            </p:txBody>
          </p:sp>
        </mc:Choice>
        <mc:Fallback xmlns="">
          <p:sp>
            <p:nvSpPr>
              <p:cNvPr id="18" name="Rectángulo 17">
                <a:extLst>
                  <a:ext uri="{FF2B5EF4-FFF2-40B4-BE49-F238E27FC236}">
                    <a16:creationId xmlns:a16="http://schemas.microsoft.com/office/drawing/2014/main" id="{BA781AEC-A23D-4ADE-9B26-58A77238B058}"/>
                  </a:ext>
                </a:extLst>
              </p:cNvPr>
              <p:cNvSpPr>
                <a:spLocks noRot="1" noChangeAspect="1" noMove="1" noResize="1" noEditPoints="1" noAdjustHandles="1" noChangeArrowheads="1" noChangeShapeType="1" noTextEdit="1"/>
              </p:cNvSpPr>
              <p:nvPr/>
            </p:nvSpPr>
            <p:spPr>
              <a:xfrm>
                <a:off x="515076" y="4360864"/>
                <a:ext cx="4988032" cy="439736"/>
              </a:xfrm>
              <a:prstGeom prst="rect">
                <a:avLst/>
              </a:prstGeom>
              <a:blipFill>
                <a:blip r:embed="rId5"/>
                <a:stretch>
                  <a:fillRect b="-9589"/>
                </a:stretch>
              </a:blipFill>
            </p:spPr>
            <p:txBody>
              <a:bodyPr/>
              <a:lstStyle/>
              <a:p>
                <a:r>
                  <a:rPr lang="es-ES_tradnl">
                    <a:noFill/>
                  </a:rPr>
                  <a:t> </a:t>
                </a:r>
              </a:p>
            </p:txBody>
          </p:sp>
        </mc:Fallback>
      </mc:AlternateContent>
      <p:sp>
        <p:nvSpPr>
          <p:cNvPr id="19" name="CuadroTexto 18">
            <a:extLst>
              <a:ext uri="{FF2B5EF4-FFF2-40B4-BE49-F238E27FC236}">
                <a16:creationId xmlns:a16="http://schemas.microsoft.com/office/drawing/2014/main" id="{82A6F218-7AE3-484C-A7C9-76F22D66E39E}"/>
              </a:ext>
            </a:extLst>
          </p:cNvPr>
          <p:cNvSpPr txBox="1"/>
          <p:nvPr/>
        </p:nvSpPr>
        <p:spPr>
          <a:xfrm>
            <a:off x="533400" y="3810000"/>
            <a:ext cx="2590800" cy="369332"/>
          </a:xfrm>
          <a:prstGeom prst="rect">
            <a:avLst/>
          </a:prstGeom>
          <a:noFill/>
        </p:spPr>
        <p:txBody>
          <a:bodyPr wrap="square" rtlCol="0">
            <a:spAutoFit/>
          </a:bodyPr>
          <a:lstStyle/>
          <a:p>
            <a:r>
              <a:rPr lang="es-ES" b="1" dirty="0" err="1"/>
              <a:t>Support</a:t>
            </a:r>
            <a:r>
              <a:rPr lang="es-ES" b="1" dirty="0"/>
              <a:t> </a:t>
            </a:r>
            <a:r>
              <a:rPr lang="es-ES" b="1" dirty="0" err="1"/>
              <a:t>Vectors</a:t>
            </a:r>
            <a:r>
              <a:rPr lang="es-ES" b="1" dirty="0"/>
              <a:t>:</a:t>
            </a:r>
            <a:endParaRPr lang="es-ES_tradnl" b="1" dirty="0"/>
          </a:p>
        </p:txBody>
      </p:sp>
      <mc:AlternateContent xmlns:mc="http://schemas.openxmlformats.org/markup-compatibility/2006" xmlns:a14="http://schemas.microsoft.com/office/drawing/2010/main">
        <mc:Choice Requires="a14">
          <p:sp>
            <p:nvSpPr>
              <p:cNvPr id="21" name="Rectángulo 20">
                <a:extLst>
                  <a:ext uri="{FF2B5EF4-FFF2-40B4-BE49-F238E27FC236}">
                    <a16:creationId xmlns:a16="http://schemas.microsoft.com/office/drawing/2014/main" id="{DE25E330-F203-4898-9DDF-A84CDFC9B678}"/>
                  </a:ext>
                </a:extLst>
              </p:cNvPr>
              <p:cNvSpPr/>
              <p:nvPr/>
            </p:nvSpPr>
            <p:spPr>
              <a:xfrm>
                <a:off x="520003" y="5035567"/>
                <a:ext cx="7779181" cy="439736"/>
              </a:xfrm>
              <a:prstGeom prst="rect">
                <a:avLst/>
              </a:prstGeom>
            </p:spPr>
            <p:txBody>
              <a:bodyPr wrap="none">
                <a:spAutoFit/>
              </a:bodyPr>
              <a:lstStyle/>
              <a:p>
                <a14:m>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0&lt;</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&lt;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r>
                      <a:rPr lang="es-ES" sz="2000" i="1">
                        <a:latin typeface="Cambria Math" panose="02040503050406030204" pitchFamily="18" charset="0"/>
                        <a:ea typeface="Cambria Math" panose="02040503050406030204" pitchFamily="18" charset="0"/>
                      </a:rPr>
                      <m:t>−→</m:t>
                    </m:r>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m:t>
                    </m:r>
                    <m:r>
                      <a:rPr lang="es-ES" sz="2000" b="0" i="1" smtClean="0">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]=0−→</m:t>
                    </m:r>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oMath>
                </a14:m>
                <a:r>
                  <a:rPr lang="es-ES_tradnl" sz="2000" dirty="0"/>
                  <a:t> </a:t>
                </a:r>
                <a:r>
                  <a:rPr lang="es-ES_tradnl" sz="2000" dirty="0">
                    <a:latin typeface="Cambria Math" panose="02040503050406030204" pitchFamily="18" charset="0"/>
                    <a:ea typeface="Cambria Math" panose="02040503050406030204" pitchFamily="18" charset="0"/>
                  </a:rPr>
                  <a:t>(</a:t>
                </a:r>
                <a:r>
                  <a:rPr lang="es-ES_tradnl" sz="2000" dirty="0" err="1">
                    <a:latin typeface="Cambria Math" panose="02040503050406030204" pitchFamily="18" charset="0"/>
                    <a:ea typeface="Cambria Math" panose="02040503050406030204" pitchFamily="18" charset="0"/>
                  </a:rPr>
                  <a:t>average</a:t>
                </a:r>
                <a:r>
                  <a:rPr lang="es-ES_tradnl" sz="2000" dirty="0">
                    <a:latin typeface="Cambria Math" panose="02040503050406030204" pitchFamily="18" charset="0"/>
                    <a:ea typeface="Cambria Math" panose="02040503050406030204" pitchFamily="18" charset="0"/>
                  </a:rPr>
                  <a:t>)</a:t>
                </a:r>
              </a:p>
            </p:txBody>
          </p:sp>
        </mc:Choice>
        <mc:Fallback xmlns="">
          <p:sp>
            <p:nvSpPr>
              <p:cNvPr id="21" name="Rectángulo 20">
                <a:extLst>
                  <a:ext uri="{FF2B5EF4-FFF2-40B4-BE49-F238E27FC236}">
                    <a16:creationId xmlns:a16="http://schemas.microsoft.com/office/drawing/2014/main" id="{DE25E330-F203-4898-9DDF-A84CDFC9B678}"/>
                  </a:ext>
                </a:extLst>
              </p:cNvPr>
              <p:cNvSpPr>
                <a:spLocks noRot="1" noChangeAspect="1" noMove="1" noResize="1" noEditPoints="1" noAdjustHandles="1" noChangeArrowheads="1" noChangeShapeType="1" noTextEdit="1"/>
              </p:cNvSpPr>
              <p:nvPr/>
            </p:nvSpPr>
            <p:spPr>
              <a:xfrm>
                <a:off x="520003" y="5035567"/>
                <a:ext cx="7779181" cy="439736"/>
              </a:xfrm>
              <a:prstGeom prst="rect">
                <a:avLst/>
              </a:prstGeom>
              <a:blipFill>
                <a:blip r:embed="rId6"/>
                <a:stretch>
                  <a:fillRect t="-4167" b="-1805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B6775738-4BE6-4175-87E8-19E077A298F0}"/>
                  </a:ext>
                </a:extLst>
              </p:cNvPr>
              <p:cNvSpPr/>
              <p:nvPr/>
            </p:nvSpPr>
            <p:spPr>
              <a:xfrm>
                <a:off x="381000" y="5656264"/>
                <a:ext cx="6991145" cy="439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&gt;0</m:t>
                      </m:r>
                      <m:r>
                        <a:rPr lang="es-ES" sz="2000" i="1">
                          <a:latin typeface="Cambria Math" panose="02040503050406030204" pitchFamily="18" charset="0"/>
                          <a:ea typeface="Cambria Math" panose="02040503050406030204" pitchFamily="18" charset="0"/>
                        </a:rPr>
                        <m:t>−→</m:t>
                      </m:r>
                      <m:d>
                        <m:dPr>
                          <m:begChr m:val="["/>
                          <m:ctrlPr>
                            <a:rPr lang="es-ES" sz="2000" i="1">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b="0" i="1" smtClean="0">
                              <a:latin typeface="Cambria Math" panose="02040503050406030204" pitchFamily="18" charset="0"/>
                              <a:ea typeface="Cambria Math" panose="02040503050406030204" pitchFamily="18" charset="0"/>
                            </a:rPr>
                            <m:t>𝑖</m:t>
                          </m:r>
                        </m:sub>
                      </m:sSub>
                    </m:oMath>
                  </m:oMathPara>
                </a14:m>
                <a:endParaRPr lang="es-ES_tradnl" sz="2000" dirty="0"/>
              </a:p>
            </p:txBody>
          </p:sp>
        </mc:Choice>
        <mc:Fallback xmlns="">
          <p:sp>
            <p:nvSpPr>
              <p:cNvPr id="22" name="Rectángulo 21">
                <a:extLst>
                  <a:ext uri="{FF2B5EF4-FFF2-40B4-BE49-F238E27FC236}">
                    <a16:creationId xmlns:a16="http://schemas.microsoft.com/office/drawing/2014/main" id="{B6775738-4BE6-4175-87E8-19E077A298F0}"/>
                  </a:ext>
                </a:extLst>
              </p:cNvPr>
              <p:cNvSpPr>
                <a:spLocks noRot="1" noChangeAspect="1" noMove="1" noResize="1" noEditPoints="1" noAdjustHandles="1" noChangeArrowheads="1" noChangeShapeType="1" noTextEdit="1"/>
              </p:cNvSpPr>
              <p:nvPr/>
            </p:nvSpPr>
            <p:spPr>
              <a:xfrm>
                <a:off x="381000" y="5656264"/>
                <a:ext cx="6991145" cy="439736"/>
              </a:xfrm>
              <a:prstGeom prst="rect">
                <a:avLst/>
              </a:prstGeom>
              <a:blipFill>
                <a:blip r:embed="rId7"/>
                <a:stretch>
                  <a:fillRect b="-9722"/>
                </a:stretch>
              </a:blipFill>
            </p:spPr>
            <p:txBody>
              <a:bodyPr/>
              <a:lstStyle/>
              <a:p>
                <a:r>
                  <a:rPr lang="es-ES_tradnl">
                    <a:noFill/>
                  </a:rPr>
                  <a:t> </a:t>
                </a:r>
              </a:p>
            </p:txBody>
          </p:sp>
        </mc:Fallback>
      </mc:AlternateContent>
    </p:spTree>
    <p:extLst>
      <p:ext uri="{BB962C8B-B14F-4D97-AF65-F5344CB8AC3E}">
        <p14:creationId xmlns:p14="http://schemas.microsoft.com/office/powerpoint/2010/main" val="208928622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Support Vectors: </a:t>
            </a:r>
          </a:p>
          <a:p>
            <a:pPr algn="just">
              <a:spcBef>
                <a:spcPct val="50000"/>
              </a:spcBef>
            </a:pPr>
            <a:endParaRPr lang="es-ES" b="1" dirty="0"/>
          </a:p>
        </p:txBody>
      </p:sp>
      <p:cxnSp>
        <p:nvCxnSpPr>
          <p:cNvPr id="42" name="Conector recto de flecha 20">
            <a:extLst>
              <a:ext uri="{FF2B5EF4-FFF2-40B4-BE49-F238E27FC236}">
                <a16:creationId xmlns:a16="http://schemas.microsoft.com/office/drawing/2014/main" id="{E9D67744-A246-4DF1-BD4C-7972FB8F22E0}"/>
              </a:ext>
            </a:extLst>
          </p:cNvPr>
          <p:cNvCxnSpPr/>
          <p:nvPr/>
        </p:nvCxnSpPr>
        <p:spPr>
          <a:xfrm>
            <a:off x="1667835" y="2357545"/>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3" name="Conector recto de flecha 21">
            <a:extLst>
              <a:ext uri="{FF2B5EF4-FFF2-40B4-BE49-F238E27FC236}">
                <a16:creationId xmlns:a16="http://schemas.microsoft.com/office/drawing/2014/main" id="{4BBAE3DC-C06F-4356-9082-044E2DC2C1AD}"/>
              </a:ext>
            </a:extLst>
          </p:cNvPr>
          <p:cNvCxnSpPr/>
          <p:nvPr/>
        </p:nvCxnSpPr>
        <p:spPr>
          <a:xfrm>
            <a:off x="1667835" y="4456903"/>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22">
            <a:extLst>
              <a:ext uri="{FF2B5EF4-FFF2-40B4-BE49-F238E27FC236}">
                <a16:creationId xmlns:a16="http://schemas.microsoft.com/office/drawing/2014/main" id="{409CC143-84AE-4025-96E0-903E7BF58E63}"/>
              </a:ext>
            </a:extLst>
          </p:cNvPr>
          <p:cNvCxnSpPr>
            <a:cxnSpLocks/>
          </p:cNvCxnSpPr>
          <p:nvPr/>
        </p:nvCxnSpPr>
        <p:spPr>
          <a:xfrm>
            <a:off x="1134435" y="2704303"/>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CuadroTexto 23">
                <a:extLst>
                  <a:ext uri="{FF2B5EF4-FFF2-40B4-BE49-F238E27FC236}">
                    <a16:creationId xmlns:a16="http://schemas.microsoft.com/office/drawing/2014/main" id="{960DC968-FBFA-4869-970D-33BBB6651369}"/>
                  </a:ext>
                </a:extLst>
              </p:cNvPr>
              <p:cNvSpPr txBox="1"/>
              <p:nvPr/>
            </p:nvSpPr>
            <p:spPr>
              <a:xfrm>
                <a:off x="3017664" y="3690455"/>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45" name="CuadroTexto 23">
                <a:extLst>
                  <a:ext uri="{FF2B5EF4-FFF2-40B4-BE49-F238E27FC236}">
                    <a16:creationId xmlns:a16="http://schemas.microsoft.com/office/drawing/2014/main" id="{960DC968-FBFA-4869-970D-33BBB6651369}"/>
                  </a:ext>
                </a:extLst>
              </p:cNvPr>
              <p:cNvSpPr txBox="1">
                <a:spLocks noRot="1" noChangeAspect="1" noMove="1" noResize="1" noEditPoints="1" noAdjustHandles="1" noChangeArrowheads="1" noChangeShapeType="1" noTextEdit="1"/>
              </p:cNvSpPr>
              <p:nvPr/>
            </p:nvSpPr>
            <p:spPr>
              <a:xfrm>
                <a:off x="3017664" y="3690455"/>
                <a:ext cx="1554336" cy="276999"/>
              </a:xfrm>
              <a:prstGeom prst="rect">
                <a:avLst/>
              </a:prstGeom>
              <a:blipFill>
                <a:blip r:embed="rId3"/>
                <a:stretch>
                  <a:fillRect l="-4706" t="-4348" r="-3529" b="-32609"/>
                </a:stretch>
              </a:blipFill>
            </p:spPr>
            <p:txBody>
              <a:bodyPr/>
              <a:lstStyle/>
              <a:p>
                <a:r>
                  <a:rPr lang="es-ES">
                    <a:noFill/>
                  </a:rPr>
                  <a:t> </a:t>
                </a:r>
              </a:p>
            </p:txBody>
          </p:sp>
        </mc:Fallback>
      </mc:AlternateContent>
      <p:cxnSp>
        <p:nvCxnSpPr>
          <p:cNvPr id="46" name="Conector recto 24">
            <a:extLst>
              <a:ext uri="{FF2B5EF4-FFF2-40B4-BE49-F238E27FC236}">
                <a16:creationId xmlns:a16="http://schemas.microsoft.com/office/drawing/2014/main" id="{D3755210-04CC-4359-874C-2E5B05FB06E3}"/>
              </a:ext>
            </a:extLst>
          </p:cNvPr>
          <p:cNvCxnSpPr>
            <a:cxnSpLocks/>
          </p:cNvCxnSpPr>
          <p:nvPr/>
        </p:nvCxnSpPr>
        <p:spPr>
          <a:xfrm>
            <a:off x="1450570" y="2400300"/>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7" name="Conector recto 25">
            <a:extLst>
              <a:ext uri="{FF2B5EF4-FFF2-40B4-BE49-F238E27FC236}">
                <a16:creationId xmlns:a16="http://schemas.microsoft.com/office/drawing/2014/main" id="{C73FA892-7502-4636-B7DF-F5A37C92D64D}"/>
              </a:ext>
            </a:extLst>
          </p:cNvPr>
          <p:cNvCxnSpPr>
            <a:cxnSpLocks/>
          </p:cNvCxnSpPr>
          <p:nvPr/>
        </p:nvCxnSpPr>
        <p:spPr>
          <a:xfrm>
            <a:off x="993370" y="311027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48" name="Conector recto 26">
            <a:extLst>
              <a:ext uri="{FF2B5EF4-FFF2-40B4-BE49-F238E27FC236}">
                <a16:creationId xmlns:a16="http://schemas.microsoft.com/office/drawing/2014/main" id="{A7D66999-CA47-449D-AD12-F9A4794373AF}"/>
              </a:ext>
            </a:extLst>
          </p:cNvPr>
          <p:cNvCxnSpPr>
            <a:cxnSpLocks/>
          </p:cNvCxnSpPr>
          <p:nvPr/>
        </p:nvCxnSpPr>
        <p:spPr>
          <a:xfrm flipV="1">
            <a:off x="2125035" y="3100951"/>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ángulo 27">
                <a:extLst>
                  <a:ext uri="{FF2B5EF4-FFF2-40B4-BE49-F238E27FC236}">
                    <a16:creationId xmlns:a16="http://schemas.microsoft.com/office/drawing/2014/main" id="{7B648436-45D6-4EAD-BFE1-488B71079DA9}"/>
                  </a:ext>
                </a:extLst>
              </p:cNvPr>
              <p:cNvSpPr/>
              <p:nvPr/>
            </p:nvSpPr>
            <p:spPr>
              <a:xfrm>
                <a:off x="1913258" y="2992877"/>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49" name="Rectángulo 27">
                <a:extLst>
                  <a:ext uri="{FF2B5EF4-FFF2-40B4-BE49-F238E27FC236}">
                    <a16:creationId xmlns:a16="http://schemas.microsoft.com/office/drawing/2014/main" id="{7B648436-45D6-4EAD-BFE1-488B71079DA9}"/>
                  </a:ext>
                </a:extLst>
              </p:cNvPr>
              <p:cNvSpPr>
                <a:spLocks noRot="1" noChangeAspect="1" noMove="1" noResize="1" noEditPoints="1" noAdjustHandles="1" noChangeArrowheads="1" noChangeShapeType="1" noTextEdit="1"/>
              </p:cNvSpPr>
              <p:nvPr/>
            </p:nvSpPr>
            <p:spPr>
              <a:xfrm>
                <a:off x="1913258" y="2992877"/>
                <a:ext cx="410882" cy="338554"/>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0" name="Rectángulo 28">
                <a:extLst>
                  <a:ext uri="{FF2B5EF4-FFF2-40B4-BE49-F238E27FC236}">
                    <a16:creationId xmlns:a16="http://schemas.microsoft.com/office/drawing/2014/main" id="{471FE88D-D8ED-4E1D-8297-C125619575D5}"/>
                  </a:ext>
                </a:extLst>
              </p:cNvPr>
              <p:cNvSpPr/>
              <p:nvPr/>
            </p:nvSpPr>
            <p:spPr>
              <a:xfrm>
                <a:off x="2095153" y="3633255"/>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0" name="Rectángulo 28">
                <a:extLst>
                  <a:ext uri="{FF2B5EF4-FFF2-40B4-BE49-F238E27FC236}">
                    <a16:creationId xmlns:a16="http://schemas.microsoft.com/office/drawing/2014/main" id="{471FE88D-D8ED-4E1D-8297-C125619575D5}"/>
                  </a:ext>
                </a:extLst>
              </p:cNvPr>
              <p:cNvSpPr>
                <a:spLocks noRot="1" noChangeAspect="1" noMove="1" noResize="1" noEditPoints="1" noAdjustHandles="1" noChangeArrowheads="1" noChangeShapeType="1" noTextEdit="1"/>
              </p:cNvSpPr>
              <p:nvPr/>
            </p:nvSpPr>
            <p:spPr>
              <a:xfrm>
                <a:off x="2095153" y="3633255"/>
                <a:ext cx="410882" cy="338554"/>
              </a:xfrm>
              <a:prstGeom prst="rect">
                <a:avLst/>
              </a:prstGeom>
              <a:blipFill>
                <a:blip r:embed="rId5"/>
                <a:stretch>
                  <a:fillRect/>
                </a:stretch>
              </a:blipFill>
            </p:spPr>
            <p:txBody>
              <a:bodyPr/>
              <a:lstStyle/>
              <a:p>
                <a:r>
                  <a:rPr lang="es-ES">
                    <a:noFill/>
                  </a:rPr>
                  <a:t> </a:t>
                </a:r>
              </a:p>
            </p:txBody>
          </p:sp>
        </mc:Fallback>
      </mc:AlternateContent>
      <p:cxnSp>
        <p:nvCxnSpPr>
          <p:cNvPr id="51" name="Conector recto 29">
            <a:extLst>
              <a:ext uri="{FF2B5EF4-FFF2-40B4-BE49-F238E27FC236}">
                <a16:creationId xmlns:a16="http://schemas.microsoft.com/office/drawing/2014/main" id="{107AF14F-4D17-4081-84C8-4F0F638C303D}"/>
              </a:ext>
            </a:extLst>
          </p:cNvPr>
          <p:cNvCxnSpPr>
            <a:cxnSpLocks/>
          </p:cNvCxnSpPr>
          <p:nvPr/>
        </p:nvCxnSpPr>
        <p:spPr>
          <a:xfrm flipV="1">
            <a:off x="2316246" y="3750604"/>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Diagrama de flujo: conector 30">
            <a:extLst>
              <a:ext uri="{FF2B5EF4-FFF2-40B4-BE49-F238E27FC236}">
                <a16:creationId xmlns:a16="http://schemas.microsoft.com/office/drawing/2014/main" id="{6B776B7D-3923-4C63-AD48-C990A7C8C300}"/>
              </a:ext>
            </a:extLst>
          </p:cNvPr>
          <p:cNvSpPr/>
          <p:nvPr/>
        </p:nvSpPr>
        <p:spPr>
          <a:xfrm flipV="1">
            <a:off x="2602040" y="2617883"/>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3" name="Diagrama de flujo: conector 31">
            <a:extLst>
              <a:ext uri="{FF2B5EF4-FFF2-40B4-BE49-F238E27FC236}">
                <a16:creationId xmlns:a16="http://schemas.microsoft.com/office/drawing/2014/main" id="{FFAE4D38-A28F-4C71-AA4C-5F9B1C3D8E46}"/>
              </a:ext>
            </a:extLst>
          </p:cNvPr>
          <p:cNvSpPr/>
          <p:nvPr/>
        </p:nvSpPr>
        <p:spPr>
          <a:xfrm>
            <a:off x="3115635" y="30574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4" name="Diagrama de flujo: conector 32">
            <a:extLst>
              <a:ext uri="{FF2B5EF4-FFF2-40B4-BE49-F238E27FC236}">
                <a16:creationId xmlns:a16="http://schemas.microsoft.com/office/drawing/2014/main" id="{F2460ADE-7CFA-4053-9F9E-6BB3AB48EF08}"/>
              </a:ext>
            </a:extLst>
          </p:cNvPr>
          <p:cNvSpPr/>
          <p:nvPr/>
        </p:nvSpPr>
        <p:spPr>
          <a:xfrm flipV="1">
            <a:off x="3191835" y="24478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5" name="Diagrama de flujo: conector 33">
            <a:extLst>
              <a:ext uri="{FF2B5EF4-FFF2-40B4-BE49-F238E27FC236}">
                <a16:creationId xmlns:a16="http://schemas.microsoft.com/office/drawing/2014/main" id="{8ABC11C2-166C-4300-BB27-6DDF2169DBF3}"/>
              </a:ext>
            </a:extLst>
          </p:cNvPr>
          <p:cNvSpPr/>
          <p:nvPr/>
        </p:nvSpPr>
        <p:spPr>
          <a:xfrm flipV="1">
            <a:off x="3191835" y="36352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6" name="Diagrama de flujo: extraer 34">
            <a:extLst>
              <a:ext uri="{FF2B5EF4-FFF2-40B4-BE49-F238E27FC236}">
                <a16:creationId xmlns:a16="http://schemas.microsoft.com/office/drawing/2014/main" id="{5551CAAE-6ACA-4510-860A-1259E9F4E558}"/>
              </a:ext>
            </a:extLst>
          </p:cNvPr>
          <p:cNvSpPr/>
          <p:nvPr/>
        </p:nvSpPr>
        <p:spPr>
          <a:xfrm>
            <a:off x="1363035" y="4074604"/>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7" name="Diagrama de flujo: extraer 35">
            <a:extLst>
              <a:ext uri="{FF2B5EF4-FFF2-40B4-BE49-F238E27FC236}">
                <a16:creationId xmlns:a16="http://schemas.microsoft.com/office/drawing/2014/main" id="{23011747-4595-46E6-B520-B69E78D28983}"/>
              </a:ext>
            </a:extLst>
          </p:cNvPr>
          <p:cNvSpPr/>
          <p:nvPr/>
        </p:nvSpPr>
        <p:spPr>
          <a:xfrm>
            <a:off x="2169435" y="4227004"/>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8" name="Diagrama de flujo: extraer 36">
            <a:extLst>
              <a:ext uri="{FF2B5EF4-FFF2-40B4-BE49-F238E27FC236}">
                <a16:creationId xmlns:a16="http://schemas.microsoft.com/office/drawing/2014/main" id="{94AC2D8E-FC4F-4281-A7B9-92283D8EE290}"/>
              </a:ext>
            </a:extLst>
          </p:cNvPr>
          <p:cNvSpPr/>
          <p:nvPr/>
        </p:nvSpPr>
        <p:spPr>
          <a:xfrm>
            <a:off x="3007635" y="4581409"/>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9" name="Diagrama de flujo: extraer 37">
            <a:extLst>
              <a:ext uri="{FF2B5EF4-FFF2-40B4-BE49-F238E27FC236}">
                <a16:creationId xmlns:a16="http://schemas.microsoft.com/office/drawing/2014/main" id="{0080E20A-BC38-4431-A9D4-0B0B51F7431B}"/>
              </a:ext>
            </a:extLst>
          </p:cNvPr>
          <p:cNvSpPr/>
          <p:nvPr/>
        </p:nvSpPr>
        <p:spPr>
          <a:xfrm>
            <a:off x="1286835" y="3286009"/>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0" name="Diagrama de flujo: extraer 38">
            <a:extLst>
              <a:ext uri="{FF2B5EF4-FFF2-40B4-BE49-F238E27FC236}">
                <a16:creationId xmlns:a16="http://schemas.microsoft.com/office/drawing/2014/main" id="{CF12EB91-26E8-4D60-9792-C37B2BB174C9}"/>
              </a:ext>
            </a:extLst>
          </p:cNvPr>
          <p:cNvSpPr/>
          <p:nvPr/>
        </p:nvSpPr>
        <p:spPr>
          <a:xfrm>
            <a:off x="2093235" y="4702009"/>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Diagrama de flujo: conector 39">
            <a:extLst>
              <a:ext uri="{FF2B5EF4-FFF2-40B4-BE49-F238E27FC236}">
                <a16:creationId xmlns:a16="http://schemas.microsoft.com/office/drawing/2014/main" id="{8C0A89DB-4DE5-402D-931F-500E3B2F0E50}"/>
              </a:ext>
            </a:extLst>
          </p:cNvPr>
          <p:cNvSpPr/>
          <p:nvPr/>
        </p:nvSpPr>
        <p:spPr>
          <a:xfrm flipV="1">
            <a:off x="1917590" y="3610748"/>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Diagrama de flujo: conector 40">
            <a:extLst>
              <a:ext uri="{FF2B5EF4-FFF2-40B4-BE49-F238E27FC236}">
                <a16:creationId xmlns:a16="http://schemas.microsoft.com/office/drawing/2014/main" id="{01060016-3B1A-4AC1-BAD7-845212B9588D}"/>
              </a:ext>
            </a:extLst>
          </p:cNvPr>
          <p:cNvSpPr/>
          <p:nvPr/>
        </p:nvSpPr>
        <p:spPr>
          <a:xfrm flipV="1">
            <a:off x="2201235" y="22192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3" name="Diagrama de flujo: extraer 44">
            <a:extLst>
              <a:ext uri="{FF2B5EF4-FFF2-40B4-BE49-F238E27FC236}">
                <a16:creationId xmlns:a16="http://schemas.microsoft.com/office/drawing/2014/main" id="{0A0790D2-399F-49EC-88C6-BA703B2AABDC}"/>
              </a:ext>
            </a:extLst>
          </p:cNvPr>
          <p:cNvSpPr/>
          <p:nvPr/>
        </p:nvSpPr>
        <p:spPr>
          <a:xfrm>
            <a:off x="2797464" y="3570759"/>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Diagrama de flujo: conector 45">
            <a:extLst>
              <a:ext uri="{FF2B5EF4-FFF2-40B4-BE49-F238E27FC236}">
                <a16:creationId xmlns:a16="http://schemas.microsoft.com/office/drawing/2014/main" id="{4A9F57F1-99B3-45AC-A989-40803D2923D8}"/>
              </a:ext>
            </a:extLst>
          </p:cNvPr>
          <p:cNvSpPr/>
          <p:nvPr/>
        </p:nvSpPr>
        <p:spPr>
          <a:xfrm>
            <a:off x="1192396" y="3048404"/>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65" name="Conector recto 54">
            <a:extLst>
              <a:ext uri="{FF2B5EF4-FFF2-40B4-BE49-F238E27FC236}">
                <a16:creationId xmlns:a16="http://schemas.microsoft.com/office/drawing/2014/main" id="{BBC1B693-926F-4593-9354-F3B8FFC7FB08}"/>
              </a:ext>
            </a:extLst>
          </p:cNvPr>
          <p:cNvCxnSpPr>
            <a:cxnSpLocks/>
          </p:cNvCxnSpPr>
          <p:nvPr/>
        </p:nvCxnSpPr>
        <p:spPr>
          <a:xfrm flipV="1">
            <a:off x="2491344" y="3720341"/>
            <a:ext cx="381907" cy="506664"/>
          </a:xfrm>
          <a:prstGeom prst="line">
            <a:avLst/>
          </a:prstGeom>
          <a:ln w="254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6" name="Conector recto 56">
            <a:extLst>
              <a:ext uri="{FF2B5EF4-FFF2-40B4-BE49-F238E27FC236}">
                <a16:creationId xmlns:a16="http://schemas.microsoft.com/office/drawing/2014/main" id="{AEEDCFF2-F834-4204-83CF-D56A9A70DDA1}"/>
              </a:ext>
            </a:extLst>
          </p:cNvPr>
          <p:cNvCxnSpPr>
            <a:cxnSpLocks/>
            <a:stCxn id="64" idx="7"/>
          </p:cNvCxnSpPr>
          <p:nvPr/>
        </p:nvCxnSpPr>
        <p:spPr>
          <a:xfrm flipV="1">
            <a:off x="1284580" y="2528482"/>
            <a:ext cx="393881" cy="535738"/>
          </a:xfrm>
          <a:prstGeom prst="line">
            <a:avLst/>
          </a:prstGeom>
          <a:ln w="25400">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Rectángulo 57">
                <a:extLst>
                  <a:ext uri="{FF2B5EF4-FFF2-40B4-BE49-F238E27FC236}">
                    <a16:creationId xmlns:a16="http://schemas.microsoft.com/office/drawing/2014/main" id="{39BA52E9-D83F-4C81-932B-39CF81C9C2EB}"/>
                  </a:ext>
                </a:extLst>
              </p:cNvPr>
              <p:cNvSpPr/>
              <p:nvPr/>
            </p:nvSpPr>
            <p:spPr>
              <a:xfrm>
                <a:off x="1174590" y="2468696"/>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67" name="Rectángulo 57">
                <a:extLst>
                  <a:ext uri="{FF2B5EF4-FFF2-40B4-BE49-F238E27FC236}">
                    <a16:creationId xmlns:a16="http://schemas.microsoft.com/office/drawing/2014/main" id="{39BA52E9-D83F-4C81-932B-39CF81C9C2EB}"/>
                  </a:ext>
                </a:extLst>
              </p:cNvPr>
              <p:cNvSpPr>
                <a:spLocks noRot="1" noChangeAspect="1" noMove="1" noResize="1" noEditPoints="1" noAdjustHandles="1" noChangeArrowheads="1" noChangeShapeType="1" noTextEdit="1"/>
              </p:cNvSpPr>
              <p:nvPr/>
            </p:nvSpPr>
            <p:spPr>
              <a:xfrm>
                <a:off x="1174590" y="2468696"/>
                <a:ext cx="387094" cy="338554"/>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8" name="Rectángulo 58">
                <a:extLst>
                  <a:ext uri="{FF2B5EF4-FFF2-40B4-BE49-F238E27FC236}">
                    <a16:creationId xmlns:a16="http://schemas.microsoft.com/office/drawing/2014/main" id="{4D59F280-672B-4B11-B085-BCD9AE70163D}"/>
                  </a:ext>
                </a:extLst>
              </p:cNvPr>
              <p:cNvSpPr/>
              <p:nvPr/>
            </p:nvSpPr>
            <p:spPr>
              <a:xfrm>
                <a:off x="2584648" y="3887483"/>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68" name="Rectángulo 58">
                <a:extLst>
                  <a:ext uri="{FF2B5EF4-FFF2-40B4-BE49-F238E27FC236}">
                    <a16:creationId xmlns:a16="http://schemas.microsoft.com/office/drawing/2014/main" id="{4D59F280-672B-4B11-B085-BCD9AE70163D}"/>
                  </a:ext>
                </a:extLst>
              </p:cNvPr>
              <p:cNvSpPr>
                <a:spLocks noRot="1" noChangeAspect="1" noMove="1" noResize="1" noEditPoints="1" noAdjustHandles="1" noChangeArrowheads="1" noChangeShapeType="1" noTextEdit="1"/>
              </p:cNvSpPr>
              <p:nvPr/>
            </p:nvSpPr>
            <p:spPr>
              <a:xfrm>
                <a:off x="2584648" y="3887483"/>
                <a:ext cx="387094" cy="338554"/>
              </a:xfrm>
              <a:prstGeom prst="rect">
                <a:avLst/>
              </a:prstGeom>
              <a:blipFill>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8527605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Support Vectors: </a:t>
            </a:r>
          </a:p>
          <a:p>
            <a:pPr algn="just">
              <a:spcBef>
                <a:spcPct val="50000"/>
              </a:spcBef>
            </a:pPr>
            <a:endParaRPr lang="es-ES" b="1" dirty="0"/>
          </a:p>
        </p:txBody>
      </p:sp>
      <p:sp>
        <p:nvSpPr>
          <p:cNvPr id="46" name="TextBox 6">
            <a:extLst>
              <a:ext uri="{FF2B5EF4-FFF2-40B4-BE49-F238E27FC236}">
                <a16:creationId xmlns:a16="http://schemas.microsoft.com/office/drawing/2014/main" id="{241AE40B-1669-4BEF-AA48-4333A6546BC8}"/>
              </a:ext>
            </a:extLst>
          </p:cNvPr>
          <p:cNvSpPr txBox="1"/>
          <p:nvPr/>
        </p:nvSpPr>
        <p:spPr>
          <a:xfrm>
            <a:off x="4120478" y="3319877"/>
            <a:ext cx="1066800" cy="369332"/>
          </a:xfrm>
          <a:prstGeom prst="rect">
            <a:avLst/>
          </a:prstGeom>
          <a:noFill/>
        </p:spPr>
        <p:txBody>
          <a:bodyPr wrap="square" rtlCol="0">
            <a:spAutoFit/>
          </a:bodyPr>
          <a:lstStyle/>
          <a:p>
            <a:r>
              <a:rPr lang="es-ES_tradnl" sz="18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7" name="TextBox 6">
                <a:extLst>
                  <a:ext uri="{FF2B5EF4-FFF2-40B4-BE49-F238E27FC236}">
                    <a16:creationId xmlns:a16="http://schemas.microsoft.com/office/drawing/2014/main" id="{5FFAFD03-7D48-4CA9-BE3B-A880D110D2AE}"/>
                  </a:ext>
                </a:extLst>
              </p:cNvPr>
              <p:cNvSpPr txBox="1"/>
              <p:nvPr/>
            </p:nvSpPr>
            <p:spPr>
              <a:xfrm>
                <a:off x="4343400" y="3835174"/>
                <a:ext cx="4533197" cy="32464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≥1−</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7" name="TextBox 6">
                <a:extLst>
                  <a:ext uri="{FF2B5EF4-FFF2-40B4-BE49-F238E27FC236}">
                    <a16:creationId xmlns:a16="http://schemas.microsoft.com/office/drawing/2014/main" id="{5FFAFD03-7D48-4CA9-BE3B-A880D110D2AE}"/>
                  </a:ext>
                </a:extLst>
              </p:cNvPr>
              <p:cNvSpPr txBox="1">
                <a:spLocks noRot="1" noChangeAspect="1" noMove="1" noResize="1" noEditPoints="1" noAdjustHandles="1" noChangeArrowheads="1" noChangeShapeType="1" noTextEdit="1"/>
              </p:cNvSpPr>
              <p:nvPr/>
            </p:nvSpPr>
            <p:spPr>
              <a:xfrm>
                <a:off x="4343400" y="3835174"/>
                <a:ext cx="4533197" cy="324641"/>
              </a:xfrm>
              <a:prstGeom prst="rect">
                <a:avLst/>
              </a:prstGeom>
              <a:blipFill>
                <a:blip r:embed="rId8"/>
                <a:stretch>
                  <a:fillRect b="-3396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8" name="Rectángulo 47">
                <a:extLst>
                  <a:ext uri="{FF2B5EF4-FFF2-40B4-BE49-F238E27FC236}">
                    <a16:creationId xmlns:a16="http://schemas.microsoft.com/office/drawing/2014/main" id="{AFDAAFA8-536A-41B7-B745-7AEBC54F9B70}"/>
                  </a:ext>
                </a:extLst>
              </p:cNvPr>
              <p:cNvSpPr/>
              <p:nvPr/>
            </p:nvSpPr>
            <p:spPr>
              <a:xfrm>
                <a:off x="4038600" y="2667000"/>
                <a:ext cx="3016314" cy="84856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s-ES" sz="1800" b="0" i="1" smtClean="0">
                          <a:latin typeface="Cambria Math" panose="02040503050406030204" pitchFamily="18" charset="0"/>
                          <a:ea typeface="Cambria Math" panose="02040503050406030204" pitchFamily="18" charset="0"/>
                        </a:rPr>
                        <m:t>𝑚𝑖𝑛</m:t>
                      </m:r>
                      <m:r>
                        <a:rPr lang="es-ES" sz="1800" b="0" i="1" smtClean="0">
                          <a:latin typeface="Cambria Math" panose="02040503050406030204" pitchFamily="18" charset="0"/>
                          <a:ea typeface="Cambria Math" panose="02040503050406030204" pitchFamily="18" charset="0"/>
                        </a:rPr>
                        <m:t>  </m:t>
                      </m:r>
                      <m:f>
                        <m:fPr>
                          <m:ctrlPr>
                            <a:rPr lang="es-ES" sz="1800" b="0" i="1" smtClean="0">
                              <a:latin typeface="Cambria Math" panose="02040503050406030204" pitchFamily="18" charset="0"/>
                              <a:ea typeface="Cambria Math" panose="02040503050406030204" pitchFamily="18" charset="0"/>
                            </a:rPr>
                          </m:ctrlPr>
                        </m:fPr>
                        <m:num>
                          <m:r>
                            <a:rPr lang="es-ES" sz="1800" b="0" i="1" smtClean="0">
                              <a:latin typeface="Cambria Math" panose="02040503050406030204" pitchFamily="18" charset="0"/>
                              <a:ea typeface="Cambria Math" panose="02040503050406030204" pitchFamily="18" charset="0"/>
                            </a:rPr>
                            <m:t>1</m:t>
                          </m:r>
                        </m:num>
                        <m:den>
                          <m:r>
                            <a:rPr lang="es-ES" sz="1800" b="0" i="1" smtClean="0">
                              <a:latin typeface="Cambria Math" panose="02040503050406030204" pitchFamily="18" charset="0"/>
                              <a:ea typeface="Cambria Math" panose="02040503050406030204" pitchFamily="18" charset="0"/>
                            </a:rPr>
                            <m:t>2</m:t>
                          </m:r>
                        </m:den>
                      </m:f>
                      <m:sSup>
                        <m:sSupPr>
                          <m:ctrlPr>
                            <a:rPr lang="es-ES" sz="1800" b="0" i="1" smtClean="0">
                              <a:latin typeface="Cambria Math" panose="02040503050406030204" pitchFamily="18" charset="0"/>
                              <a:ea typeface="Cambria Math" panose="02040503050406030204" pitchFamily="18" charset="0"/>
                            </a:rPr>
                          </m:ctrlPr>
                        </m:sSupPr>
                        <m:e>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𝛽</m:t>
                              </m:r>
                            </m:e>
                          </m:d>
                        </m:e>
                        <m:sup>
                          <m:r>
                            <a:rPr lang="es-ES" sz="1800" b="0" i="1" smtClean="0">
                              <a:latin typeface="Cambria Math" panose="02040503050406030204" pitchFamily="18" charset="0"/>
                              <a:ea typeface="Cambria Math" panose="02040503050406030204" pitchFamily="18" charset="0"/>
                            </a:rPr>
                            <m:t>2</m:t>
                          </m:r>
                        </m:sup>
                      </m:sSup>
                      <m:r>
                        <a:rPr lang="es-ES" sz="1800" b="0" i="1" smtClean="0">
                          <a:latin typeface="Cambria Math" panose="02040503050406030204" pitchFamily="18" charset="0"/>
                          <a:ea typeface="Cambria Math" panose="02040503050406030204" pitchFamily="18" charset="0"/>
                        </a:rPr>
                        <m:t>+</m:t>
                      </m:r>
                      <m:r>
                        <a:rPr lang="es-ES" sz="1800" b="0" i="1" smtClean="0">
                          <a:latin typeface="Cambria Math" panose="02040503050406030204" pitchFamily="18" charset="0"/>
                          <a:ea typeface="Cambria Math" panose="02040503050406030204" pitchFamily="18" charset="0"/>
                        </a:rPr>
                        <m:t>𝐶</m:t>
                      </m:r>
                      <m:nary>
                        <m:naryPr>
                          <m:chr m:val="∑"/>
                          <m:ctrlPr>
                            <a:rPr lang="es-ES" sz="1800" b="0" i="1" smtClean="0">
                              <a:latin typeface="Cambria Math" panose="02040503050406030204" pitchFamily="18" charset="0"/>
                              <a:ea typeface="Cambria Math" panose="02040503050406030204" pitchFamily="18" charset="0"/>
                            </a:rPr>
                          </m:ctrlPr>
                        </m:naryPr>
                        <m:sub>
                          <m:r>
                            <m:rPr>
                              <m:brk m:alnAt="23"/>
                            </m:rPr>
                            <a:rPr lang="es-ES" sz="1800" b="0" i="1" smtClean="0">
                              <a:latin typeface="Cambria Math" panose="02040503050406030204" pitchFamily="18" charset="0"/>
                              <a:ea typeface="Cambria Math" panose="02040503050406030204" pitchFamily="18" charset="0"/>
                            </a:rPr>
                            <m:t>𝑖</m:t>
                          </m:r>
                          <m:r>
                            <a:rPr lang="es-ES" sz="1800" b="0" i="1" smtClean="0">
                              <a:latin typeface="Cambria Math" panose="02040503050406030204" pitchFamily="18" charset="0"/>
                              <a:ea typeface="Cambria Math" panose="02040503050406030204" pitchFamily="18" charset="0"/>
                            </a:rPr>
                            <m:t>=1</m:t>
                          </m:r>
                        </m:sub>
                        <m:sup>
                          <m:r>
                            <a:rPr lang="es-ES" sz="1800" b="0" i="1" smtClean="0">
                              <a:latin typeface="Cambria Math" panose="02040503050406030204" pitchFamily="18" charset="0"/>
                              <a:ea typeface="Cambria Math" panose="02040503050406030204" pitchFamily="18" charset="0"/>
                            </a:rPr>
                            <m:t>𝑛</m:t>
                          </m:r>
                        </m:sup>
                        <m:e>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i="1">
                                  <a:latin typeface="Cambria Math" panose="02040503050406030204" pitchFamily="18" charset="0"/>
                                  <a:ea typeface="Cambria Math" panose="02040503050406030204" pitchFamily="18" charset="0"/>
                                </a:rPr>
                                <m:t>𝑖</m:t>
                              </m:r>
                            </m:sub>
                          </m:sSub>
                        </m:e>
                      </m:nary>
                    </m:oMath>
                  </m:oMathPara>
                </a14:m>
                <a:endParaRPr lang="es-ES_tradnl" sz="1800" b="0" dirty="0"/>
              </a:p>
            </p:txBody>
          </p:sp>
        </mc:Choice>
        <mc:Fallback xmlns="">
          <p:sp>
            <p:nvSpPr>
              <p:cNvPr id="48" name="Rectángulo 47">
                <a:extLst>
                  <a:ext uri="{FF2B5EF4-FFF2-40B4-BE49-F238E27FC236}">
                    <a16:creationId xmlns:a16="http://schemas.microsoft.com/office/drawing/2014/main" id="{AFDAAFA8-536A-41B7-B745-7AEBC54F9B70}"/>
                  </a:ext>
                </a:extLst>
              </p:cNvPr>
              <p:cNvSpPr>
                <a:spLocks noRot="1" noChangeAspect="1" noMove="1" noResize="1" noEditPoints="1" noAdjustHandles="1" noChangeArrowheads="1" noChangeShapeType="1" noTextEdit="1"/>
              </p:cNvSpPr>
              <p:nvPr/>
            </p:nvSpPr>
            <p:spPr>
              <a:xfrm>
                <a:off x="4038600" y="2667000"/>
                <a:ext cx="3016314" cy="848566"/>
              </a:xfrm>
              <a:prstGeom prst="rect">
                <a:avLst/>
              </a:prstGeom>
              <a:blipFill>
                <a:blip r:embed="rId9"/>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49" name="Rectángulo 48">
                <a:extLst>
                  <a:ext uri="{FF2B5EF4-FFF2-40B4-BE49-F238E27FC236}">
                    <a16:creationId xmlns:a16="http://schemas.microsoft.com/office/drawing/2014/main" id="{FF58A063-4286-4293-AB4E-0B004FBB6EF7}"/>
                  </a:ext>
                </a:extLst>
              </p:cNvPr>
              <p:cNvSpPr/>
              <p:nvPr/>
            </p:nvSpPr>
            <p:spPr>
              <a:xfrm>
                <a:off x="4495198" y="4476690"/>
                <a:ext cx="2254335" cy="400110"/>
              </a:xfrm>
              <a:prstGeom prst="rect">
                <a:avLst/>
              </a:prstGeom>
            </p:spPr>
            <p:txBody>
              <a:bodyPr wrap="none">
                <a:spAutoFit/>
              </a:bodyPr>
              <a:lstStyle/>
              <a:p>
                <a14:m>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m:t>
                    </m:r>
                    <m:r>
                      <a:rPr lang="es-ES" sz="200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0</m:t>
                    </m:r>
                  </m:oMath>
                </a14:m>
                <a:r>
                  <a:rPr lang="es-ES" sz="2000" dirty="0">
                    <a:ea typeface="Cambria Math" panose="02040503050406030204" pitchFamily="18" charset="0"/>
                  </a:rPr>
                  <a:t> </a:t>
                </a:r>
                <a14:m>
                  <m:oMath xmlns:m="http://schemas.openxmlformats.org/officeDocument/2006/math">
                    <m:r>
                      <a:rPr lang="es-ES" sz="2000" i="1">
                        <a:latin typeface="Cambria Math" panose="02040503050406030204" pitchFamily="18" charset="0"/>
                        <a:ea typeface="Cambria Math" panose="02040503050406030204" pitchFamily="18" charset="0"/>
                      </a:rPr>
                      <m:t>,  </m:t>
                    </m:r>
                    <m: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rPr>
                      <m:t>=1,..,</m:t>
                    </m:r>
                    <m:r>
                      <a:rPr lang="es-ES" sz="2000" i="1">
                        <a:latin typeface="Cambria Math" panose="02040503050406030204" pitchFamily="18" charset="0"/>
                      </a:rPr>
                      <m:t>𝑛</m:t>
                    </m:r>
                  </m:oMath>
                </a14:m>
                <a:endParaRPr lang="es-ES_tradnl" sz="2000" dirty="0"/>
              </a:p>
            </p:txBody>
          </p:sp>
        </mc:Choice>
        <mc:Fallback xmlns="">
          <p:sp>
            <p:nvSpPr>
              <p:cNvPr id="49" name="Rectángulo 48">
                <a:extLst>
                  <a:ext uri="{FF2B5EF4-FFF2-40B4-BE49-F238E27FC236}">
                    <a16:creationId xmlns:a16="http://schemas.microsoft.com/office/drawing/2014/main" id="{FF58A063-4286-4293-AB4E-0B004FBB6EF7}"/>
                  </a:ext>
                </a:extLst>
              </p:cNvPr>
              <p:cNvSpPr>
                <a:spLocks noRot="1" noChangeAspect="1" noMove="1" noResize="1" noEditPoints="1" noAdjustHandles="1" noChangeArrowheads="1" noChangeShapeType="1" noTextEdit="1"/>
              </p:cNvSpPr>
              <p:nvPr/>
            </p:nvSpPr>
            <p:spPr>
              <a:xfrm>
                <a:off x="4495198" y="4476690"/>
                <a:ext cx="2254335" cy="400110"/>
              </a:xfrm>
              <a:prstGeom prst="rect">
                <a:avLst/>
              </a:prstGeom>
              <a:blipFill>
                <a:blip r:embed="rId10"/>
                <a:stretch>
                  <a:fillRect b="-1515"/>
                </a:stretch>
              </a:blipFill>
            </p:spPr>
            <p:txBody>
              <a:bodyPr/>
              <a:lstStyle/>
              <a:p>
                <a:r>
                  <a:rPr lang="es-ES_tradnl">
                    <a:noFill/>
                  </a:rPr>
                  <a:t> </a:t>
                </a:r>
              </a:p>
            </p:txBody>
          </p:sp>
        </mc:Fallback>
      </mc:AlternateContent>
      <p:cxnSp>
        <p:nvCxnSpPr>
          <p:cNvPr id="42" name="Conector recto de flecha 20">
            <a:extLst>
              <a:ext uri="{FF2B5EF4-FFF2-40B4-BE49-F238E27FC236}">
                <a16:creationId xmlns:a16="http://schemas.microsoft.com/office/drawing/2014/main" id="{A9493180-4FBA-44B6-A7CD-2DB8BE8295B3}"/>
              </a:ext>
            </a:extLst>
          </p:cNvPr>
          <p:cNvCxnSpPr/>
          <p:nvPr/>
        </p:nvCxnSpPr>
        <p:spPr>
          <a:xfrm>
            <a:off x="903065" y="2357545"/>
            <a:ext cx="0" cy="2099358"/>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3" name="Conector recto de flecha 21">
            <a:extLst>
              <a:ext uri="{FF2B5EF4-FFF2-40B4-BE49-F238E27FC236}">
                <a16:creationId xmlns:a16="http://schemas.microsoft.com/office/drawing/2014/main" id="{153D75AE-5EE8-42DF-8664-200DB7C9E594}"/>
              </a:ext>
            </a:extLst>
          </p:cNvPr>
          <p:cNvCxnSpPr/>
          <p:nvPr/>
        </p:nvCxnSpPr>
        <p:spPr>
          <a:xfrm>
            <a:off x="903065" y="4456903"/>
            <a:ext cx="27432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22">
            <a:extLst>
              <a:ext uri="{FF2B5EF4-FFF2-40B4-BE49-F238E27FC236}">
                <a16:creationId xmlns:a16="http://schemas.microsoft.com/office/drawing/2014/main" id="{E1CA7291-56F4-4A18-8B09-E69A5B9324A6}"/>
              </a:ext>
            </a:extLst>
          </p:cNvPr>
          <p:cNvCxnSpPr>
            <a:cxnSpLocks/>
          </p:cNvCxnSpPr>
          <p:nvPr/>
        </p:nvCxnSpPr>
        <p:spPr>
          <a:xfrm>
            <a:off x="369665" y="2704303"/>
            <a:ext cx="2819400" cy="205740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CuadroTexto 23">
                <a:extLst>
                  <a:ext uri="{FF2B5EF4-FFF2-40B4-BE49-F238E27FC236}">
                    <a16:creationId xmlns:a16="http://schemas.microsoft.com/office/drawing/2014/main" id="{60CF5299-2B32-47C5-9F81-C9C97E38A9FB}"/>
                  </a:ext>
                </a:extLst>
              </p:cNvPr>
              <p:cNvSpPr txBox="1"/>
              <p:nvPr/>
            </p:nvSpPr>
            <p:spPr>
              <a:xfrm>
                <a:off x="2252894" y="3690455"/>
                <a:ext cx="15543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𝛽</m:t>
                          </m:r>
                        </m:e>
                        <m:sup>
                          <m:r>
                            <a:rPr lang="es-ES" b="0" i="1" smtClean="0">
                              <a:latin typeface="Cambria Math" panose="02040503050406030204" pitchFamily="18" charset="0"/>
                            </a:rPr>
                            <m:t>𝑇</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=0</m:t>
                      </m:r>
                    </m:oMath>
                  </m:oMathPara>
                </a14:m>
                <a:endParaRPr lang="es-ES_tradnl" dirty="0"/>
              </a:p>
            </p:txBody>
          </p:sp>
        </mc:Choice>
        <mc:Fallback xmlns="">
          <p:sp>
            <p:nvSpPr>
              <p:cNvPr id="45" name="CuadroTexto 23">
                <a:extLst>
                  <a:ext uri="{FF2B5EF4-FFF2-40B4-BE49-F238E27FC236}">
                    <a16:creationId xmlns:a16="http://schemas.microsoft.com/office/drawing/2014/main" id="{60CF5299-2B32-47C5-9F81-C9C97E38A9FB}"/>
                  </a:ext>
                </a:extLst>
              </p:cNvPr>
              <p:cNvSpPr txBox="1">
                <a:spLocks noRot="1" noChangeAspect="1" noMove="1" noResize="1" noEditPoints="1" noAdjustHandles="1" noChangeArrowheads="1" noChangeShapeType="1" noTextEdit="1"/>
              </p:cNvSpPr>
              <p:nvPr/>
            </p:nvSpPr>
            <p:spPr>
              <a:xfrm>
                <a:off x="2252894" y="3690455"/>
                <a:ext cx="1554336" cy="276999"/>
              </a:xfrm>
              <a:prstGeom prst="rect">
                <a:avLst/>
              </a:prstGeom>
              <a:blipFill>
                <a:blip r:embed="rId11"/>
                <a:stretch>
                  <a:fillRect l="-4706" t="-4348" r="-3137" b="-32609"/>
                </a:stretch>
              </a:blipFill>
            </p:spPr>
            <p:txBody>
              <a:bodyPr/>
              <a:lstStyle/>
              <a:p>
                <a:r>
                  <a:rPr lang="es-ES">
                    <a:noFill/>
                  </a:rPr>
                  <a:t> </a:t>
                </a:r>
              </a:p>
            </p:txBody>
          </p:sp>
        </mc:Fallback>
      </mc:AlternateContent>
      <p:cxnSp>
        <p:nvCxnSpPr>
          <p:cNvPr id="50" name="Conector recto 24">
            <a:extLst>
              <a:ext uri="{FF2B5EF4-FFF2-40B4-BE49-F238E27FC236}">
                <a16:creationId xmlns:a16="http://schemas.microsoft.com/office/drawing/2014/main" id="{D5432558-3C06-4741-9FA4-46753FE5929A}"/>
              </a:ext>
            </a:extLst>
          </p:cNvPr>
          <p:cNvCxnSpPr>
            <a:cxnSpLocks/>
          </p:cNvCxnSpPr>
          <p:nvPr/>
        </p:nvCxnSpPr>
        <p:spPr>
          <a:xfrm>
            <a:off x="685800" y="2400300"/>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1" name="Conector recto 25">
            <a:extLst>
              <a:ext uri="{FF2B5EF4-FFF2-40B4-BE49-F238E27FC236}">
                <a16:creationId xmlns:a16="http://schemas.microsoft.com/office/drawing/2014/main" id="{DCC7895F-DBEF-4C76-AD22-5E3F26673638}"/>
              </a:ext>
            </a:extLst>
          </p:cNvPr>
          <p:cNvCxnSpPr>
            <a:cxnSpLocks/>
          </p:cNvCxnSpPr>
          <p:nvPr/>
        </p:nvCxnSpPr>
        <p:spPr>
          <a:xfrm>
            <a:off x="228600" y="3110273"/>
            <a:ext cx="2819400" cy="2057400"/>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52" name="Conector recto 26">
            <a:extLst>
              <a:ext uri="{FF2B5EF4-FFF2-40B4-BE49-F238E27FC236}">
                <a16:creationId xmlns:a16="http://schemas.microsoft.com/office/drawing/2014/main" id="{A6888898-4C98-4053-9D2F-9D09D9A59335}"/>
              </a:ext>
            </a:extLst>
          </p:cNvPr>
          <p:cNvCxnSpPr>
            <a:cxnSpLocks/>
          </p:cNvCxnSpPr>
          <p:nvPr/>
        </p:nvCxnSpPr>
        <p:spPr>
          <a:xfrm flipV="1">
            <a:off x="1360265" y="3100951"/>
            <a:ext cx="254654" cy="324000"/>
          </a:xfrm>
          <a:prstGeom prst="line">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ángulo 27">
                <a:extLst>
                  <a:ext uri="{FF2B5EF4-FFF2-40B4-BE49-F238E27FC236}">
                    <a16:creationId xmlns:a16="http://schemas.microsoft.com/office/drawing/2014/main" id="{C12D9248-09B7-4731-A3B3-ED6B7D8E0B70}"/>
                  </a:ext>
                </a:extLst>
              </p:cNvPr>
              <p:cNvSpPr/>
              <p:nvPr/>
            </p:nvSpPr>
            <p:spPr>
              <a:xfrm>
                <a:off x="1148488" y="2992877"/>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3" name="Rectángulo 27">
                <a:extLst>
                  <a:ext uri="{FF2B5EF4-FFF2-40B4-BE49-F238E27FC236}">
                    <a16:creationId xmlns:a16="http://schemas.microsoft.com/office/drawing/2014/main" id="{C12D9248-09B7-4731-A3B3-ED6B7D8E0B70}"/>
                  </a:ext>
                </a:extLst>
              </p:cNvPr>
              <p:cNvSpPr>
                <a:spLocks noRot="1" noChangeAspect="1" noMove="1" noResize="1" noEditPoints="1" noAdjustHandles="1" noChangeArrowheads="1" noChangeShapeType="1" noTextEdit="1"/>
              </p:cNvSpPr>
              <p:nvPr/>
            </p:nvSpPr>
            <p:spPr>
              <a:xfrm>
                <a:off x="1148488" y="2992877"/>
                <a:ext cx="410882" cy="338554"/>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Rectángulo 28">
                <a:extLst>
                  <a:ext uri="{FF2B5EF4-FFF2-40B4-BE49-F238E27FC236}">
                    <a16:creationId xmlns:a16="http://schemas.microsoft.com/office/drawing/2014/main" id="{4ABD9B54-479F-47F9-8CE7-9BA4CC60F17E}"/>
                  </a:ext>
                </a:extLst>
              </p:cNvPr>
              <p:cNvSpPr/>
              <p:nvPr/>
            </p:nvSpPr>
            <p:spPr>
              <a:xfrm>
                <a:off x="1330383" y="3633255"/>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1600" b="0" i="1" smtClean="0">
                          <a:latin typeface="Cambria Math" panose="02040503050406030204" pitchFamily="18" charset="0"/>
                        </a:rPr>
                        <m:t>𝑀</m:t>
                      </m:r>
                    </m:oMath>
                  </m:oMathPara>
                </a14:m>
                <a:endParaRPr lang="es-ES_tradnl" sz="1600" dirty="0"/>
              </a:p>
            </p:txBody>
          </p:sp>
        </mc:Choice>
        <mc:Fallback xmlns="">
          <p:sp>
            <p:nvSpPr>
              <p:cNvPr id="54" name="Rectángulo 28">
                <a:extLst>
                  <a:ext uri="{FF2B5EF4-FFF2-40B4-BE49-F238E27FC236}">
                    <a16:creationId xmlns:a16="http://schemas.microsoft.com/office/drawing/2014/main" id="{4ABD9B54-479F-47F9-8CE7-9BA4CC60F17E}"/>
                  </a:ext>
                </a:extLst>
              </p:cNvPr>
              <p:cNvSpPr>
                <a:spLocks noRot="1" noChangeAspect="1" noMove="1" noResize="1" noEditPoints="1" noAdjustHandles="1" noChangeArrowheads="1" noChangeShapeType="1" noTextEdit="1"/>
              </p:cNvSpPr>
              <p:nvPr/>
            </p:nvSpPr>
            <p:spPr>
              <a:xfrm>
                <a:off x="1330383" y="3633255"/>
                <a:ext cx="410882" cy="338554"/>
              </a:xfrm>
              <a:prstGeom prst="rect">
                <a:avLst/>
              </a:prstGeom>
              <a:blipFill>
                <a:blip r:embed="rId13"/>
                <a:stretch>
                  <a:fillRect/>
                </a:stretch>
              </a:blipFill>
            </p:spPr>
            <p:txBody>
              <a:bodyPr/>
              <a:lstStyle/>
              <a:p>
                <a:r>
                  <a:rPr lang="es-ES">
                    <a:noFill/>
                  </a:rPr>
                  <a:t> </a:t>
                </a:r>
              </a:p>
            </p:txBody>
          </p:sp>
        </mc:Fallback>
      </mc:AlternateContent>
      <p:cxnSp>
        <p:nvCxnSpPr>
          <p:cNvPr id="55" name="Conector recto 29">
            <a:extLst>
              <a:ext uri="{FF2B5EF4-FFF2-40B4-BE49-F238E27FC236}">
                <a16:creationId xmlns:a16="http://schemas.microsoft.com/office/drawing/2014/main" id="{AF49BCD3-12FF-42B5-84D5-E7E4EB1E43A5}"/>
              </a:ext>
            </a:extLst>
          </p:cNvPr>
          <p:cNvCxnSpPr>
            <a:cxnSpLocks/>
          </p:cNvCxnSpPr>
          <p:nvPr/>
        </p:nvCxnSpPr>
        <p:spPr>
          <a:xfrm flipV="1">
            <a:off x="1551476" y="3750604"/>
            <a:ext cx="254654" cy="324000"/>
          </a:xfrm>
          <a:prstGeom prst="line">
            <a:avLst/>
          </a:prstGeom>
          <a:ln w="254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6" name="Diagrama de flujo: conector 30">
            <a:extLst>
              <a:ext uri="{FF2B5EF4-FFF2-40B4-BE49-F238E27FC236}">
                <a16:creationId xmlns:a16="http://schemas.microsoft.com/office/drawing/2014/main" id="{F8ED7422-BE37-4061-B741-C8C61F2B72AC}"/>
              </a:ext>
            </a:extLst>
          </p:cNvPr>
          <p:cNvSpPr/>
          <p:nvPr/>
        </p:nvSpPr>
        <p:spPr>
          <a:xfrm flipV="1">
            <a:off x="1837270" y="2617883"/>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7" name="Diagrama de flujo: conector 31">
            <a:extLst>
              <a:ext uri="{FF2B5EF4-FFF2-40B4-BE49-F238E27FC236}">
                <a16:creationId xmlns:a16="http://schemas.microsoft.com/office/drawing/2014/main" id="{3ED44612-DF08-4BC8-BB75-45A4C8202CDC}"/>
              </a:ext>
            </a:extLst>
          </p:cNvPr>
          <p:cNvSpPr/>
          <p:nvPr/>
        </p:nvSpPr>
        <p:spPr>
          <a:xfrm>
            <a:off x="2350865" y="30574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8" name="Diagrama de flujo: conector 32">
            <a:extLst>
              <a:ext uri="{FF2B5EF4-FFF2-40B4-BE49-F238E27FC236}">
                <a16:creationId xmlns:a16="http://schemas.microsoft.com/office/drawing/2014/main" id="{81201F86-B22B-4867-8E70-1C3B4AFFCE80}"/>
              </a:ext>
            </a:extLst>
          </p:cNvPr>
          <p:cNvSpPr/>
          <p:nvPr/>
        </p:nvSpPr>
        <p:spPr>
          <a:xfrm flipV="1">
            <a:off x="2427065" y="24478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9" name="Diagrama de flujo: conector 33">
            <a:extLst>
              <a:ext uri="{FF2B5EF4-FFF2-40B4-BE49-F238E27FC236}">
                <a16:creationId xmlns:a16="http://schemas.microsoft.com/office/drawing/2014/main" id="{0C96B796-741A-44F1-8717-153494B9B187}"/>
              </a:ext>
            </a:extLst>
          </p:cNvPr>
          <p:cNvSpPr/>
          <p:nvPr/>
        </p:nvSpPr>
        <p:spPr>
          <a:xfrm flipV="1">
            <a:off x="2427065" y="3635209"/>
            <a:ext cx="108000" cy="108000"/>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0" name="Diagrama de flujo: extraer 34">
            <a:extLst>
              <a:ext uri="{FF2B5EF4-FFF2-40B4-BE49-F238E27FC236}">
                <a16:creationId xmlns:a16="http://schemas.microsoft.com/office/drawing/2014/main" id="{D772915D-F590-4D6C-BE28-FAE0F832A47D}"/>
              </a:ext>
            </a:extLst>
          </p:cNvPr>
          <p:cNvSpPr/>
          <p:nvPr/>
        </p:nvSpPr>
        <p:spPr>
          <a:xfrm>
            <a:off x="598265" y="4074604"/>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Diagrama de flujo: extraer 35">
            <a:extLst>
              <a:ext uri="{FF2B5EF4-FFF2-40B4-BE49-F238E27FC236}">
                <a16:creationId xmlns:a16="http://schemas.microsoft.com/office/drawing/2014/main" id="{5B731680-95CD-465D-BFA9-CD209FF9A692}"/>
              </a:ext>
            </a:extLst>
          </p:cNvPr>
          <p:cNvSpPr/>
          <p:nvPr/>
        </p:nvSpPr>
        <p:spPr>
          <a:xfrm>
            <a:off x="1404665" y="4227004"/>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2" name="Diagrama de flujo: extraer 36">
            <a:extLst>
              <a:ext uri="{FF2B5EF4-FFF2-40B4-BE49-F238E27FC236}">
                <a16:creationId xmlns:a16="http://schemas.microsoft.com/office/drawing/2014/main" id="{2703F30B-F95E-4C62-A46E-A07C4D2D7349}"/>
              </a:ext>
            </a:extLst>
          </p:cNvPr>
          <p:cNvSpPr/>
          <p:nvPr/>
        </p:nvSpPr>
        <p:spPr>
          <a:xfrm>
            <a:off x="2242865" y="4581409"/>
            <a:ext cx="144000" cy="144000"/>
          </a:xfrm>
          <a:prstGeom prst="flowChartExtra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3" name="Diagrama de flujo: extraer 37">
            <a:extLst>
              <a:ext uri="{FF2B5EF4-FFF2-40B4-BE49-F238E27FC236}">
                <a16:creationId xmlns:a16="http://schemas.microsoft.com/office/drawing/2014/main" id="{CB505387-1455-45A1-AF40-2D3EC6B9CE07}"/>
              </a:ext>
            </a:extLst>
          </p:cNvPr>
          <p:cNvSpPr/>
          <p:nvPr/>
        </p:nvSpPr>
        <p:spPr>
          <a:xfrm>
            <a:off x="522065" y="3286009"/>
            <a:ext cx="144000" cy="144000"/>
          </a:xfrm>
          <a:prstGeom prst="flowChartExtra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Diagrama de flujo: extraer 38">
            <a:extLst>
              <a:ext uri="{FF2B5EF4-FFF2-40B4-BE49-F238E27FC236}">
                <a16:creationId xmlns:a16="http://schemas.microsoft.com/office/drawing/2014/main" id="{C72C9523-9A7F-4EBC-8E97-AEAA6EEC4B44}"/>
              </a:ext>
            </a:extLst>
          </p:cNvPr>
          <p:cNvSpPr/>
          <p:nvPr/>
        </p:nvSpPr>
        <p:spPr>
          <a:xfrm>
            <a:off x="1328465" y="4702009"/>
            <a:ext cx="144000" cy="144000"/>
          </a:xfrm>
          <a:prstGeom prst="flowChartExtra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5" name="Diagrama de flujo: conector 39">
            <a:extLst>
              <a:ext uri="{FF2B5EF4-FFF2-40B4-BE49-F238E27FC236}">
                <a16:creationId xmlns:a16="http://schemas.microsoft.com/office/drawing/2014/main" id="{87A07B0A-55DB-4312-B301-86B710FC7479}"/>
              </a:ext>
            </a:extLst>
          </p:cNvPr>
          <p:cNvSpPr/>
          <p:nvPr/>
        </p:nvSpPr>
        <p:spPr>
          <a:xfrm flipV="1">
            <a:off x="3157265" y="31336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6" name="Diagrama de flujo: conector 40">
            <a:extLst>
              <a:ext uri="{FF2B5EF4-FFF2-40B4-BE49-F238E27FC236}">
                <a16:creationId xmlns:a16="http://schemas.microsoft.com/office/drawing/2014/main" id="{31897C1C-AFBF-4851-B37E-0B1592D247E7}"/>
              </a:ext>
            </a:extLst>
          </p:cNvPr>
          <p:cNvSpPr/>
          <p:nvPr/>
        </p:nvSpPr>
        <p:spPr>
          <a:xfrm flipV="1">
            <a:off x="1436465" y="2219209"/>
            <a:ext cx="108000"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7" name="Diagrama de flujo: extraer 44">
            <a:extLst>
              <a:ext uri="{FF2B5EF4-FFF2-40B4-BE49-F238E27FC236}">
                <a16:creationId xmlns:a16="http://schemas.microsoft.com/office/drawing/2014/main" id="{05CAA760-1C3F-4E69-AD68-B109BD1E969D}"/>
              </a:ext>
            </a:extLst>
          </p:cNvPr>
          <p:cNvSpPr/>
          <p:nvPr/>
        </p:nvSpPr>
        <p:spPr>
          <a:xfrm>
            <a:off x="2032694" y="3570759"/>
            <a:ext cx="144000" cy="144000"/>
          </a:xfrm>
          <a:prstGeom prst="flowChartExtra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Diagrama de flujo: conector 45">
            <a:extLst>
              <a:ext uri="{FF2B5EF4-FFF2-40B4-BE49-F238E27FC236}">
                <a16:creationId xmlns:a16="http://schemas.microsoft.com/office/drawing/2014/main" id="{10106F18-6D88-4082-AAFB-4800427EC859}"/>
              </a:ext>
            </a:extLst>
          </p:cNvPr>
          <p:cNvSpPr/>
          <p:nvPr/>
        </p:nvSpPr>
        <p:spPr>
          <a:xfrm>
            <a:off x="427626" y="3048404"/>
            <a:ext cx="108000" cy="108000"/>
          </a:xfrm>
          <a:prstGeom prst="flowChartConnector">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69" name="Conector recto 54">
            <a:extLst>
              <a:ext uri="{FF2B5EF4-FFF2-40B4-BE49-F238E27FC236}">
                <a16:creationId xmlns:a16="http://schemas.microsoft.com/office/drawing/2014/main" id="{41C8C52F-0905-4851-A6BB-347569FD213B}"/>
              </a:ext>
            </a:extLst>
          </p:cNvPr>
          <p:cNvCxnSpPr>
            <a:cxnSpLocks/>
          </p:cNvCxnSpPr>
          <p:nvPr/>
        </p:nvCxnSpPr>
        <p:spPr>
          <a:xfrm flipV="1">
            <a:off x="1726574" y="3720341"/>
            <a:ext cx="381907" cy="506664"/>
          </a:xfrm>
          <a:prstGeom prst="line">
            <a:avLst/>
          </a:prstGeom>
          <a:ln w="25400">
            <a:solidFill>
              <a:srgbClr val="0070C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0" name="Conector recto 56">
            <a:extLst>
              <a:ext uri="{FF2B5EF4-FFF2-40B4-BE49-F238E27FC236}">
                <a16:creationId xmlns:a16="http://schemas.microsoft.com/office/drawing/2014/main" id="{E44EBFA3-1180-46D3-8975-AC761055B14B}"/>
              </a:ext>
            </a:extLst>
          </p:cNvPr>
          <p:cNvCxnSpPr>
            <a:cxnSpLocks/>
            <a:stCxn id="68" idx="7"/>
          </p:cNvCxnSpPr>
          <p:nvPr/>
        </p:nvCxnSpPr>
        <p:spPr>
          <a:xfrm flipV="1">
            <a:off x="519810" y="2528482"/>
            <a:ext cx="393881" cy="535738"/>
          </a:xfrm>
          <a:prstGeom prst="line">
            <a:avLst/>
          </a:prstGeom>
          <a:ln w="25400">
            <a:solidFill>
              <a:srgbClr val="0070C0"/>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Rectángulo 57">
                <a:extLst>
                  <a:ext uri="{FF2B5EF4-FFF2-40B4-BE49-F238E27FC236}">
                    <a16:creationId xmlns:a16="http://schemas.microsoft.com/office/drawing/2014/main" id="{8206F1D1-3A83-4739-BD9D-1929F3D70F8D}"/>
                  </a:ext>
                </a:extLst>
              </p:cNvPr>
              <p:cNvSpPr/>
              <p:nvPr/>
            </p:nvSpPr>
            <p:spPr>
              <a:xfrm>
                <a:off x="409820" y="2468696"/>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71" name="Rectángulo 57">
                <a:extLst>
                  <a:ext uri="{FF2B5EF4-FFF2-40B4-BE49-F238E27FC236}">
                    <a16:creationId xmlns:a16="http://schemas.microsoft.com/office/drawing/2014/main" id="{8206F1D1-3A83-4739-BD9D-1929F3D70F8D}"/>
                  </a:ext>
                </a:extLst>
              </p:cNvPr>
              <p:cNvSpPr>
                <a:spLocks noRot="1" noChangeAspect="1" noMove="1" noResize="1" noEditPoints="1" noAdjustHandles="1" noChangeArrowheads="1" noChangeShapeType="1" noTextEdit="1"/>
              </p:cNvSpPr>
              <p:nvPr/>
            </p:nvSpPr>
            <p:spPr>
              <a:xfrm>
                <a:off x="409820" y="2468696"/>
                <a:ext cx="387094" cy="338554"/>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2" name="Rectángulo 58">
                <a:extLst>
                  <a:ext uri="{FF2B5EF4-FFF2-40B4-BE49-F238E27FC236}">
                    <a16:creationId xmlns:a16="http://schemas.microsoft.com/office/drawing/2014/main" id="{D35574C8-8CD9-4C45-99F0-44C56830920D}"/>
                  </a:ext>
                </a:extLst>
              </p:cNvPr>
              <p:cNvSpPr/>
              <p:nvPr/>
            </p:nvSpPr>
            <p:spPr>
              <a:xfrm>
                <a:off x="1819878" y="3887483"/>
                <a:ext cx="38709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sz="1600" i="1" smtClean="0">
                              <a:latin typeface="Cambria Math" panose="02040503050406030204" pitchFamily="18" charset="0"/>
                            </a:rPr>
                          </m:ctrlPr>
                        </m:sSubPr>
                        <m:e>
                          <m:r>
                            <a:rPr lang="es-ES_tradnl" sz="1600" i="1" smtClean="0">
                              <a:latin typeface="Cambria Math" panose="02040503050406030204" pitchFamily="18" charset="0"/>
                              <a:ea typeface="Cambria Math" panose="02040503050406030204" pitchFamily="18" charset="0"/>
                            </a:rPr>
                            <m:t>𝜀</m:t>
                          </m:r>
                        </m:e>
                        <m:sub>
                          <m:r>
                            <a:rPr lang="es-ES" sz="1600" b="0" i="1" smtClean="0">
                              <a:latin typeface="Cambria Math" panose="02040503050406030204" pitchFamily="18" charset="0"/>
                            </a:rPr>
                            <m:t>𝑖</m:t>
                          </m:r>
                        </m:sub>
                      </m:sSub>
                    </m:oMath>
                  </m:oMathPara>
                </a14:m>
                <a:endParaRPr lang="es-ES_tradnl" sz="1600" dirty="0"/>
              </a:p>
            </p:txBody>
          </p:sp>
        </mc:Choice>
        <mc:Fallback xmlns="">
          <p:sp>
            <p:nvSpPr>
              <p:cNvPr id="72" name="Rectángulo 58">
                <a:extLst>
                  <a:ext uri="{FF2B5EF4-FFF2-40B4-BE49-F238E27FC236}">
                    <a16:creationId xmlns:a16="http://schemas.microsoft.com/office/drawing/2014/main" id="{D35574C8-8CD9-4C45-99F0-44C56830920D}"/>
                  </a:ext>
                </a:extLst>
              </p:cNvPr>
              <p:cNvSpPr>
                <a:spLocks noRot="1" noChangeAspect="1" noMove="1" noResize="1" noEditPoints="1" noAdjustHandles="1" noChangeArrowheads="1" noChangeShapeType="1" noTextEdit="1"/>
              </p:cNvSpPr>
              <p:nvPr/>
            </p:nvSpPr>
            <p:spPr>
              <a:xfrm>
                <a:off x="1819878" y="3887483"/>
                <a:ext cx="387094" cy="338554"/>
              </a:xfrm>
              <a:prstGeom prst="rect">
                <a:avLst/>
              </a:prstGeom>
              <a:blipFill>
                <a:blip r:embed="rId1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2892997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a:t>Suppor</a:t>
            </a:r>
            <a:r>
              <a:rPr lang="en-US" dirty="0"/>
              <a:t> Vector Machines. Example</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Impact of C parameter: </a:t>
            </a:r>
            <a:r>
              <a:rPr lang="en-US" dirty="0"/>
              <a:t>Try C=1 and C=0.0001 in the script Example.py</a:t>
            </a:r>
          </a:p>
          <a:p>
            <a:pPr algn="just">
              <a:spcBef>
                <a:spcPct val="50000"/>
              </a:spcBef>
            </a:pPr>
            <a:endParaRPr lang="es-ES" b="1" dirty="0"/>
          </a:p>
        </p:txBody>
      </p:sp>
      <p:sp>
        <p:nvSpPr>
          <p:cNvPr id="3" name="CuadroTexto 2">
            <a:extLst>
              <a:ext uri="{FF2B5EF4-FFF2-40B4-BE49-F238E27FC236}">
                <a16:creationId xmlns:a16="http://schemas.microsoft.com/office/drawing/2014/main" id="{40528185-95A6-4413-943F-C3E340008C26}"/>
              </a:ext>
            </a:extLst>
          </p:cNvPr>
          <p:cNvSpPr txBox="1"/>
          <p:nvPr/>
        </p:nvSpPr>
        <p:spPr>
          <a:xfrm>
            <a:off x="533400" y="2362200"/>
            <a:ext cx="609600" cy="369332"/>
          </a:xfrm>
          <a:prstGeom prst="rect">
            <a:avLst/>
          </a:prstGeom>
          <a:noFill/>
        </p:spPr>
        <p:txBody>
          <a:bodyPr wrap="square" rtlCol="0">
            <a:spAutoFit/>
          </a:bodyPr>
          <a:lstStyle/>
          <a:p>
            <a:r>
              <a:rPr lang="es-ES" b="1" dirty="0"/>
              <a:t>C=1</a:t>
            </a:r>
            <a:endParaRPr lang="es-ES_tradnl" b="1" dirty="0"/>
          </a:p>
        </p:txBody>
      </p:sp>
      <p:pic>
        <p:nvPicPr>
          <p:cNvPr id="4" name="Imagen 3">
            <a:extLst>
              <a:ext uri="{FF2B5EF4-FFF2-40B4-BE49-F238E27FC236}">
                <a16:creationId xmlns:a16="http://schemas.microsoft.com/office/drawing/2014/main" id="{49FE7906-1E08-4325-9ECB-6E600D04E078}"/>
              </a:ext>
            </a:extLst>
          </p:cNvPr>
          <p:cNvPicPr>
            <a:picLocks noChangeAspect="1"/>
          </p:cNvPicPr>
          <p:nvPr/>
        </p:nvPicPr>
        <p:blipFill>
          <a:blip r:embed="rId3"/>
          <a:stretch>
            <a:fillRect/>
          </a:stretch>
        </p:blipFill>
        <p:spPr>
          <a:xfrm>
            <a:off x="1626187" y="2362200"/>
            <a:ext cx="4698413" cy="3149206"/>
          </a:xfrm>
          <a:prstGeom prst="rect">
            <a:avLst/>
          </a:prstGeom>
        </p:spPr>
      </p:pic>
    </p:spTree>
    <p:extLst>
      <p:ext uri="{BB962C8B-B14F-4D97-AF65-F5344CB8AC3E}">
        <p14:creationId xmlns:p14="http://schemas.microsoft.com/office/powerpoint/2010/main" val="226305460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 Example</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Impact of C parameter: </a:t>
            </a:r>
            <a:r>
              <a:rPr lang="en-US" dirty="0"/>
              <a:t>Try C=1 and C=0.0001 in the script Example.py</a:t>
            </a:r>
          </a:p>
          <a:p>
            <a:pPr algn="just">
              <a:spcBef>
                <a:spcPct val="50000"/>
              </a:spcBef>
            </a:pPr>
            <a:endParaRPr lang="es-ES" b="1" dirty="0"/>
          </a:p>
        </p:txBody>
      </p:sp>
      <p:sp>
        <p:nvSpPr>
          <p:cNvPr id="3" name="CuadroTexto 2">
            <a:extLst>
              <a:ext uri="{FF2B5EF4-FFF2-40B4-BE49-F238E27FC236}">
                <a16:creationId xmlns:a16="http://schemas.microsoft.com/office/drawing/2014/main" id="{40528185-95A6-4413-943F-C3E340008C26}"/>
              </a:ext>
            </a:extLst>
          </p:cNvPr>
          <p:cNvSpPr txBox="1"/>
          <p:nvPr/>
        </p:nvSpPr>
        <p:spPr>
          <a:xfrm>
            <a:off x="533399" y="2362200"/>
            <a:ext cx="1092787" cy="369332"/>
          </a:xfrm>
          <a:prstGeom prst="rect">
            <a:avLst/>
          </a:prstGeom>
          <a:noFill/>
        </p:spPr>
        <p:txBody>
          <a:bodyPr wrap="square" rtlCol="0">
            <a:spAutoFit/>
          </a:bodyPr>
          <a:lstStyle/>
          <a:p>
            <a:r>
              <a:rPr lang="es-ES" b="1" dirty="0"/>
              <a:t>C=0.0001</a:t>
            </a:r>
            <a:endParaRPr lang="es-ES_tradnl" b="1" dirty="0"/>
          </a:p>
        </p:txBody>
      </p:sp>
      <p:pic>
        <p:nvPicPr>
          <p:cNvPr id="2" name="Imagen 1">
            <a:extLst>
              <a:ext uri="{FF2B5EF4-FFF2-40B4-BE49-F238E27FC236}">
                <a16:creationId xmlns:a16="http://schemas.microsoft.com/office/drawing/2014/main" id="{90ED1155-F7AE-4A41-BDA5-2F51F96D0E5E}"/>
              </a:ext>
            </a:extLst>
          </p:cNvPr>
          <p:cNvPicPr>
            <a:picLocks noChangeAspect="1"/>
          </p:cNvPicPr>
          <p:nvPr/>
        </p:nvPicPr>
        <p:blipFill>
          <a:blip r:embed="rId3"/>
          <a:stretch>
            <a:fillRect/>
          </a:stretch>
        </p:blipFill>
        <p:spPr>
          <a:xfrm>
            <a:off x="1752600" y="2525095"/>
            <a:ext cx="4787301" cy="3149206"/>
          </a:xfrm>
          <a:prstGeom prst="rect">
            <a:avLst/>
          </a:prstGeom>
        </p:spPr>
      </p:pic>
    </p:spTree>
    <p:extLst>
      <p:ext uri="{BB962C8B-B14F-4D97-AF65-F5344CB8AC3E}">
        <p14:creationId xmlns:p14="http://schemas.microsoft.com/office/powerpoint/2010/main" val="297045481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369332"/>
          </a:xfrm>
          <a:prstGeom prst="rect">
            <a:avLst/>
          </a:prstGeom>
        </p:spPr>
        <p:txBody>
          <a:bodyPr wrap="square">
            <a:spAutoFit/>
          </a:bodyPr>
          <a:lstStyle/>
          <a:p>
            <a:pPr algn="just">
              <a:spcBef>
                <a:spcPct val="50000"/>
              </a:spcBef>
            </a:pPr>
            <a:r>
              <a:rPr lang="en-US" b="1" dirty="0"/>
              <a:t>Impact of C parameter: </a:t>
            </a:r>
            <a:r>
              <a:rPr lang="en-US" dirty="0"/>
              <a:t>Fixed by cross-validation.</a:t>
            </a:r>
            <a:endParaRPr lang="es-ES" b="1" dirty="0"/>
          </a:p>
        </p:txBody>
      </p:sp>
      <p:pic>
        <p:nvPicPr>
          <p:cNvPr id="9" name="Imagen 8">
            <a:extLst>
              <a:ext uri="{FF2B5EF4-FFF2-40B4-BE49-F238E27FC236}">
                <a16:creationId xmlns:a16="http://schemas.microsoft.com/office/drawing/2014/main" id="{90F0DDCF-6187-49C8-B171-4ED2F41BE13D}"/>
              </a:ext>
            </a:extLst>
          </p:cNvPr>
          <p:cNvPicPr>
            <a:picLocks noChangeAspect="1"/>
          </p:cNvPicPr>
          <p:nvPr/>
        </p:nvPicPr>
        <p:blipFill>
          <a:blip r:embed="rId3"/>
          <a:stretch>
            <a:fillRect/>
          </a:stretch>
        </p:blipFill>
        <p:spPr>
          <a:xfrm>
            <a:off x="489857" y="2438400"/>
            <a:ext cx="7186008" cy="2513722"/>
          </a:xfrm>
          <a:prstGeom prst="rect">
            <a:avLst/>
          </a:prstGeom>
        </p:spPr>
      </p:pic>
    </p:spTree>
    <p:extLst>
      <p:ext uri="{BB962C8B-B14F-4D97-AF65-F5344CB8AC3E}">
        <p14:creationId xmlns:p14="http://schemas.microsoft.com/office/powerpoint/2010/main" val="245011931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91656" y="76200"/>
            <a:ext cx="8114144" cy="609600"/>
          </a:xfrm>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1631216"/>
          </a:xfrm>
          <a:prstGeom prst="rect">
            <a:avLst/>
          </a:prstGeom>
        </p:spPr>
        <p:txBody>
          <a:bodyPr wrap="square">
            <a:spAutoFit/>
          </a:bodyPr>
          <a:lstStyle/>
          <a:p>
            <a:pPr algn="just">
              <a:spcBef>
                <a:spcPct val="50000"/>
              </a:spcBef>
            </a:pPr>
            <a:r>
              <a:rPr lang="en-US" sz="2000" b="1" dirty="0"/>
              <a:t>Complete Exercise 1</a:t>
            </a:r>
            <a:endParaRPr lang="es-ES" sz="2000" b="1" dirty="0"/>
          </a:p>
          <a:p>
            <a:pPr algn="just">
              <a:spcBef>
                <a:spcPct val="50000"/>
              </a:spcBef>
            </a:pPr>
            <a:r>
              <a:rPr lang="en-US" sz="2000" dirty="0"/>
              <a:t>You have data from the maintenance of an equipment under two conditions: ‘normal’ and ‘fault’. </a:t>
            </a:r>
          </a:p>
          <a:p>
            <a:pPr algn="just">
              <a:spcBef>
                <a:spcPct val="50000"/>
              </a:spcBef>
            </a:pPr>
            <a:r>
              <a:rPr lang="es-ES" sz="2000" dirty="0"/>
              <a:t>Complete </a:t>
            </a:r>
            <a:r>
              <a:rPr lang="es-ES" sz="2000" dirty="0" err="1"/>
              <a:t>the</a:t>
            </a:r>
            <a:r>
              <a:rPr lang="es-ES" sz="2000" dirty="0"/>
              <a:t> </a:t>
            </a:r>
            <a:r>
              <a:rPr lang="es-ES" sz="2000" dirty="0" err="1"/>
              <a:t>code</a:t>
            </a:r>
            <a:r>
              <a:rPr lang="es-ES" sz="2000" dirty="0"/>
              <a:t> </a:t>
            </a:r>
            <a:r>
              <a:rPr lang="es-ES" sz="2000" dirty="0" err="1"/>
              <a:t>using</a:t>
            </a:r>
            <a:r>
              <a:rPr lang="es-ES" sz="2000" dirty="0"/>
              <a:t> linear SVM.</a:t>
            </a:r>
            <a:endParaRPr lang="en-US" sz="2000" dirty="0"/>
          </a:p>
        </p:txBody>
      </p:sp>
    </p:spTree>
    <p:extLst>
      <p:ext uri="{BB962C8B-B14F-4D97-AF65-F5344CB8AC3E}">
        <p14:creationId xmlns:p14="http://schemas.microsoft.com/office/powerpoint/2010/main" val="292728127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Dual formulation </a:t>
            </a:r>
          </a:p>
          <a:p>
            <a:pPr algn="just">
              <a:spcBef>
                <a:spcPct val="50000"/>
              </a:spcBef>
            </a:pPr>
            <a:endParaRPr lang="es-ES" b="1" dirty="0"/>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729734"/>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572203" y="4291100"/>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572203" y="4291100"/>
                <a:ext cx="4533197" cy="307777"/>
              </a:xfrm>
              <a:prstGeom prst="rect">
                <a:avLst/>
              </a:prstGeom>
              <a:blipFill>
                <a:blip r:embed="rId3"/>
                <a:stretch>
                  <a:fillRect b="-1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1136C05-3DA5-4D8C-808B-73426413394C}"/>
                  </a:ext>
                </a:extLst>
              </p:cNvPr>
              <p:cNvSpPr txBox="1"/>
              <p:nvPr/>
            </p:nvSpPr>
            <p:spPr>
              <a:xfrm>
                <a:off x="515270" y="1803712"/>
                <a:ext cx="2989930"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r>
                            <a:rPr lang="es-ES" sz="2000" b="0" i="1" smtClean="0">
                              <a:latin typeface="Cambria Math" panose="02040503050406030204" pitchFamily="18" charset="0"/>
                            </a:rPr>
                            <m:t>𝑚𝑎𝑥</m:t>
                          </m:r>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b="0" i="1" smtClean="0">
                                  <a:latin typeface="Cambria Math" panose="02040503050406030204" pitchFamily="18" charset="0"/>
                                  <a:ea typeface="Cambria Math" panose="02040503050406030204" pitchFamily="18" charset="0"/>
                                </a:rPr>
                                <m:t>𝐷</m:t>
                              </m:r>
                            </m:sub>
                          </m:sSub>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r>
                                    <a:rPr lang="es-ES" sz="2000" b="0" i="1" smtClean="0">
                                      <a:latin typeface="Cambria Math" panose="02040503050406030204" pitchFamily="18" charset="0"/>
                                      <a:ea typeface="Cambria Math" panose="02040503050406030204" pitchFamily="18" charset="0"/>
                                    </a:rPr>
                                    <m:t>2</m:t>
                                  </m:r>
                                </m:den>
                              </m:f>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𝑘</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𝑘</m:t>
                                          </m:r>
                                        </m:sub>
                                      </m:sSub>
                                      <m:sSubSup>
                                        <m:sSubSupPr>
                                          <m:ctrlPr>
                                            <a:rPr lang="es-ES" sz="2000" i="1">
                                              <a:latin typeface="Cambria Math" panose="02040503050406030204" pitchFamily="18" charset="0"/>
                                            </a:rPr>
                                          </m:ctrlPr>
                                        </m:sSubSupPr>
                                        <m:e>
                                          <m:r>
                                            <a:rPr lang="es-ES" sz="2000" i="1">
                                              <a:latin typeface="Cambria Math" panose="02040503050406030204" pitchFamily="18" charset="0"/>
                                              <a:ea typeface="Cambria Math" panose="02040503050406030204" pitchFamily="18" charset="0"/>
                                            </a:rPr>
                                            <m:t>𝑥</m:t>
                                          </m:r>
                                        </m:e>
                                        <m:sub>
                                          <m:r>
                                            <a:rPr lang="es-ES" sz="2000" i="1">
                                              <a:latin typeface="Cambria Math" panose="02040503050406030204" pitchFamily="18" charset="0"/>
                                            </a:rPr>
                                            <m:t>𝑖</m:t>
                                          </m:r>
                                        </m:sub>
                                        <m:sup>
                                          <m:r>
                                            <a:rPr lang="es-ES" sz="2000" i="1">
                                              <a:latin typeface="Cambria Math" panose="02040503050406030204" pitchFamily="18" charset="0"/>
                                            </a:rPr>
                                            <m:t>𝑇</m:t>
                                          </m:r>
                                        </m:sup>
                                      </m:sSubSup>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𝑥</m:t>
                                          </m:r>
                                        </m:e>
                                        <m:sub>
                                          <m:r>
                                            <a:rPr lang="es-ES" sz="2000" b="0" i="1" smtClean="0">
                                              <a:latin typeface="Cambria Math" panose="02040503050406030204" pitchFamily="18" charset="0"/>
                                            </a:rPr>
                                            <m:t>𝑘</m:t>
                                          </m:r>
                                        </m:sub>
                                      </m:sSub>
                                    </m:e>
                                  </m:nary>
                                </m:e>
                              </m:nary>
                            </m:e>
                          </m:nary>
                        </m:e>
                      </m:func>
                    </m:oMath>
                  </m:oMathPara>
                </a14:m>
                <a:endParaRPr lang="es-ES_tradnl" sz="2000" dirty="0"/>
              </a:p>
            </p:txBody>
          </p:sp>
        </mc:Choice>
        <mc:Fallback xmlns="">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15270" y="1803712"/>
                <a:ext cx="2989930" cy="840295"/>
              </a:xfrm>
              <a:prstGeom prst="rect">
                <a:avLst/>
              </a:prstGeom>
              <a:blipFill>
                <a:blip r:embed="rId4"/>
                <a:stretch>
                  <a:fillRect r="-5183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063092B3-6318-4A04-8541-4F2EF149839A}"/>
                  </a:ext>
                </a:extLst>
              </p:cNvPr>
              <p:cNvSpPr/>
              <p:nvPr/>
            </p:nvSpPr>
            <p:spPr>
              <a:xfrm>
                <a:off x="1299431" y="3148424"/>
                <a:ext cx="1558632"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e>
                      </m:nary>
                    </m:oMath>
                  </m:oMathPara>
                </a14:m>
                <a:endParaRPr lang="es-ES_tradnl" sz="2000" dirty="0"/>
              </a:p>
            </p:txBody>
          </p:sp>
        </mc:Choice>
        <mc:Fallback xmlns="">
          <p:sp>
            <p:nvSpPr>
              <p:cNvPr id="2" name="Rectángulo 1">
                <a:extLst>
                  <a:ext uri="{FF2B5EF4-FFF2-40B4-BE49-F238E27FC236}">
                    <a16:creationId xmlns:a16="http://schemas.microsoft.com/office/drawing/2014/main" id="{063092B3-6318-4A04-8541-4F2EF149839A}"/>
                  </a:ext>
                </a:extLst>
              </p:cNvPr>
              <p:cNvSpPr>
                <a:spLocks noRot="1" noChangeAspect="1" noMove="1" noResize="1" noEditPoints="1" noAdjustHandles="1" noChangeArrowheads="1" noChangeShapeType="1" noTextEdit="1"/>
              </p:cNvSpPr>
              <p:nvPr/>
            </p:nvSpPr>
            <p:spPr>
              <a:xfrm>
                <a:off x="1299431" y="3148424"/>
                <a:ext cx="1558632" cy="932628"/>
              </a:xfrm>
              <a:prstGeom prst="rect">
                <a:avLst/>
              </a:prstGeom>
              <a:blipFill>
                <a:blip r:embed="rId5"/>
                <a:stretch>
                  <a:fillRect/>
                </a:stretch>
              </a:blipFill>
            </p:spPr>
            <p:txBody>
              <a:bodyPr/>
              <a:lstStyle/>
              <a:p>
                <a:r>
                  <a:rPr lang="es-ES_tradnl">
                    <a:noFill/>
                  </a:rPr>
                  <a:t> </a:t>
                </a:r>
              </a:p>
            </p:txBody>
          </p:sp>
        </mc:Fallback>
      </mc:AlternateContent>
      <p:sp>
        <p:nvSpPr>
          <p:cNvPr id="3" name="Rectángulo 2">
            <a:extLst>
              <a:ext uri="{FF2B5EF4-FFF2-40B4-BE49-F238E27FC236}">
                <a16:creationId xmlns:a16="http://schemas.microsoft.com/office/drawing/2014/main" id="{1B277D5A-AAE8-4E0E-B003-6B3734589A1D}"/>
              </a:ext>
            </a:extLst>
          </p:cNvPr>
          <p:cNvSpPr/>
          <p:nvPr/>
        </p:nvSpPr>
        <p:spPr>
          <a:xfrm>
            <a:off x="4495800" y="1905000"/>
            <a:ext cx="838200" cy="661900"/>
          </a:xfrm>
          <a:prstGeom prst="rect">
            <a:avLst/>
          </a:prstGeom>
          <a:solidFill>
            <a:srgbClr val="FF0000">
              <a:alpha val="54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CuadroTexto 6">
            <a:extLst>
              <a:ext uri="{FF2B5EF4-FFF2-40B4-BE49-F238E27FC236}">
                <a16:creationId xmlns:a16="http://schemas.microsoft.com/office/drawing/2014/main" id="{2DC03457-A7BC-411C-865C-DC2BC1382EE1}"/>
              </a:ext>
            </a:extLst>
          </p:cNvPr>
          <p:cNvSpPr txBox="1"/>
          <p:nvPr/>
        </p:nvSpPr>
        <p:spPr>
          <a:xfrm>
            <a:off x="6095999" y="1905000"/>
            <a:ext cx="1748569" cy="646331"/>
          </a:xfrm>
          <a:prstGeom prst="rect">
            <a:avLst/>
          </a:prstGeom>
          <a:noFill/>
        </p:spPr>
        <p:txBody>
          <a:bodyPr wrap="square" rtlCol="0">
            <a:spAutoFit/>
          </a:bodyPr>
          <a:lstStyle/>
          <a:p>
            <a:r>
              <a:rPr lang="es-ES" dirty="0"/>
              <a:t>Input </a:t>
            </a:r>
            <a:r>
              <a:rPr lang="es-ES" dirty="0" err="1"/>
              <a:t>feature</a:t>
            </a:r>
            <a:r>
              <a:rPr lang="es-ES" dirty="0"/>
              <a:t> </a:t>
            </a:r>
            <a:r>
              <a:rPr lang="es-ES" dirty="0" err="1"/>
              <a:t>via</a:t>
            </a:r>
            <a:r>
              <a:rPr lang="es-ES" dirty="0"/>
              <a:t> </a:t>
            </a:r>
            <a:r>
              <a:rPr lang="es-ES" dirty="0" err="1"/>
              <a:t>inner</a:t>
            </a:r>
            <a:r>
              <a:rPr lang="es-ES" dirty="0"/>
              <a:t> </a:t>
            </a:r>
            <a:r>
              <a:rPr lang="es-ES" dirty="0" err="1"/>
              <a:t>products</a:t>
            </a:r>
            <a:r>
              <a:rPr lang="es-ES" dirty="0"/>
              <a:t> </a:t>
            </a:r>
            <a:endParaRPr lang="es-ES_tradnl" dirty="0"/>
          </a:p>
        </p:txBody>
      </p:sp>
    </p:spTree>
    <p:extLst>
      <p:ext uri="{BB962C8B-B14F-4D97-AF65-F5344CB8AC3E}">
        <p14:creationId xmlns:p14="http://schemas.microsoft.com/office/powerpoint/2010/main" val="20815797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5" name="Text Box 3">
            <a:extLst>
              <a:ext uri="{FF2B5EF4-FFF2-40B4-BE49-F238E27FC236}">
                <a16:creationId xmlns:a16="http://schemas.microsoft.com/office/drawing/2014/main" id="{5E317343-2185-4420-AD43-A9A34C7DEB4A}"/>
              </a:ext>
            </a:extLst>
          </p:cNvPr>
          <p:cNvSpPr txBox="1">
            <a:spLocks noChangeArrowheads="1"/>
          </p:cNvSpPr>
          <p:nvPr/>
        </p:nvSpPr>
        <p:spPr bwMode="auto">
          <a:xfrm>
            <a:off x="457200" y="1272570"/>
            <a:ext cx="7848600" cy="784830"/>
          </a:xfrm>
          <a:prstGeom prst="rect">
            <a:avLst/>
          </a:prstGeom>
        </p:spPr>
        <p:txBody>
          <a:bodyPr wrap="square">
            <a:spAutoFit/>
          </a:bodyPr>
          <a:lstStyle/>
          <a:p>
            <a:pPr algn="just">
              <a:spcBef>
                <a:spcPct val="50000"/>
              </a:spcBef>
            </a:pPr>
            <a:r>
              <a:rPr lang="en-US" b="1" dirty="0"/>
              <a:t>Dual formulation </a:t>
            </a:r>
          </a:p>
          <a:p>
            <a:pPr algn="just">
              <a:spcBef>
                <a:spcPct val="50000"/>
              </a:spcBef>
            </a:pPr>
            <a:endParaRPr lang="es-ES" b="1" dirty="0"/>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729734"/>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572203" y="4291100"/>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572203" y="4291100"/>
                <a:ext cx="4533197" cy="307777"/>
              </a:xfrm>
              <a:prstGeom prst="rect">
                <a:avLst/>
              </a:prstGeom>
              <a:blipFill>
                <a:blip r:embed="rId3"/>
                <a:stretch>
                  <a:fillRect b="-1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1136C05-3DA5-4D8C-808B-73426413394C}"/>
                  </a:ext>
                </a:extLst>
              </p:cNvPr>
              <p:cNvSpPr txBox="1"/>
              <p:nvPr/>
            </p:nvSpPr>
            <p:spPr>
              <a:xfrm>
                <a:off x="515270" y="1803712"/>
                <a:ext cx="2989930"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r>
                            <a:rPr lang="es-ES" sz="2000" b="0" i="1" smtClean="0">
                              <a:latin typeface="Cambria Math" panose="02040503050406030204" pitchFamily="18" charset="0"/>
                            </a:rPr>
                            <m:t>𝑚𝑎𝑥</m:t>
                          </m:r>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b="0" i="1" smtClean="0">
                                  <a:latin typeface="Cambria Math" panose="02040503050406030204" pitchFamily="18" charset="0"/>
                                  <a:ea typeface="Cambria Math" panose="02040503050406030204" pitchFamily="18" charset="0"/>
                                </a:rPr>
                                <m:t>𝐷</m:t>
                              </m:r>
                            </m:sub>
                          </m:sSub>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r>
                                    <a:rPr lang="es-ES" sz="2000" b="0" i="1" smtClean="0">
                                      <a:latin typeface="Cambria Math" panose="02040503050406030204" pitchFamily="18" charset="0"/>
                                      <a:ea typeface="Cambria Math" panose="02040503050406030204" pitchFamily="18" charset="0"/>
                                    </a:rPr>
                                    <m:t>2</m:t>
                                  </m:r>
                                </m:den>
                              </m:f>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𝑘</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𝑘</m:t>
                                          </m:r>
                                        </m:sub>
                                      </m:sSub>
                                      <m:sSup>
                                        <m:sSupPr>
                                          <m:ctrlPr>
                                            <a:rPr lang="es-ES" sz="2000" i="1" smtClean="0">
                                              <a:latin typeface="Cambria Math" panose="02040503050406030204" pitchFamily="18" charset="0"/>
                                              <a:ea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h</m:t>
                                          </m:r>
                                          <m:d>
                                            <m:dPr>
                                              <m:ctrlPr>
                                                <a:rPr lang="es-ES" sz="2000" b="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b="0" i="1" smtClean="0">
                                                      <a:latin typeface="Cambria Math" panose="02040503050406030204" pitchFamily="18" charset="0"/>
                                                    </a:rPr>
                                                    <m:t>𝑖</m:t>
                                                  </m:r>
                                                </m:sub>
                                              </m:sSub>
                                            </m:e>
                                          </m:d>
                                        </m:e>
                                        <m:sup>
                                          <m:r>
                                            <a:rPr lang="es-ES" sz="2000" b="0" i="1" smtClean="0">
                                              <a:latin typeface="Cambria Math" panose="02040503050406030204" pitchFamily="18" charset="0"/>
                                              <a:ea typeface="Cambria Math" panose="02040503050406030204" pitchFamily="18" charset="0"/>
                                            </a:rPr>
                                            <m:t>𝑇</m:t>
                                          </m:r>
                                        </m:sup>
                                      </m:sSup>
                                      <m:r>
                                        <a:rPr lang="es-ES" sz="2000" b="0" i="1" smtClean="0">
                                          <a:latin typeface="Cambria Math" panose="02040503050406030204" pitchFamily="18" charset="0"/>
                                          <a:ea typeface="Cambria Math" panose="02040503050406030204" pitchFamily="18" charset="0"/>
                                        </a:rPr>
                                        <m:t>h</m:t>
                                      </m:r>
                                      <m:r>
                                        <a:rPr lang="es-ES" sz="2000" b="0" i="1" smtClean="0">
                                          <a:latin typeface="Cambria Math" panose="02040503050406030204" pitchFamily="18" charset="0"/>
                                          <a:ea typeface="Cambria Math" panose="02040503050406030204" pitchFamily="18" charset="0"/>
                                        </a:rPr>
                                        <m:t>(</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𝑥</m:t>
                                          </m:r>
                                        </m:e>
                                        <m:sub>
                                          <m:r>
                                            <a:rPr lang="es-ES" sz="2000" b="0" i="1" smtClean="0">
                                              <a:latin typeface="Cambria Math" panose="02040503050406030204" pitchFamily="18" charset="0"/>
                                            </a:rPr>
                                            <m:t>𝑘</m:t>
                                          </m:r>
                                        </m:sub>
                                      </m:sSub>
                                      <m:r>
                                        <a:rPr lang="es-ES" sz="2000" b="0" i="1" smtClean="0">
                                          <a:latin typeface="Cambria Math" panose="02040503050406030204" pitchFamily="18" charset="0"/>
                                        </a:rPr>
                                        <m:t>)</m:t>
                                      </m:r>
                                    </m:e>
                                  </m:nary>
                                </m:e>
                              </m:nary>
                            </m:e>
                          </m:nary>
                        </m:e>
                      </m:func>
                    </m:oMath>
                  </m:oMathPara>
                </a14:m>
                <a:endParaRPr lang="es-ES_tradnl" sz="2000" dirty="0"/>
              </a:p>
            </p:txBody>
          </p:sp>
        </mc:Choice>
        <mc:Fallback xmlns="">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15270" y="1803712"/>
                <a:ext cx="2989930" cy="840295"/>
              </a:xfrm>
              <a:prstGeom prst="rect">
                <a:avLst/>
              </a:prstGeom>
              <a:blipFill>
                <a:blip r:embed="rId4"/>
                <a:stretch>
                  <a:fillRect r="-7795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063092B3-6318-4A04-8541-4F2EF149839A}"/>
                  </a:ext>
                </a:extLst>
              </p:cNvPr>
              <p:cNvSpPr/>
              <p:nvPr/>
            </p:nvSpPr>
            <p:spPr>
              <a:xfrm>
                <a:off x="1299431" y="3148424"/>
                <a:ext cx="1558632"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e>
                      </m:nary>
                    </m:oMath>
                  </m:oMathPara>
                </a14:m>
                <a:endParaRPr lang="es-ES_tradnl" sz="2000" dirty="0"/>
              </a:p>
            </p:txBody>
          </p:sp>
        </mc:Choice>
        <mc:Fallback xmlns="">
          <p:sp>
            <p:nvSpPr>
              <p:cNvPr id="2" name="Rectángulo 1">
                <a:extLst>
                  <a:ext uri="{FF2B5EF4-FFF2-40B4-BE49-F238E27FC236}">
                    <a16:creationId xmlns:a16="http://schemas.microsoft.com/office/drawing/2014/main" id="{063092B3-6318-4A04-8541-4F2EF149839A}"/>
                  </a:ext>
                </a:extLst>
              </p:cNvPr>
              <p:cNvSpPr>
                <a:spLocks noRot="1" noChangeAspect="1" noMove="1" noResize="1" noEditPoints="1" noAdjustHandles="1" noChangeArrowheads="1" noChangeShapeType="1" noTextEdit="1"/>
              </p:cNvSpPr>
              <p:nvPr/>
            </p:nvSpPr>
            <p:spPr>
              <a:xfrm>
                <a:off x="1299431" y="3148424"/>
                <a:ext cx="1558632" cy="932628"/>
              </a:xfrm>
              <a:prstGeom prst="rect">
                <a:avLst/>
              </a:prstGeom>
              <a:blipFill>
                <a:blip r:embed="rId5"/>
                <a:stretch>
                  <a:fillRect/>
                </a:stretch>
              </a:blipFill>
            </p:spPr>
            <p:txBody>
              <a:bodyPr/>
              <a:lstStyle/>
              <a:p>
                <a:r>
                  <a:rPr lang="es-ES_tradnl">
                    <a:noFill/>
                  </a:rPr>
                  <a:t> </a:t>
                </a:r>
              </a:p>
            </p:txBody>
          </p:sp>
        </mc:Fallback>
      </mc:AlternateContent>
      <p:sp>
        <p:nvSpPr>
          <p:cNvPr id="7" name="CuadroTexto 6">
            <a:extLst>
              <a:ext uri="{FF2B5EF4-FFF2-40B4-BE49-F238E27FC236}">
                <a16:creationId xmlns:a16="http://schemas.microsoft.com/office/drawing/2014/main" id="{2DC03457-A7BC-411C-865C-DC2BC1382EE1}"/>
              </a:ext>
            </a:extLst>
          </p:cNvPr>
          <p:cNvSpPr txBox="1"/>
          <p:nvPr/>
        </p:nvSpPr>
        <p:spPr>
          <a:xfrm>
            <a:off x="6230269" y="1676400"/>
            <a:ext cx="2761331" cy="1754326"/>
          </a:xfrm>
          <a:prstGeom prst="rect">
            <a:avLst/>
          </a:prstGeom>
          <a:noFill/>
        </p:spPr>
        <p:txBody>
          <a:bodyPr wrap="square" rtlCol="0">
            <a:spAutoFit/>
          </a:bodyPr>
          <a:lstStyle/>
          <a:p>
            <a:pPr algn="just"/>
            <a:r>
              <a:rPr lang="es-ES" dirty="0" err="1"/>
              <a:t>We</a:t>
            </a:r>
            <a:r>
              <a:rPr lang="es-ES" dirty="0"/>
              <a:t> </a:t>
            </a:r>
            <a:r>
              <a:rPr lang="es-ES" dirty="0" err="1"/>
              <a:t>move</a:t>
            </a:r>
            <a:r>
              <a:rPr lang="es-ES" dirty="0"/>
              <a:t> </a:t>
            </a:r>
            <a:r>
              <a:rPr lang="es-ES" dirty="0" err="1"/>
              <a:t>to</a:t>
            </a:r>
            <a:r>
              <a:rPr lang="es-ES" dirty="0"/>
              <a:t> a </a:t>
            </a:r>
            <a:r>
              <a:rPr lang="es-ES" dirty="0" err="1"/>
              <a:t>higher</a:t>
            </a:r>
            <a:r>
              <a:rPr lang="es-ES" dirty="0"/>
              <a:t> dimensional </a:t>
            </a:r>
            <a:r>
              <a:rPr lang="es-ES" dirty="0" err="1"/>
              <a:t>space</a:t>
            </a:r>
            <a:r>
              <a:rPr lang="es-ES" dirty="0"/>
              <a:t> (</a:t>
            </a:r>
            <a:r>
              <a:rPr lang="es-ES" dirty="0" err="1"/>
              <a:t>feature</a:t>
            </a:r>
            <a:r>
              <a:rPr lang="es-ES" dirty="0"/>
              <a:t> </a:t>
            </a:r>
            <a:r>
              <a:rPr lang="es-ES" dirty="0" err="1"/>
              <a:t>space</a:t>
            </a:r>
            <a:r>
              <a:rPr lang="es-ES" dirty="0"/>
              <a:t>) in cases </a:t>
            </a:r>
            <a:r>
              <a:rPr lang="es-ES" dirty="0" err="1"/>
              <a:t>when</a:t>
            </a:r>
            <a:r>
              <a:rPr lang="es-ES" dirty="0"/>
              <a:t> </a:t>
            </a:r>
            <a:r>
              <a:rPr lang="es-ES" dirty="0" err="1"/>
              <a:t>we</a:t>
            </a:r>
            <a:r>
              <a:rPr lang="es-ES" dirty="0"/>
              <a:t> </a:t>
            </a:r>
            <a:r>
              <a:rPr lang="es-ES" dirty="0" err="1"/>
              <a:t>cannot</a:t>
            </a:r>
            <a:r>
              <a:rPr lang="es-ES" dirty="0"/>
              <a:t> </a:t>
            </a:r>
            <a:r>
              <a:rPr lang="es-ES" dirty="0" err="1"/>
              <a:t>fully</a:t>
            </a:r>
            <a:r>
              <a:rPr lang="es-ES" dirty="0"/>
              <a:t> </a:t>
            </a:r>
            <a:r>
              <a:rPr lang="es-ES" dirty="0" err="1"/>
              <a:t>separate</a:t>
            </a:r>
            <a:r>
              <a:rPr lang="es-ES" dirty="0"/>
              <a:t> data </a:t>
            </a:r>
            <a:r>
              <a:rPr lang="es-ES" dirty="0" err="1"/>
              <a:t>with</a:t>
            </a:r>
            <a:r>
              <a:rPr lang="es-ES" dirty="0"/>
              <a:t> input </a:t>
            </a:r>
            <a:r>
              <a:rPr lang="es-ES" dirty="0" err="1"/>
              <a:t>space</a:t>
            </a:r>
            <a:r>
              <a:rPr lang="es-ES" dirty="0"/>
              <a:t>. </a:t>
            </a:r>
          </a:p>
          <a:p>
            <a:pPr algn="just"/>
            <a:endParaRPr lang="es-ES" dirty="0"/>
          </a:p>
        </p:txBody>
      </p:sp>
      <p:sp>
        <p:nvSpPr>
          <p:cNvPr id="10" name="Rectángulo 9">
            <a:extLst>
              <a:ext uri="{FF2B5EF4-FFF2-40B4-BE49-F238E27FC236}">
                <a16:creationId xmlns:a16="http://schemas.microsoft.com/office/drawing/2014/main" id="{511D936F-17E3-47ED-857A-C74E26E265B3}"/>
              </a:ext>
            </a:extLst>
          </p:cNvPr>
          <p:cNvSpPr/>
          <p:nvPr/>
        </p:nvSpPr>
        <p:spPr>
          <a:xfrm>
            <a:off x="4495800" y="1905000"/>
            <a:ext cx="1371600" cy="661900"/>
          </a:xfrm>
          <a:prstGeom prst="rect">
            <a:avLst/>
          </a:prstGeom>
          <a:solidFill>
            <a:srgbClr val="FF0000">
              <a:alpha val="54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Imagen 3">
            <a:extLst>
              <a:ext uri="{FF2B5EF4-FFF2-40B4-BE49-F238E27FC236}">
                <a16:creationId xmlns:a16="http://schemas.microsoft.com/office/drawing/2014/main" id="{778DB43D-F87A-4F72-9A24-A978111D8924}"/>
              </a:ext>
            </a:extLst>
          </p:cNvPr>
          <p:cNvPicPr>
            <a:picLocks noChangeAspect="1"/>
          </p:cNvPicPr>
          <p:nvPr/>
        </p:nvPicPr>
        <p:blipFill>
          <a:blip r:embed="rId6"/>
          <a:stretch>
            <a:fillRect/>
          </a:stretch>
        </p:blipFill>
        <p:spPr>
          <a:xfrm>
            <a:off x="5025342" y="4136899"/>
            <a:ext cx="3966258" cy="2111501"/>
          </a:xfrm>
          <a:prstGeom prst="rect">
            <a:avLst/>
          </a:prstGeom>
        </p:spPr>
      </p:pic>
      <p:sp>
        <p:nvSpPr>
          <p:cNvPr id="9" name="Rectángulo 8">
            <a:extLst>
              <a:ext uri="{FF2B5EF4-FFF2-40B4-BE49-F238E27FC236}">
                <a16:creationId xmlns:a16="http://schemas.microsoft.com/office/drawing/2014/main" id="{C42A8CA9-1750-4090-ADE3-E907ABA519C2}"/>
              </a:ext>
            </a:extLst>
          </p:cNvPr>
          <p:cNvSpPr/>
          <p:nvPr/>
        </p:nvSpPr>
        <p:spPr>
          <a:xfrm>
            <a:off x="5331478" y="3693824"/>
            <a:ext cx="1743426" cy="369332"/>
          </a:xfrm>
          <a:prstGeom prst="rect">
            <a:avLst/>
          </a:prstGeom>
        </p:spPr>
        <p:txBody>
          <a:bodyPr wrap="none">
            <a:spAutoFit/>
          </a:bodyPr>
          <a:lstStyle/>
          <a:p>
            <a:pPr algn="just"/>
            <a:r>
              <a:rPr lang="es-ES" b="1" dirty="0" err="1"/>
              <a:t>Kernel</a:t>
            </a:r>
            <a:r>
              <a:rPr lang="es-ES" b="1" dirty="0"/>
              <a:t> </a:t>
            </a:r>
            <a:r>
              <a:rPr lang="es-ES" b="1" dirty="0" err="1"/>
              <a:t>functions</a:t>
            </a:r>
            <a:endParaRPr lang="es-ES_tradnl" b="1" dirty="0"/>
          </a:p>
        </p:txBody>
      </p:sp>
    </p:spTree>
    <p:extLst>
      <p:ext uri="{BB962C8B-B14F-4D97-AF65-F5344CB8AC3E}">
        <p14:creationId xmlns:p14="http://schemas.microsoft.com/office/powerpoint/2010/main" val="41022600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pic>
        <p:nvPicPr>
          <p:cNvPr id="4" name="Imagen 3">
            <a:extLst>
              <a:ext uri="{FF2B5EF4-FFF2-40B4-BE49-F238E27FC236}">
                <a16:creationId xmlns:a16="http://schemas.microsoft.com/office/drawing/2014/main" id="{778DB43D-F87A-4F72-9A24-A978111D8924}"/>
              </a:ext>
            </a:extLst>
          </p:cNvPr>
          <p:cNvPicPr>
            <a:picLocks noChangeAspect="1"/>
          </p:cNvPicPr>
          <p:nvPr/>
        </p:nvPicPr>
        <p:blipFill>
          <a:blip r:embed="rId3"/>
          <a:stretch>
            <a:fillRect/>
          </a:stretch>
        </p:blipFill>
        <p:spPr>
          <a:xfrm>
            <a:off x="5534813" y="1257837"/>
            <a:ext cx="3325013" cy="1770124"/>
          </a:xfrm>
          <a:prstGeom prst="rect">
            <a:avLst/>
          </a:prstGeom>
        </p:spPr>
      </p:pic>
      <p:sp>
        <p:nvSpPr>
          <p:cNvPr id="12" name="Rectángulo 11">
            <a:extLst>
              <a:ext uri="{FF2B5EF4-FFF2-40B4-BE49-F238E27FC236}">
                <a16:creationId xmlns:a16="http://schemas.microsoft.com/office/drawing/2014/main" id="{869E7268-A654-49BF-B1F8-B0B4AC919DB3}"/>
              </a:ext>
            </a:extLst>
          </p:cNvPr>
          <p:cNvSpPr/>
          <p:nvPr/>
        </p:nvSpPr>
        <p:spPr>
          <a:xfrm>
            <a:off x="377142" y="1447800"/>
            <a:ext cx="2538002" cy="646331"/>
          </a:xfrm>
          <a:prstGeom prst="rect">
            <a:avLst/>
          </a:prstGeom>
        </p:spPr>
        <p:txBody>
          <a:bodyPr wrap="none">
            <a:spAutoFit/>
          </a:bodyPr>
          <a:lstStyle/>
          <a:p>
            <a:pPr algn="just"/>
            <a:r>
              <a:rPr lang="es-ES" b="1" dirty="0"/>
              <a:t>Popular </a:t>
            </a:r>
            <a:r>
              <a:rPr lang="es-ES" b="1" dirty="0" err="1"/>
              <a:t>Kernel</a:t>
            </a:r>
            <a:r>
              <a:rPr lang="es-ES" b="1" dirty="0"/>
              <a:t> </a:t>
            </a:r>
            <a:r>
              <a:rPr lang="es-ES" b="1" dirty="0" err="1"/>
              <a:t>functions</a:t>
            </a:r>
            <a:endParaRPr lang="es-ES" b="1" dirty="0"/>
          </a:p>
          <a:p>
            <a:pPr algn="just"/>
            <a:endParaRPr lang="es-ES" b="1"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BC0B071-45B3-4E2E-9374-F7C92C99D871}"/>
                  </a:ext>
                </a:extLst>
              </p:cNvPr>
              <p:cNvSpPr txBox="1"/>
              <p:nvPr/>
            </p:nvSpPr>
            <p:spPr>
              <a:xfrm>
                <a:off x="2395759" y="2466218"/>
                <a:ext cx="2746585" cy="2819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ES" b="0" i="0" smtClean="0">
                          <a:latin typeface="Cambria Math" panose="02040503050406030204" pitchFamily="18" charset="0"/>
                        </a:rPr>
                        <m:t>K</m:t>
                      </m:r>
                      <m:r>
                        <a:rPr lang="es-ES" b="0" i="0"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sSub>
                        <m:sSubPr>
                          <m:ctrlPr>
                            <a:rPr lang="es-ES" i="1">
                              <a:latin typeface="Cambria Math" panose="02040503050406030204" pitchFamily="18" charset="0"/>
                            </a:rPr>
                          </m:ctrlPr>
                        </m:sSubPr>
                        <m:e>
                          <m:r>
                            <a:rPr lang="es-ES" b="0" i="1" smtClean="0">
                              <a:latin typeface="Cambria Math" panose="02040503050406030204" pitchFamily="18" charset="0"/>
                            </a:rPr>
                            <m:t>,</m:t>
                          </m:r>
                          <m:r>
                            <a:rPr lang="es-ES" i="1">
                              <a:latin typeface="Cambria Math" panose="02040503050406030204" pitchFamily="18" charset="0"/>
                            </a:rPr>
                            <m:t>𝑥</m:t>
                          </m:r>
                        </m:e>
                        <m:sub>
                          <m:r>
                            <a:rPr lang="es-ES" b="0" i="1" smtClean="0">
                              <a:latin typeface="Cambria Math" panose="02040503050406030204" pitchFamily="18" charset="0"/>
                            </a:rPr>
                            <m:t>𝑘</m:t>
                          </m:r>
                        </m:sub>
                      </m:sSub>
                      <m:r>
                        <a:rPr lang="es-ES" b="0" i="0" smtClean="0">
                          <a:latin typeface="Cambria Math" panose="02040503050406030204" pitchFamily="18" charset="0"/>
                        </a:rPr>
                        <m:t>)</m:t>
                      </m:r>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r>
                            <a:rPr lang="es-ES" i="1">
                              <a:latin typeface="Cambria Math" panose="02040503050406030204" pitchFamily="18" charset="0"/>
                            </a:rPr>
                            <m:t>(1+ </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sSub>
                                <m:sSubPr>
                                  <m:ctrlPr>
                                    <a:rPr lang="es-ES" i="1">
                                      <a:latin typeface="Cambria Math" panose="02040503050406030204" pitchFamily="18" charset="0"/>
                                    </a:rPr>
                                  </m:ctrlPr>
                                </m:sSubPr>
                                <m:e>
                                  <m:r>
                                    <a:rPr lang="es-ES" i="1">
                                      <a:latin typeface="Cambria Math" panose="02040503050406030204" pitchFamily="18" charset="0"/>
                                    </a:rPr>
                                    <m:t>,</m:t>
                                  </m:r>
                                  <m:r>
                                    <a:rPr lang="es-ES" i="1">
                                      <a:latin typeface="Cambria Math" panose="02040503050406030204" pitchFamily="18" charset="0"/>
                                    </a:rPr>
                                    <m:t>𝑥</m:t>
                                  </m:r>
                                </m:e>
                                <m:sub>
                                  <m:r>
                                    <a:rPr lang="es-ES" i="1">
                                      <a:latin typeface="Cambria Math" panose="02040503050406030204" pitchFamily="18" charset="0"/>
                                    </a:rPr>
                                    <m:t>𝑘</m:t>
                                  </m:r>
                                </m:sub>
                              </m:sSub>
                            </m:e>
                          </m:d>
                          <m:r>
                            <a:rPr lang="es-ES" i="1">
                              <a:latin typeface="Cambria Math" panose="02040503050406030204" pitchFamily="18" charset="0"/>
                            </a:rPr>
                            <m:t>)</m:t>
                          </m:r>
                        </m:e>
                        <m:sup>
                          <m:r>
                            <a:rPr lang="es-ES" b="0" i="1" smtClean="0">
                              <a:latin typeface="Cambria Math" panose="02040503050406030204" pitchFamily="18" charset="0"/>
                            </a:rPr>
                            <m:t>𝑑</m:t>
                          </m:r>
                        </m:sup>
                      </m:sSup>
                    </m:oMath>
                  </m:oMathPara>
                </a14:m>
                <a:endParaRPr lang="es-ES_tradnl" dirty="0"/>
              </a:p>
            </p:txBody>
          </p:sp>
        </mc:Choice>
        <mc:Fallback xmlns="">
          <p:sp>
            <p:nvSpPr>
              <p:cNvPr id="3" name="CuadroTexto 2">
                <a:extLst>
                  <a:ext uri="{FF2B5EF4-FFF2-40B4-BE49-F238E27FC236}">
                    <a16:creationId xmlns:a16="http://schemas.microsoft.com/office/drawing/2014/main" id="{0BC0B071-45B3-4E2E-9374-F7C92C99D871}"/>
                  </a:ext>
                </a:extLst>
              </p:cNvPr>
              <p:cNvSpPr txBox="1">
                <a:spLocks noRot="1" noChangeAspect="1" noMove="1" noResize="1" noEditPoints="1" noAdjustHandles="1" noChangeArrowheads="1" noChangeShapeType="1" noTextEdit="1"/>
              </p:cNvSpPr>
              <p:nvPr/>
            </p:nvSpPr>
            <p:spPr>
              <a:xfrm>
                <a:off x="2395759" y="2466218"/>
                <a:ext cx="2746585" cy="281937"/>
              </a:xfrm>
              <a:prstGeom prst="rect">
                <a:avLst/>
              </a:prstGeom>
              <a:blipFill>
                <a:blip r:embed="rId4"/>
                <a:stretch>
                  <a:fillRect l="-1552" t="-6522" r="-443" b="-3478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7DE8535-E1B2-4815-92FD-5EF702966549}"/>
                  </a:ext>
                </a:extLst>
              </p:cNvPr>
              <p:cNvSpPr txBox="1"/>
              <p:nvPr/>
            </p:nvSpPr>
            <p:spPr>
              <a:xfrm>
                <a:off x="2475344" y="3331078"/>
                <a:ext cx="3033716" cy="276999"/>
              </a:xfrm>
              <a:prstGeom prst="rect">
                <a:avLst/>
              </a:prstGeom>
              <a:noFill/>
            </p:spPr>
            <p:txBody>
              <a:bodyPr wrap="none" lIns="0" tIns="0" rIns="0" bIns="0" rtlCol="0">
                <a:spAutoFit/>
              </a:bodyPr>
              <a:lstStyle/>
              <a:p>
                <a14:m>
                  <m:oMath xmlns:m="http://schemas.openxmlformats.org/officeDocument/2006/math">
                    <m:r>
                      <m:rPr>
                        <m:sty m:val="p"/>
                      </m:rPr>
                      <a:rPr lang="es-ES" b="0" i="0" smtClean="0">
                        <a:latin typeface="Cambria Math" panose="02040503050406030204" pitchFamily="18" charset="0"/>
                      </a:rPr>
                      <m:t>K</m:t>
                    </m:r>
                    <m:r>
                      <a:rPr lang="es-ES" b="0" i="0"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sSub>
                      <m:sSubPr>
                        <m:ctrlPr>
                          <a:rPr lang="es-ES" i="1">
                            <a:latin typeface="Cambria Math" panose="02040503050406030204" pitchFamily="18" charset="0"/>
                          </a:rPr>
                        </m:ctrlPr>
                      </m:sSubPr>
                      <m:e>
                        <m:r>
                          <a:rPr lang="es-ES" b="0" i="1" smtClean="0">
                            <a:latin typeface="Cambria Math" panose="02040503050406030204" pitchFamily="18" charset="0"/>
                          </a:rPr>
                          <m:t>,</m:t>
                        </m:r>
                        <m:r>
                          <a:rPr lang="es-ES" i="1">
                            <a:latin typeface="Cambria Math" panose="02040503050406030204" pitchFamily="18" charset="0"/>
                          </a:rPr>
                          <m:t>𝑥</m:t>
                        </m:r>
                      </m:e>
                      <m:sub>
                        <m:r>
                          <a:rPr lang="es-ES" b="0" i="1" smtClean="0">
                            <a:latin typeface="Cambria Math" panose="02040503050406030204" pitchFamily="18" charset="0"/>
                          </a:rPr>
                          <m:t>𝑘</m:t>
                        </m:r>
                      </m:sub>
                    </m:sSub>
                    <m:r>
                      <a:rPr lang="es-ES" b="0" i="0" smtClean="0">
                        <a:latin typeface="Cambria Math" panose="02040503050406030204" pitchFamily="18" charset="0"/>
                      </a:rPr>
                      <m:t>)</m:t>
                    </m:r>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r>
                          <m:rPr>
                            <m:sty m:val="p"/>
                          </m:rPr>
                          <a:rPr lang="es-ES" b="0" i="0" smtClean="0">
                            <a:latin typeface="Cambria Math" panose="02040503050406030204" pitchFamily="18" charset="0"/>
                          </a:rPr>
                          <m:t>exp</m:t>
                        </m:r>
                        <m:r>
                          <a:rPr lang="es-ES" b="0" i="1" smtClean="0">
                            <a:latin typeface="Cambria Math" panose="02040503050406030204" pitchFamily="18" charset="0"/>
                          </a:rPr>
                          <m:t>⁡(</m:t>
                        </m:r>
                        <m:r>
                          <a:rPr lang="es-ES" i="1">
                            <a:latin typeface="Cambria Math" panose="02040503050406030204" pitchFamily="18" charset="0"/>
                          </a:rPr>
                          <m:t>−</m:t>
                        </m:r>
                        <m:r>
                          <a:rPr lang="es-ES" i="1">
                            <a:latin typeface="Cambria Math" panose="02040503050406030204" pitchFamily="18" charset="0"/>
                            <a:ea typeface="Cambria Math" panose="02040503050406030204" pitchFamily="18" charset="0"/>
                          </a:rPr>
                          <m:t>𝛾</m:t>
                        </m:r>
                        <m:d>
                          <m:dPr>
                            <m:begChr m:val="‖"/>
                            <m:endChr m:val="‖"/>
                            <m:ctrlPr>
                              <a:rPr lang="es-ES" i="1">
                                <a:latin typeface="Cambria Math" panose="02040503050406030204" pitchFamily="18" charset="0"/>
                                <a:ea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sSub>
                              <m:sSubPr>
                                <m:ctrlPr>
                                  <a:rPr lang="es-ES" i="1">
                                    <a:latin typeface="Cambria Math" panose="02040503050406030204" pitchFamily="18" charset="0"/>
                                  </a:rPr>
                                </m:ctrlPr>
                              </m:sSubPr>
                              <m:e>
                                <m:r>
                                  <a:rPr lang="es-ES" i="1">
                                    <a:latin typeface="Cambria Math" panose="02040503050406030204" pitchFamily="18" charset="0"/>
                                  </a:rPr>
                                  <m:t>−</m:t>
                                </m:r>
                                <m:r>
                                  <a:rPr lang="es-ES" i="1">
                                    <a:latin typeface="Cambria Math" panose="02040503050406030204" pitchFamily="18" charset="0"/>
                                  </a:rPr>
                                  <m:t>𝑥</m:t>
                                </m:r>
                              </m:e>
                              <m:sub>
                                <m:r>
                                  <a:rPr lang="es-ES" i="1">
                                    <a:latin typeface="Cambria Math" panose="02040503050406030204" pitchFamily="18" charset="0"/>
                                  </a:rPr>
                                  <m:t>𝑘</m:t>
                                </m:r>
                              </m:sub>
                            </m:sSub>
                          </m:e>
                        </m:d>
                      </m:e>
                      <m:sup>
                        <m:r>
                          <a:rPr lang="es-ES" b="0" i="1" smtClean="0">
                            <a:latin typeface="Cambria Math" panose="02040503050406030204" pitchFamily="18" charset="0"/>
                          </a:rPr>
                          <m:t>2</m:t>
                        </m:r>
                      </m:sup>
                    </m:sSup>
                  </m:oMath>
                </a14:m>
                <a:r>
                  <a:rPr lang="es-ES_tradnl" dirty="0"/>
                  <a:t>)</a:t>
                </a:r>
              </a:p>
            </p:txBody>
          </p:sp>
        </mc:Choice>
        <mc:Fallback xmlns="">
          <p:sp>
            <p:nvSpPr>
              <p:cNvPr id="14" name="CuadroTexto 13">
                <a:extLst>
                  <a:ext uri="{FF2B5EF4-FFF2-40B4-BE49-F238E27FC236}">
                    <a16:creationId xmlns:a16="http://schemas.microsoft.com/office/drawing/2014/main" id="{87DE8535-E1B2-4815-92FD-5EF702966549}"/>
                  </a:ext>
                </a:extLst>
              </p:cNvPr>
              <p:cNvSpPr txBox="1">
                <a:spLocks noRot="1" noChangeAspect="1" noMove="1" noResize="1" noEditPoints="1" noAdjustHandles="1" noChangeArrowheads="1" noChangeShapeType="1" noTextEdit="1"/>
              </p:cNvSpPr>
              <p:nvPr/>
            </p:nvSpPr>
            <p:spPr>
              <a:xfrm>
                <a:off x="2475344" y="3331078"/>
                <a:ext cx="3033716" cy="276999"/>
              </a:xfrm>
              <a:prstGeom prst="rect">
                <a:avLst/>
              </a:prstGeom>
              <a:blipFill>
                <a:blip r:embed="rId5"/>
                <a:stretch>
                  <a:fillRect l="-2610" t="-28261" r="-3815" b="-50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0A7249E5-478C-4FD5-A441-8D4076C8CEF6}"/>
                  </a:ext>
                </a:extLst>
              </p:cNvPr>
              <p:cNvSpPr txBox="1"/>
              <p:nvPr/>
            </p:nvSpPr>
            <p:spPr>
              <a:xfrm>
                <a:off x="2503131" y="4180114"/>
                <a:ext cx="3325013" cy="276999"/>
              </a:xfrm>
              <a:prstGeom prst="rect">
                <a:avLst/>
              </a:prstGeom>
              <a:noFill/>
            </p:spPr>
            <p:txBody>
              <a:bodyPr wrap="none" lIns="0" tIns="0" rIns="0" bIns="0" rtlCol="0">
                <a:spAutoFit/>
              </a:bodyPr>
              <a:lstStyle/>
              <a:p>
                <a14:m>
                  <m:oMath xmlns:m="http://schemas.openxmlformats.org/officeDocument/2006/math">
                    <m:r>
                      <m:rPr>
                        <m:sty m:val="p"/>
                      </m:rPr>
                      <a:rPr lang="es-ES" b="0" i="0" smtClean="0">
                        <a:latin typeface="Cambria Math" panose="02040503050406030204" pitchFamily="18" charset="0"/>
                      </a:rPr>
                      <m:t>K</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sSub>
                          <m:sSubPr>
                            <m:ctrlPr>
                              <a:rPr lang="es-ES" i="1">
                                <a:latin typeface="Cambria Math" panose="02040503050406030204" pitchFamily="18" charset="0"/>
                              </a:rPr>
                            </m:ctrlPr>
                          </m:sSubPr>
                          <m:e>
                            <m:r>
                              <a:rPr lang="es-ES" b="0" i="1" smtClean="0">
                                <a:latin typeface="Cambria Math" panose="02040503050406030204" pitchFamily="18" charset="0"/>
                              </a:rPr>
                              <m:t>,</m:t>
                            </m:r>
                            <m:r>
                              <a:rPr lang="es-ES" i="1">
                                <a:latin typeface="Cambria Math" panose="02040503050406030204" pitchFamily="18" charset="0"/>
                              </a:rPr>
                              <m:t>𝑥</m:t>
                            </m:r>
                          </m:e>
                          <m:sub>
                            <m:r>
                              <a:rPr lang="es-ES" b="0" i="1" smtClean="0">
                                <a:latin typeface="Cambria Math" panose="02040503050406030204" pitchFamily="18" charset="0"/>
                              </a:rPr>
                              <m:t>𝑘</m:t>
                            </m:r>
                          </m:sub>
                        </m:sSub>
                      </m:e>
                    </m:d>
                    <m:r>
                      <a:rPr lang="es-ES_tradnl" i="1" smtClean="0">
                        <a:latin typeface="Cambria Math" panose="02040503050406030204" pitchFamily="18" charset="0"/>
                      </a:rPr>
                      <m:t>=</m:t>
                    </m:r>
                    <m:r>
                      <m:rPr>
                        <m:sty m:val="p"/>
                      </m:rPr>
                      <a:rPr lang="es-ES" b="0" i="0" smtClean="0">
                        <a:latin typeface="Cambria Math" panose="02040503050406030204" pitchFamily="18" charset="0"/>
                      </a:rPr>
                      <m:t>tanh</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𝑘</m:t>
                        </m:r>
                      </m:e>
                      <m:sub>
                        <m:r>
                          <a:rPr lang="es-ES" b="0" i="1" smtClean="0">
                            <a:latin typeface="Cambria Math" panose="02040503050406030204" pitchFamily="18" charset="0"/>
                          </a:rPr>
                          <m:t>1</m:t>
                        </m:r>
                      </m:sub>
                    </m:sSub>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sSub>
                          <m:sSubPr>
                            <m:ctrlPr>
                              <a:rPr lang="es-ES" i="1">
                                <a:latin typeface="Cambria Math" panose="02040503050406030204" pitchFamily="18" charset="0"/>
                              </a:rPr>
                            </m:ctrlPr>
                          </m:sSubPr>
                          <m:e>
                            <m:r>
                              <a:rPr lang="es-ES" i="1">
                                <a:latin typeface="Cambria Math" panose="02040503050406030204" pitchFamily="18" charset="0"/>
                              </a:rPr>
                              <m:t>,</m:t>
                            </m:r>
                            <m:r>
                              <a:rPr lang="es-ES" i="1">
                                <a:latin typeface="Cambria Math" panose="02040503050406030204" pitchFamily="18" charset="0"/>
                              </a:rPr>
                              <m:t>𝑥</m:t>
                            </m:r>
                          </m:e>
                          <m:sub>
                            <m:r>
                              <a:rPr lang="es-ES" i="1">
                                <a:latin typeface="Cambria Math" panose="02040503050406030204" pitchFamily="18" charset="0"/>
                              </a:rPr>
                              <m:t>𝑘</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𝑘</m:t>
                            </m:r>
                          </m:e>
                          <m:sub>
                            <m:r>
                              <a:rPr lang="es-ES" b="0" i="1" smtClean="0">
                                <a:latin typeface="Cambria Math" panose="02040503050406030204" pitchFamily="18" charset="0"/>
                              </a:rPr>
                              <m:t>2</m:t>
                            </m:r>
                          </m:sub>
                        </m:sSub>
                      </m:e>
                    </m:d>
                    <m:r>
                      <a:rPr lang="es-ES" b="0" i="1" smtClean="0">
                        <a:latin typeface="Cambria Math" panose="02040503050406030204" pitchFamily="18" charset="0"/>
                      </a:rPr>
                      <m:t>)</m:t>
                    </m:r>
                  </m:oMath>
                </a14:m>
                <a:r>
                  <a:rPr lang="es-ES_tradnl" dirty="0"/>
                  <a:t>)</a:t>
                </a:r>
              </a:p>
            </p:txBody>
          </p:sp>
        </mc:Choice>
        <mc:Fallback xmlns="">
          <p:sp>
            <p:nvSpPr>
              <p:cNvPr id="16" name="CuadroTexto 15">
                <a:extLst>
                  <a:ext uri="{FF2B5EF4-FFF2-40B4-BE49-F238E27FC236}">
                    <a16:creationId xmlns:a16="http://schemas.microsoft.com/office/drawing/2014/main" id="{0A7249E5-478C-4FD5-A441-8D4076C8CEF6}"/>
                  </a:ext>
                </a:extLst>
              </p:cNvPr>
              <p:cNvSpPr txBox="1">
                <a:spLocks noRot="1" noChangeAspect="1" noMove="1" noResize="1" noEditPoints="1" noAdjustHandles="1" noChangeArrowheads="1" noChangeShapeType="1" noTextEdit="1"/>
              </p:cNvSpPr>
              <p:nvPr/>
            </p:nvSpPr>
            <p:spPr>
              <a:xfrm>
                <a:off x="2503131" y="4180114"/>
                <a:ext cx="3325013" cy="276999"/>
              </a:xfrm>
              <a:prstGeom prst="rect">
                <a:avLst/>
              </a:prstGeom>
              <a:blipFill>
                <a:blip r:embed="rId6"/>
                <a:stretch>
                  <a:fillRect l="-2569" t="-28889" r="-1651" b="-51111"/>
                </a:stretch>
              </a:blipFill>
            </p:spPr>
            <p:txBody>
              <a:bodyPr/>
              <a:lstStyle/>
              <a:p>
                <a:r>
                  <a:rPr lang="es-ES_tradnl">
                    <a:noFill/>
                  </a:rPr>
                  <a:t> </a:t>
                </a:r>
              </a:p>
            </p:txBody>
          </p:sp>
        </mc:Fallback>
      </mc:AlternateContent>
      <p:sp>
        <p:nvSpPr>
          <p:cNvPr id="17" name="Text Box 3">
            <a:extLst>
              <a:ext uri="{FF2B5EF4-FFF2-40B4-BE49-F238E27FC236}">
                <a16:creationId xmlns:a16="http://schemas.microsoft.com/office/drawing/2014/main" id="{1986D791-8AD7-42B1-960E-B381C3136E3C}"/>
              </a:ext>
            </a:extLst>
          </p:cNvPr>
          <p:cNvSpPr txBox="1">
            <a:spLocks noChangeArrowheads="1"/>
          </p:cNvSpPr>
          <p:nvPr/>
        </p:nvSpPr>
        <p:spPr bwMode="auto">
          <a:xfrm>
            <a:off x="381000" y="2426985"/>
            <a:ext cx="7848600" cy="2446824"/>
          </a:xfrm>
          <a:prstGeom prst="rect">
            <a:avLst/>
          </a:prstGeom>
        </p:spPr>
        <p:txBody>
          <a:bodyPr wrap="square">
            <a:spAutoFit/>
          </a:bodyPr>
          <a:lstStyle/>
          <a:p>
            <a:pPr algn="just">
              <a:spcBef>
                <a:spcPct val="50000"/>
              </a:spcBef>
            </a:pPr>
            <a:r>
              <a:rPr lang="en-US" b="1" dirty="0"/>
              <a:t>Polynomial:</a:t>
            </a:r>
          </a:p>
          <a:p>
            <a:pPr algn="just">
              <a:spcBef>
                <a:spcPct val="50000"/>
              </a:spcBef>
            </a:pPr>
            <a:endParaRPr lang="en-US" b="1" dirty="0"/>
          </a:p>
          <a:p>
            <a:pPr algn="just">
              <a:spcBef>
                <a:spcPct val="50000"/>
              </a:spcBef>
            </a:pPr>
            <a:r>
              <a:rPr lang="en-US" b="1" dirty="0"/>
              <a:t>Radial basis:</a:t>
            </a:r>
          </a:p>
          <a:p>
            <a:pPr algn="just">
              <a:spcBef>
                <a:spcPct val="50000"/>
              </a:spcBef>
            </a:pPr>
            <a:endParaRPr lang="en-US" b="1" dirty="0"/>
          </a:p>
          <a:p>
            <a:pPr algn="just">
              <a:spcBef>
                <a:spcPct val="50000"/>
              </a:spcBef>
            </a:pPr>
            <a:r>
              <a:rPr lang="en-US" b="1" dirty="0"/>
              <a:t>Neural Network: </a:t>
            </a:r>
          </a:p>
          <a:p>
            <a:pPr algn="just">
              <a:spcBef>
                <a:spcPct val="50000"/>
              </a:spcBef>
            </a:pPr>
            <a:endParaRPr lang="es-ES" b="1" dirty="0"/>
          </a:p>
        </p:txBody>
      </p:sp>
      <mc:AlternateContent xmlns:mc="http://schemas.openxmlformats.org/markup-compatibility/2006" xmlns:a14="http://schemas.microsoft.com/office/drawing/2010/main">
        <mc:Choice Requires="a14">
          <p:sp>
            <p:nvSpPr>
              <p:cNvPr id="18" name="Text Box 3">
                <a:extLst>
                  <a:ext uri="{FF2B5EF4-FFF2-40B4-BE49-F238E27FC236}">
                    <a16:creationId xmlns:a16="http://schemas.microsoft.com/office/drawing/2014/main" id="{15C17776-60D1-4915-BFA7-DB25061C9FDD}"/>
                  </a:ext>
                </a:extLst>
              </p:cNvPr>
              <p:cNvSpPr txBox="1">
                <a:spLocks noChangeArrowheads="1"/>
              </p:cNvSpPr>
              <p:nvPr/>
            </p:nvSpPr>
            <p:spPr bwMode="auto">
              <a:xfrm>
                <a:off x="324428" y="5067508"/>
                <a:ext cx="7848600" cy="707886"/>
              </a:xfrm>
              <a:prstGeom prst="rect">
                <a:avLst/>
              </a:prstGeom>
            </p:spPr>
            <p:txBody>
              <a:bodyPr wrap="square">
                <a:spAutoFit/>
              </a:bodyPr>
              <a:lstStyle/>
              <a:p>
                <a:pPr algn="just">
                  <a:spcBef>
                    <a:spcPct val="50000"/>
                  </a:spcBef>
                </a:pPr>
                <a:r>
                  <a:rPr lang="en-US" sz="2000" dirty="0"/>
                  <a:t>Complete </a:t>
                </a:r>
                <a:r>
                  <a:rPr lang="en-US" sz="2000" b="1" dirty="0"/>
                  <a:t>Exercise 1</a:t>
                </a:r>
                <a:r>
                  <a:rPr lang="en-US" sz="2000" dirty="0"/>
                  <a:t> using radial kernel. Note that you have 2 parameters to fit: C and </a:t>
                </a:r>
                <a14:m>
                  <m:oMath xmlns:m="http://schemas.openxmlformats.org/officeDocument/2006/math">
                    <m:r>
                      <a:rPr lang="es-ES" sz="2000" i="1">
                        <a:latin typeface="Cambria Math" panose="02040503050406030204" pitchFamily="18" charset="0"/>
                        <a:ea typeface="Cambria Math" panose="02040503050406030204" pitchFamily="18" charset="0"/>
                      </a:rPr>
                      <m:t>𝛾</m:t>
                    </m:r>
                  </m:oMath>
                </a14:m>
                <a:r>
                  <a:rPr lang="en-US" sz="2000" dirty="0"/>
                  <a:t>. </a:t>
                </a:r>
                <a:endParaRPr lang="es-ES" sz="2000" dirty="0"/>
              </a:p>
            </p:txBody>
          </p:sp>
        </mc:Choice>
        <mc:Fallback xmlns="">
          <p:sp>
            <p:nvSpPr>
              <p:cNvPr id="18" name="Text Box 3">
                <a:extLst>
                  <a:ext uri="{FF2B5EF4-FFF2-40B4-BE49-F238E27FC236}">
                    <a16:creationId xmlns:a16="http://schemas.microsoft.com/office/drawing/2014/main" id="{15C17776-60D1-4915-BFA7-DB25061C9FDD}"/>
                  </a:ext>
                </a:extLst>
              </p:cNvPr>
              <p:cNvSpPr txBox="1">
                <a:spLocks noRot="1" noChangeAspect="1" noMove="1" noResize="1" noEditPoints="1" noAdjustHandles="1" noChangeArrowheads="1" noChangeShapeType="1" noTextEdit="1"/>
              </p:cNvSpPr>
              <p:nvPr/>
            </p:nvSpPr>
            <p:spPr bwMode="auto">
              <a:xfrm>
                <a:off x="324428" y="5067508"/>
                <a:ext cx="7848600" cy="707886"/>
              </a:xfrm>
              <a:prstGeom prst="rect">
                <a:avLst/>
              </a:prstGeom>
              <a:blipFill>
                <a:blip r:embed="rId7"/>
                <a:stretch>
                  <a:fillRect l="-776" t="-4310" r="-776" b="-14655"/>
                </a:stretch>
              </a:blipFill>
            </p:spPr>
            <p:txBody>
              <a:bodyPr/>
              <a:lstStyle/>
              <a:p>
                <a:r>
                  <a:rPr lang="es-ES_tradnl">
                    <a:noFill/>
                  </a:rPr>
                  <a:t> </a:t>
                </a:r>
              </a:p>
            </p:txBody>
          </p:sp>
        </mc:Fallback>
      </mc:AlternateContent>
    </p:spTree>
    <p:extLst>
      <p:ext uri="{BB962C8B-B14F-4D97-AF65-F5344CB8AC3E}">
        <p14:creationId xmlns:p14="http://schemas.microsoft.com/office/powerpoint/2010/main" val="276880129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18" name="Text Box 3">
            <a:extLst>
              <a:ext uri="{FF2B5EF4-FFF2-40B4-BE49-F238E27FC236}">
                <a16:creationId xmlns:a16="http://schemas.microsoft.com/office/drawing/2014/main" id="{15C17776-60D1-4915-BFA7-DB25061C9FDD}"/>
              </a:ext>
            </a:extLst>
          </p:cNvPr>
          <p:cNvSpPr txBox="1">
            <a:spLocks noChangeArrowheads="1"/>
          </p:cNvSpPr>
          <p:nvPr/>
        </p:nvSpPr>
        <p:spPr bwMode="auto">
          <a:xfrm>
            <a:off x="324427" y="1295400"/>
            <a:ext cx="6838373" cy="861774"/>
          </a:xfrm>
          <a:prstGeom prst="rect">
            <a:avLst/>
          </a:prstGeom>
        </p:spPr>
        <p:txBody>
          <a:bodyPr wrap="square">
            <a:spAutoFit/>
          </a:bodyPr>
          <a:lstStyle/>
          <a:p>
            <a:pPr algn="just">
              <a:spcBef>
                <a:spcPct val="50000"/>
              </a:spcBef>
            </a:pPr>
            <a:r>
              <a:rPr lang="en-US" sz="2000" dirty="0"/>
              <a:t>Complete </a:t>
            </a:r>
            <a:r>
              <a:rPr lang="en-US" sz="2000" b="1" dirty="0"/>
              <a:t>Exercise 2</a:t>
            </a:r>
            <a:r>
              <a:rPr lang="en-US" sz="2000" dirty="0"/>
              <a:t> using both linear and radial kernel.</a:t>
            </a:r>
          </a:p>
          <a:p>
            <a:pPr algn="just">
              <a:spcBef>
                <a:spcPct val="50000"/>
              </a:spcBef>
            </a:pPr>
            <a:endParaRPr lang="en-US" sz="2000" dirty="0"/>
          </a:p>
        </p:txBody>
      </p:sp>
      <p:pic>
        <p:nvPicPr>
          <p:cNvPr id="8194" name="Picture 2" descr="Tanveer Ahmed Khan D4DI">
            <a:extLst>
              <a:ext uri="{FF2B5EF4-FFF2-40B4-BE49-F238E27FC236}">
                <a16:creationId xmlns:a16="http://schemas.microsoft.com/office/drawing/2014/main" id="{5864D8F8-EDBB-4429-B57A-056357D75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743200"/>
            <a:ext cx="4762187" cy="315753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C911E64-B74C-4CDD-84DD-BC0E9C43EF3F}"/>
              </a:ext>
            </a:extLst>
          </p:cNvPr>
          <p:cNvSpPr/>
          <p:nvPr/>
        </p:nvSpPr>
        <p:spPr>
          <a:xfrm>
            <a:off x="1601413" y="2133600"/>
            <a:ext cx="4037387" cy="369332"/>
          </a:xfrm>
          <a:prstGeom prst="rect">
            <a:avLst/>
          </a:prstGeom>
        </p:spPr>
        <p:txBody>
          <a:bodyPr wrap="none">
            <a:spAutoFit/>
          </a:bodyPr>
          <a:lstStyle/>
          <a:p>
            <a:pPr algn="just">
              <a:spcBef>
                <a:spcPct val="50000"/>
              </a:spcBef>
            </a:pPr>
            <a:r>
              <a:rPr lang="en-US" b="1" dirty="0"/>
              <a:t>MNIST database with handwritten digits</a:t>
            </a:r>
            <a:endParaRPr lang="es-ES" b="1" dirty="0"/>
          </a:p>
        </p:txBody>
      </p:sp>
    </p:spTree>
    <p:extLst>
      <p:ext uri="{BB962C8B-B14F-4D97-AF65-F5344CB8AC3E}">
        <p14:creationId xmlns:p14="http://schemas.microsoft.com/office/powerpoint/2010/main" val="16567014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3" name="TextBox 6">
            <a:extLst>
              <a:ext uri="{FF2B5EF4-FFF2-40B4-BE49-F238E27FC236}">
                <a16:creationId xmlns:a16="http://schemas.microsoft.com/office/drawing/2014/main" id="{8209C994-6955-44E9-B63C-5283A5A18C31}"/>
              </a:ext>
            </a:extLst>
          </p:cNvPr>
          <p:cNvSpPr txBox="1"/>
          <p:nvPr/>
        </p:nvSpPr>
        <p:spPr>
          <a:xfrm>
            <a:off x="489467" y="2069022"/>
            <a:ext cx="1066800" cy="400110"/>
          </a:xfrm>
          <a:prstGeom prst="rect">
            <a:avLst/>
          </a:prstGeom>
          <a:noFill/>
        </p:spPr>
        <p:txBody>
          <a:bodyPr wrap="square" rtlCol="0">
            <a:spAutoFit/>
          </a:bodyPr>
          <a:lstStyle/>
          <a:p>
            <a:r>
              <a:rPr lang="es-ES_tradnl" sz="2000" b="0" dirty="0">
                <a:latin typeface="Cambria Math" panose="02040503050406030204" pitchFamily="18" charset="0"/>
                <a:ea typeface="Cambria Math" panose="02040503050406030204" pitchFamily="18" charset="0"/>
                <a:cs typeface="Times New Roman" panose="02020603050405020304" pitchFamily="18" charset="0"/>
              </a:rPr>
              <a:t>s.t.</a:t>
            </a:r>
          </a:p>
        </p:txBody>
      </p:sp>
      <mc:AlternateContent xmlns:mc="http://schemas.openxmlformats.org/markup-compatibility/2006" xmlns:a14="http://schemas.microsoft.com/office/drawing/2010/main">
        <mc:Choice Requires="a14">
          <p:sp>
            <p:nvSpPr>
              <p:cNvPr id="44" name="TextBox 6">
                <a:extLst>
                  <a:ext uri="{FF2B5EF4-FFF2-40B4-BE49-F238E27FC236}">
                    <a16:creationId xmlns:a16="http://schemas.microsoft.com/office/drawing/2014/main" id="{363859E6-927A-4288-B612-E61021CBD8EF}"/>
                  </a:ext>
                </a:extLst>
              </p:cNvPr>
              <p:cNvSpPr txBox="1"/>
              <p:nvPr/>
            </p:nvSpPr>
            <p:spPr>
              <a:xfrm>
                <a:off x="572203" y="3630388"/>
                <a:ext cx="4533197"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rPr>
                        <m:t>=1,..,</m:t>
                      </m:r>
                      <m:r>
                        <a:rPr lang="es-ES" sz="2000" b="0" i="1" smtClean="0">
                          <a:latin typeface="Cambria Math" panose="02040503050406030204" pitchFamily="18" charset="0"/>
                        </a:rPr>
                        <m:t>𝑛</m:t>
                      </m:r>
                    </m:oMath>
                  </m:oMathPara>
                </a14:m>
                <a:endParaRPr lang="es-ES" sz="2000" b="0" i="1" dirty="0"/>
              </a:p>
            </p:txBody>
          </p:sp>
        </mc:Choice>
        <mc:Fallback xmlns="">
          <p:sp>
            <p:nvSpPr>
              <p:cNvPr id="44" name="TextBox 6">
                <a:extLst>
                  <a:ext uri="{FF2B5EF4-FFF2-40B4-BE49-F238E27FC236}">
                    <a16:creationId xmlns:a16="http://schemas.microsoft.com/office/drawing/2014/main" id="{363859E6-927A-4288-B612-E61021CBD8EF}"/>
                  </a:ext>
                </a:extLst>
              </p:cNvPr>
              <p:cNvSpPr txBox="1">
                <a:spLocks noRot="1" noChangeAspect="1" noMove="1" noResize="1" noEditPoints="1" noAdjustHandles="1" noChangeArrowheads="1" noChangeShapeType="1" noTextEdit="1"/>
              </p:cNvSpPr>
              <p:nvPr/>
            </p:nvSpPr>
            <p:spPr>
              <a:xfrm>
                <a:off x="572203" y="3630388"/>
                <a:ext cx="4533197" cy="307777"/>
              </a:xfrm>
              <a:prstGeom prst="rect">
                <a:avLst/>
              </a:prstGeom>
              <a:blipFill>
                <a:blip r:embed="rId3"/>
                <a:stretch>
                  <a:fillRect b="-1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1136C05-3DA5-4D8C-808B-73426413394C}"/>
                  </a:ext>
                </a:extLst>
              </p:cNvPr>
              <p:cNvSpPr txBox="1"/>
              <p:nvPr/>
            </p:nvSpPr>
            <p:spPr>
              <a:xfrm>
                <a:off x="515270" y="1143000"/>
                <a:ext cx="2989930"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ES_tradnl" sz="2000" i="1" smtClean="0">
                              <a:latin typeface="Cambria Math" panose="02040503050406030204" pitchFamily="18" charset="0"/>
                            </a:rPr>
                          </m:ctrlPr>
                        </m:funcPr>
                        <m:fName>
                          <m:r>
                            <a:rPr lang="es-ES" sz="2000" b="0" i="1" smtClean="0">
                              <a:latin typeface="Cambria Math" panose="02040503050406030204" pitchFamily="18" charset="0"/>
                            </a:rPr>
                            <m:t>𝑚𝑎𝑥</m:t>
                          </m:r>
                        </m:fName>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𝐿</m:t>
                              </m:r>
                            </m:e>
                            <m:sub>
                              <m:r>
                                <a:rPr lang="es-ES" sz="2000" b="0" i="1" smtClean="0">
                                  <a:latin typeface="Cambria Math" panose="02040503050406030204" pitchFamily="18" charset="0"/>
                                  <a:ea typeface="Cambria Math" panose="02040503050406030204" pitchFamily="18" charset="0"/>
                                </a:rPr>
                                <m:t>𝐷</m:t>
                              </m:r>
                            </m:sub>
                          </m:sSub>
                          <m:r>
                            <a:rPr lang="es-ES" sz="2000" i="1">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smtClean="0">
                                      <a:latin typeface="Cambria Math" panose="02040503050406030204" pitchFamily="18" charset="0"/>
                                      <a:ea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f>
                                <m:fPr>
                                  <m:ctrlPr>
                                    <a:rPr lang="es-ES" sz="2000" b="0" i="1" smtClean="0">
                                      <a:latin typeface="Cambria Math" panose="02040503050406030204" pitchFamily="18" charset="0"/>
                                      <a:ea typeface="Cambria Math" panose="02040503050406030204" pitchFamily="18" charset="0"/>
                                    </a:rPr>
                                  </m:ctrlPr>
                                </m:fPr>
                                <m:num>
                                  <m:r>
                                    <a:rPr lang="es-ES" sz="2000" b="0" i="1" smtClean="0">
                                      <a:latin typeface="Cambria Math" panose="02040503050406030204" pitchFamily="18" charset="0"/>
                                      <a:ea typeface="Cambria Math" panose="02040503050406030204" pitchFamily="18" charset="0"/>
                                    </a:rPr>
                                    <m:t>1</m:t>
                                  </m:r>
                                </m:num>
                                <m:den>
                                  <m:r>
                                    <a:rPr lang="es-ES" sz="2000" b="0" i="1" smtClean="0">
                                      <a:latin typeface="Cambria Math" panose="02040503050406030204" pitchFamily="18" charset="0"/>
                                      <a:ea typeface="Cambria Math" panose="02040503050406030204" pitchFamily="18" charset="0"/>
                                    </a:rPr>
                                    <m:t>2</m:t>
                                  </m:r>
                                </m:den>
                              </m:f>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nary>
                                    <m:naryPr>
                                      <m:chr m:val="∑"/>
                                      <m:ctrlPr>
                                        <a:rPr lang="es-ES" sz="2000" b="0" i="1" smtClean="0">
                                          <a:latin typeface="Cambria Math" panose="02040503050406030204" pitchFamily="18" charset="0"/>
                                          <a:ea typeface="Cambria Math" panose="02040503050406030204" pitchFamily="18" charset="0"/>
                                        </a:rPr>
                                      </m:ctrlPr>
                                    </m:naryPr>
                                    <m:sub>
                                      <m:r>
                                        <m:rPr>
                                          <m:brk m:alnAt="23"/>
                                        </m:rPr>
                                        <a:rPr lang="es-ES" sz="2000" b="0" i="1" smtClean="0">
                                          <a:latin typeface="Cambria Math" panose="02040503050406030204" pitchFamily="18" charset="0"/>
                                          <a:ea typeface="Cambria Math" panose="02040503050406030204" pitchFamily="18" charset="0"/>
                                        </a:rPr>
                                        <m:t>𝑖</m:t>
                                      </m:r>
                                      <m:r>
                                        <a:rPr lang="es-ES" sz="2000" b="0" i="1" smtClean="0">
                                          <a:latin typeface="Cambria Math" panose="02040503050406030204" pitchFamily="18" charset="0"/>
                                          <a:ea typeface="Cambria Math" panose="02040503050406030204" pitchFamily="18" charset="0"/>
                                        </a:rPr>
                                        <m:t>=1</m:t>
                                      </m:r>
                                    </m:sub>
                                    <m:sup>
                                      <m:r>
                                        <a:rPr lang="es-ES" sz="2000" b="0" i="1" smtClean="0">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b="0" i="1" smtClean="0">
                                              <a:latin typeface="Cambria Math" panose="02040503050406030204" pitchFamily="18" charset="0"/>
                                              <a:ea typeface="Cambria Math" panose="02040503050406030204" pitchFamily="18" charset="0"/>
                                            </a:rPr>
                                            <m:t>𝑘</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𝑘</m:t>
                                          </m:r>
                                        </m:sub>
                                      </m:sSub>
                                      <m:sSup>
                                        <m:sSupPr>
                                          <m:ctrlPr>
                                            <a:rPr lang="es-ES" sz="2000" i="1" smtClean="0">
                                              <a:latin typeface="Cambria Math" panose="02040503050406030204" pitchFamily="18" charset="0"/>
                                              <a:ea typeface="Cambria Math" panose="02040503050406030204" pitchFamily="18" charset="0"/>
                                            </a:rPr>
                                          </m:ctrlPr>
                                        </m:sSupPr>
                                        <m:e>
                                          <m:r>
                                            <a:rPr lang="es-ES" sz="2000" b="0" i="1" smtClean="0">
                                              <a:latin typeface="Cambria Math" panose="02040503050406030204" pitchFamily="18" charset="0"/>
                                              <a:ea typeface="Cambria Math" panose="02040503050406030204" pitchFamily="18" charset="0"/>
                                            </a:rPr>
                                            <m:t>h</m:t>
                                          </m:r>
                                          <m:d>
                                            <m:dPr>
                                              <m:ctrlPr>
                                                <a:rPr lang="es-ES" sz="2000" b="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b="0" i="1" smtClean="0">
                                                      <a:latin typeface="Cambria Math" panose="02040503050406030204" pitchFamily="18" charset="0"/>
                                                    </a:rPr>
                                                    <m:t>𝑖</m:t>
                                                  </m:r>
                                                </m:sub>
                                              </m:sSub>
                                            </m:e>
                                          </m:d>
                                        </m:e>
                                        <m:sup>
                                          <m:r>
                                            <a:rPr lang="es-ES" sz="2000" b="0" i="1" smtClean="0">
                                              <a:latin typeface="Cambria Math" panose="02040503050406030204" pitchFamily="18" charset="0"/>
                                              <a:ea typeface="Cambria Math" panose="02040503050406030204" pitchFamily="18" charset="0"/>
                                            </a:rPr>
                                            <m:t>𝑇</m:t>
                                          </m:r>
                                        </m:sup>
                                      </m:sSup>
                                      <m:r>
                                        <a:rPr lang="es-ES" sz="2000" b="0" i="1" smtClean="0">
                                          <a:latin typeface="Cambria Math" panose="02040503050406030204" pitchFamily="18" charset="0"/>
                                          <a:ea typeface="Cambria Math" panose="02040503050406030204" pitchFamily="18" charset="0"/>
                                        </a:rPr>
                                        <m:t>h</m:t>
                                      </m:r>
                                      <m:r>
                                        <a:rPr lang="es-ES" sz="2000" b="0" i="1" smtClean="0">
                                          <a:latin typeface="Cambria Math" panose="02040503050406030204" pitchFamily="18" charset="0"/>
                                          <a:ea typeface="Cambria Math" panose="02040503050406030204" pitchFamily="18" charset="0"/>
                                        </a:rPr>
                                        <m:t>(</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𝑥</m:t>
                                          </m:r>
                                        </m:e>
                                        <m:sub>
                                          <m:r>
                                            <a:rPr lang="es-ES" sz="2000" b="0" i="1" smtClean="0">
                                              <a:latin typeface="Cambria Math" panose="02040503050406030204" pitchFamily="18" charset="0"/>
                                            </a:rPr>
                                            <m:t>𝑘</m:t>
                                          </m:r>
                                        </m:sub>
                                      </m:sSub>
                                      <m:r>
                                        <a:rPr lang="es-ES" sz="2000" b="0" i="1" smtClean="0">
                                          <a:latin typeface="Cambria Math" panose="02040503050406030204" pitchFamily="18" charset="0"/>
                                        </a:rPr>
                                        <m:t>)</m:t>
                                      </m:r>
                                    </m:e>
                                  </m:nary>
                                </m:e>
                              </m:nary>
                            </m:e>
                          </m:nary>
                        </m:e>
                      </m:func>
                    </m:oMath>
                  </m:oMathPara>
                </a14:m>
                <a:endParaRPr lang="es-ES_tradnl" sz="2000" dirty="0"/>
              </a:p>
            </p:txBody>
          </p:sp>
        </mc:Choice>
        <mc:Fallback xmlns="">
          <p:sp>
            <p:nvSpPr>
              <p:cNvPr id="8" name="CuadroTexto 7">
                <a:extLst>
                  <a:ext uri="{FF2B5EF4-FFF2-40B4-BE49-F238E27FC236}">
                    <a16:creationId xmlns:a16="http://schemas.microsoft.com/office/drawing/2014/main" id="{01136C05-3DA5-4D8C-808B-73426413394C}"/>
                  </a:ext>
                </a:extLst>
              </p:cNvPr>
              <p:cNvSpPr txBox="1">
                <a:spLocks noRot="1" noChangeAspect="1" noMove="1" noResize="1" noEditPoints="1" noAdjustHandles="1" noChangeArrowheads="1" noChangeShapeType="1" noTextEdit="1"/>
              </p:cNvSpPr>
              <p:nvPr/>
            </p:nvSpPr>
            <p:spPr>
              <a:xfrm>
                <a:off x="515270" y="1143000"/>
                <a:ext cx="2989930" cy="840295"/>
              </a:xfrm>
              <a:prstGeom prst="rect">
                <a:avLst/>
              </a:prstGeom>
              <a:blipFill>
                <a:blip r:embed="rId4"/>
                <a:stretch>
                  <a:fillRect r="-77959"/>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 name="Rectángulo 1">
                <a:extLst>
                  <a:ext uri="{FF2B5EF4-FFF2-40B4-BE49-F238E27FC236}">
                    <a16:creationId xmlns:a16="http://schemas.microsoft.com/office/drawing/2014/main" id="{063092B3-6318-4A04-8541-4F2EF149839A}"/>
                  </a:ext>
                </a:extLst>
              </p:cNvPr>
              <p:cNvSpPr/>
              <p:nvPr/>
            </p:nvSpPr>
            <p:spPr>
              <a:xfrm>
                <a:off x="1299431" y="2487712"/>
                <a:ext cx="1558632" cy="932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=0</m:t>
                          </m:r>
                        </m:e>
                      </m:nary>
                    </m:oMath>
                  </m:oMathPara>
                </a14:m>
                <a:endParaRPr lang="es-ES_tradnl" sz="2000" dirty="0"/>
              </a:p>
            </p:txBody>
          </p:sp>
        </mc:Choice>
        <mc:Fallback xmlns="">
          <p:sp>
            <p:nvSpPr>
              <p:cNvPr id="2" name="Rectángulo 1">
                <a:extLst>
                  <a:ext uri="{FF2B5EF4-FFF2-40B4-BE49-F238E27FC236}">
                    <a16:creationId xmlns:a16="http://schemas.microsoft.com/office/drawing/2014/main" id="{063092B3-6318-4A04-8541-4F2EF149839A}"/>
                  </a:ext>
                </a:extLst>
              </p:cNvPr>
              <p:cNvSpPr>
                <a:spLocks noRot="1" noChangeAspect="1" noMove="1" noResize="1" noEditPoints="1" noAdjustHandles="1" noChangeArrowheads="1" noChangeShapeType="1" noTextEdit="1"/>
              </p:cNvSpPr>
              <p:nvPr/>
            </p:nvSpPr>
            <p:spPr>
              <a:xfrm>
                <a:off x="1299431" y="2487712"/>
                <a:ext cx="1558632" cy="932628"/>
              </a:xfrm>
              <a:prstGeom prst="rect">
                <a:avLst/>
              </a:prstGeom>
              <a:blipFill>
                <a:blip r:embed="rId5"/>
                <a:stretch>
                  <a:fillRect/>
                </a:stretch>
              </a:blipFill>
            </p:spPr>
            <p:txBody>
              <a:bodyPr/>
              <a:lstStyle/>
              <a:p>
                <a:r>
                  <a:rPr lang="es-ES_tradnl">
                    <a:noFill/>
                  </a:rPr>
                  <a:t> </a:t>
                </a:r>
              </a:p>
            </p:txBody>
          </p:sp>
        </mc:Fallback>
      </mc:AlternateContent>
      <p:sp>
        <p:nvSpPr>
          <p:cNvPr id="10" name="Rectángulo 9">
            <a:extLst>
              <a:ext uri="{FF2B5EF4-FFF2-40B4-BE49-F238E27FC236}">
                <a16:creationId xmlns:a16="http://schemas.microsoft.com/office/drawing/2014/main" id="{511D936F-17E3-47ED-857A-C74E26E265B3}"/>
              </a:ext>
            </a:extLst>
          </p:cNvPr>
          <p:cNvSpPr/>
          <p:nvPr/>
        </p:nvSpPr>
        <p:spPr>
          <a:xfrm>
            <a:off x="4495800" y="1244288"/>
            <a:ext cx="1371600" cy="661900"/>
          </a:xfrm>
          <a:prstGeom prst="rect">
            <a:avLst/>
          </a:prstGeom>
          <a:solidFill>
            <a:srgbClr val="FF0000">
              <a:alpha val="54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Rectángulo 8">
            <a:extLst>
              <a:ext uri="{FF2B5EF4-FFF2-40B4-BE49-F238E27FC236}">
                <a16:creationId xmlns:a16="http://schemas.microsoft.com/office/drawing/2014/main" id="{C42A8CA9-1750-4090-ADE3-E907ABA519C2}"/>
              </a:ext>
            </a:extLst>
          </p:cNvPr>
          <p:cNvSpPr/>
          <p:nvPr/>
        </p:nvSpPr>
        <p:spPr>
          <a:xfrm>
            <a:off x="572203" y="4396930"/>
            <a:ext cx="6742997" cy="369332"/>
          </a:xfrm>
          <a:prstGeom prst="rect">
            <a:avLst/>
          </a:prstGeom>
        </p:spPr>
        <p:txBody>
          <a:bodyPr wrap="square">
            <a:spAutoFit/>
          </a:bodyPr>
          <a:lstStyle/>
          <a:p>
            <a:pPr algn="just"/>
            <a:r>
              <a:rPr lang="es-ES" b="1" dirty="0" err="1"/>
              <a:t>Kernel</a:t>
            </a:r>
            <a:r>
              <a:rPr lang="es-ES" b="1" dirty="0"/>
              <a:t> </a:t>
            </a:r>
            <a:r>
              <a:rPr lang="es-ES" b="1" dirty="0" err="1"/>
              <a:t>Trick</a:t>
            </a:r>
            <a:r>
              <a:rPr lang="es-ES" b="1" dirty="0"/>
              <a:t>: </a:t>
            </a:r>
            <a:r>
              <a:rPr lang="es-ES" dirty="0" err="1"/>
              <a:t>we</a:t>
            </a:r>
            <a:r>
              <a:rPr lang="es-ES" dirty="0"/>
              <a:t> can </a:t>
            </a:r>
            <a:r>
              <a:rPr lang="es-ES" dirty="0" err="1"/>
              <a:t>work</a:t>
            </a:r>
            <a:r>
              <a:rPr lang="es-ES" dirty="0"/>
              <a:t> </a:t>
            </a:r>
            <a:r>
              <a:rPr lang="es-ES" dirty="0" err="1"/>
              <a:t>directly</a:t>
            </a:r>
            <a:r>
              <a:rPr lang="es-ES" dirty="0"/>
              <a:t> </a:t>
            </a:r>
            <a:r>
              <a:rPr lang="es-ES" dirty="0" err="1"/>
              <a:t>with</a:t>
            </a:r>
            <a:r>
              <a:rPr lang="es-ES" dirty="0"/>
              <a:t> </a:t>
            </a:r>
            <a:r>
              <a:rPr lang="es-ES" dirty="0" err="1"/>
              <a:t>inner</a:t>
            </a:r>
            <a:r>
              <a:rPr lang="es-ES" dirty="0"/>
              <a:t> </a:t>
            </a:r>
            <a:r>
              <a:rPr lang="es-ES" dirty="0" err="1"/>
              <a:t>products</a:t>
            </a:r>
            <a:r>
              <a:rPr lang="es-ES" dirty="0"/>
              <a:t>.</a:t>
            </a:r>
            <a:endParaRPr lang="es-ES_tradnl" b="1" dirty="0"/>
          </a:p>
        </p:txBody>
      </p:sp>
    </p:spTree>
    <p:extLst>
      <p:ext uri="{BB962C8B-B14F-4D97-AF65-F5344CB8AC3E}">
        <p14:creationId xmlns:p14="http://schemas.microsoft.com/office/powerpoint/2010/main" val="338548917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9" name="Rectángulo 8">
            <a:extLst>
              <a:ext uri="{FF2B5EF4-FFF2-40B4-BE49-F238E27FC236}">
                <a16:creationId xmlns:a16="http://schemas.microsoft.com/office/drawing/2014/main" id="{C42A8CA9-1750-4090-ADE3-E907ABA519C2}"/>
              </a:ext>
            </a:extLst>
          </p:cNvPr>
          <p:cNvSpPr/>
          <p:nvPr/>
        </p:nvSpPr>
        <p:spPr>
          <a:xfrm>
            <a:off x="572202" y="1066800"/>
            <a:ext cx="6742997" cy="369332"/>
          </a:xfrm>
          <a:prstGeom prst="rect">
            <a:avLst/>
          </a:prstGeom>
        </p:spPr>
        <p:txBody>
          <a:bodyPr wrap="square">
            <a:spAutoFit/>
          </a:bodyPr>
          <a:lstStyle/>
          <a:p>
            <a:pPr algn="just"/>
            <a:r>
              <a:rPr lang="es-ES" b="1" dirty="0" err="1"/>
              <a:t>Kernel</a:t>
            </a:r>
            <a:r>
              <a:rPr lang="es-ES" b="1" dirty="0"/>
              <a:t> </a:t>
            </a:r>
            <a:r>
              <a:rPr lang="es-ES" b="1" dirty="0" err="1"/>
              <a:t>Trick</a:t>
            </a:r>
            <a:r>
              <a:rPr lang="es-ES" b="1" dirty="0"/>
              <a:t>: </a:t>
            </a:r>
            <a:r>
              <a:rPr lang="es-ES" dirty="0" err="1"/>
              <a:t>we</a:t>
            </a:r>
            <a:r>
              <a:rPr lang="es-ES" dirty="0"/>
              <a:t> can </a:t>
            </a:r>
            <a:r>
              <a:rPr lang="es-ES" dirty="0" err="1"/>
              <a:t>work</a:t>
            </a:r>
            <a:r>
              <a:rPr lang="es-ES" dirty="0"/>
              <a:t> </a:t>
            </a:r>
            <a:r>
              <a:rPr lang="es-ES" dirty="0" err="1"/>
              <a:t>directly</a:t>
            </a:r>
            <a:r>
              <a:rPr lang="es-ES" dirty="0"/>
              <a:t> </a:t>
            </a:r>
            <a:r>
              <a:rPr lang="es-ES" dirty="0" err="1"/>
              <a:t>with</a:t>
            </a:r>
            <a:r>
              <a:rPr lang="es-ES" dirty="0"/>
              <a:t> </a:t>
            </a:r>
            <a:r>
              <a:rPr lang="es-ES" dirty="0" err="1"/>
              <a:t>inner</a:t>
            </a:r>
            <a:r>
              <a:rPr lang="es-ES" dirty="0"/>
              <a:t> </a:t>
            </a:r>
            <a:r>
              <a:rPr lang="es-ES" dirty="0" err="1"/>
              <a:t>products</a:t>
            </a:r>
            <a:r>
              <a:rPr lang="es-ES" dirty="0"/>
              <a:t>.</a:t>
            </a:r>
            <a:endParaRPr lang="es-ES_tradnl" b="1" dirty="0"/>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8E588E3A-5D09-4334-976F-BAD8AC0C564C}"/>
                  </a:ext>
                </a:extLst>
              </p:cNvPr>
              <p:cNvSpPr txBox="1"/>
              <p:nvPr/>
            </p:nvSpPr>
            <p:spPr>
              <a:xfrm>
                <a:off x="685800" y="1783440"/>
                <a:ext cx="226081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rPr>
                        <m:t>𝑓</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𝑥</m:t>
                          </m:r>
                        </m:e>
                      </m:d>
                      <m:r>
                        <a:rPr lang="es-ES" sz="2000" b="0" i="1" smtClean="0">
                          <a:latin typeface="Cambria Math" panose="02040503050406030204" pitchFamily="18" charset="0"/>
                        </a:rPr>
                        <m:t>=</m:t>
                      </m:r>
                      <m:sSub>
                        <m:sSubPr>
                          <m:ctrlPr>
                            <a:rPr lang="es-ES_tradnl" sz="2000" i="1">
                              <a:latin typeface="Cambria Math" panose="02040503050406030204" pitchFamily="18" charset="0"/>
                            </a:rPr>
                          </m:ctrlPr>
                        </m:sSubPr>
                        <m:e>
                          <m:r>
                            <a:rPr lang="es-ES_tradnl"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rPr>
                            <m:t>0</m:t>
                          </m:r>
                        </m:sub>
                      </m:sSub>
                      <m:r>
                        <a:rPr lang="es-ES" sz="2000" i="1">
                          <a:latin typeface="Cambria Math" panose="02040503050406030204" pitchFamily="18" charset="0"/>
                        </a:rPr>
                        <m:t>+</m:t>
                      </m:r>
                      <m:r>
                        <a:rPr lang="es-ES" sz="2000" b="0" i="1" smtClean="0">
                          <a:latin typeface="Cambria Math" panose="02040503050406030204" pitchFamily="18" charset="0"/>
                        </a:rPr>
                        <m:t>h</m:t>
                      </m:r>
                      <m:r>
                        <a:rPr lang="es-ES" sz="2000" b="0" i="1" smtClean="0">
                          <a:latin typeface="Cambria Math" panose="02040503050406030204" pitchFamily="18" charset="0"/>
                        </a:rPr>
                        <m:t>(</m:t>
                      </m:r>
                      <m:sSup>
                        <m:sSupPr>
                          <m:ctrlPr>
                            <a:rPr lang="es-ES" sz="2000" i="1">
                              <a:latin typeface="Cambria Math" panose="02040503050406030204" pitchFamily="18" charset="0"/>
                            </a:rPr>
                          </m:ctrlPr>
                        </m:sSupPr>
                        <m:e>
                          <m:r>
                            <a:rPr lang="es-ES" sz="2000" b="0" i="1" smtClean="0">
                              <a:latin typeface="Cambria Math" panose="02040503050406030204" pitchFamily="18" charset="0"/>
                            </a:rPr>
                            <m:t>𝑥</m:t>
                          </m:r>
                          <m:r>
                            <a:rPr lang="es-ES" sz="2000" b="0" i="1" smtClean="0">
                              <a:latin typeface="Cambria Math" panose="02040503050406030204" pitchFamily="18" charset="0"/>
                            </a:rPr>
                            <m:t>)</m:t>
                          </m:r>
                        </m:e>
                        <m:sup>
                          <m:r>
                            <a:rPr lang="es-ES" sz="2000" i="1">
                              <a:latin typeface="Cambria Math" panose="02040503050406030204" pitchFamily="18" charset="0"/>
                            </a:rPr>
                            <m:t>𝑇</m:t>
                          </m:r>
                        </m:sup>
                      </m:sSup>
                      <m:r>
                        <a:rPr lang="es-ES" sz="2000" i="1" smtClean="0">
                          <a:latin typeface="Cambria Math" panose="02040503050406030204" pitchFamily="18" charset="0"/>
                          <a:ea typeface="Cambria Math" panose="02040503050406030204" pitchFamily="18" charset="0"/>
                        </a:rPr>
                        <m:t>𝛽</m:t>
                      </m:r>
                    </m:oMath>
                  </m:oMathPara>
                </a14:m>
                <a:endParaRPr lang="es-ES_tradnl" sz="2000" dirty="0"/>
              </a:p>
            </p:txBody>
          </p:sp>
        </mc:Choice>
        <mc:Fallback>
          <p:sp>
            <p:nvSpPr>
              <p:cNvPr id="12" name="CuadroTexto 11">
                <a:extLst>
                  <a:ext uri="{FF2B5EF4-FFF2-40B4-BE49-F238E27FC236}">
                    <a16:creationId xmlns:a16="http://schemas.microsoft.com/office/drawing/2014/main" id="{8E588E3A-5D09-4334-976F-BAD8AC0C564C}"/>
                  </a:ext>
                </a:extLst>
              </p:cNvPr>
              <p:cNvSpPr txBox="1">
                <a:spLocks noRot="1" noChangeAspect="1" noMove="1" noResize="1" noEditPoints="1" noAdjustHandles="1" noChangeArrowheads="1" noChangeShapeType="1" noTextEdit="1"/>
              </p:cNvSpPr>
              <p:nvPr/>
            </p:nvSpPr>
            <p:spPr>
              <a:xfrm>
                <a:off x="685800" y="1783440"/>
                <a:ext cx="2260812" cy="307777"/>
              </a:xfrm>
              <a:prstGeom prst="rect">
                <a:avLst/>
              </a:prstGeom>
              <a:blipFill>
                <a:blip r:embed="rId3"/>
                <a:stretch>
                  <a:fillRect l="-3784" t="-4000" r="-3243" b="-36000"/>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853A60B2-E660-4FFA-8742-B4404BAFC7DF}"/>
                  </a:ext>
                </a:extLst>
              </p:cNvPr>
              <p:cNvSpPr/>
              <p:nvPr/>
            </p:nvSpPr>
            <p:spPr>
              <a:xfrm>
                <a:off x="457200" y="2586243"/>
                <a:ext cx="2381914"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 sz="2000" b="0" i="1" smtClean="0">
                          <a:latin typeface="Cambria Math" panose="02040503050406030204" pitchFamily="18" charset="0"/>
                          <a:ea typeface="Cambria Math" panose="02040503050406030204" pitchFamily="18" charset="0"/>
                        </a:rPr>
                        <m:t>𝛽</m:t>
                      </m:r>
                      <m:r>
                        <a:rPr lang="es-ES" sz="2000" b="0" i="0" smtClean="0">
                          <a:latin typeface="Cambria Math" panose="02040503050406030204" pitchFamily="18" charset="0"/>
                          <a:ea typeface="Cambria Math" panose="02040503050406030204" pitchFamily="18" charset="0"/>
                        </a:rPr>
                        <m:t>=</m:t>
                      </m:r>
                      <m:nary>
                        <m:naryPr>
                          <m:chr m:val="∑"/>
                          <m:ctrlPr>
                            <a:rPr lang="es-ES" sz="2000" i="1">
                              <a:latin typeface="Cambria Math" panose="02040503050406030204" pitchFamily="18" charset="0"/>
                              <a:ea typeface="Cambria Math" panose="02040503050406030204" pitchFamily="18" charset="0"/>
                            </a:rPr>
                          </m:ctrlPr>
                        </m:naryPr>
                        <m:sub>
                          <m:r>
                            <m:rPr>
                              <m:brk m:alnAt="23"/>
                            </m:rPr>
                            <a:rPr lang="es-ES" sz="2000" i="1">
                              <a:latin typeface="Cambria Math" panose="02040503050406030204" pitchFamily="18" charset="0"/>
                              <a:ea typeface="Cambria Math" panose="02040503050406030204" pitchFamily="18" charset="0"/>
                            </a:rPr>
                            <m:t>𝑖</m:t>
                          </m:r>
                          <m:r>
                            <a:rPr lang="es-ES" sz="2000" i="1">
                              <a:latin typeface="Cambria Math" panose="02040503050406030204" pitchFamily="18" charset="0"/>
                              <a:ea typeface="Cambria Math" panose="02040503050406030204" pitchFamily="18" charset="0"/>
                            </a:rPr>
                            <m:t>=1</m:t>
                          </m:r>
                        </m:sub>
                        <m:sup>
                          <m:r>
                            <a:rPr lang="es-ES" sz="2000" i="1">
                              <a:latin typeface="Cambria Math" panose="02040503050406030204" pitchFamily="18" charset="0"/>
                              <a:ea typeface="Cambria Math" panose="02040503050406030204" pitchFamily="18" charset="0"/>
                            </a:rPr>
                            <m:t>𝑛</m:t>
                          </m:r>
                        </m:sup>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𝑦</m:t>
                              </m:r>
                            </m:e>
                            <m:sub>
                              <m:r>
                                <a:rPr lang="es-ES" sz="2000" b="0" i="1" smtClean="0">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h</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𝑥</m:t>
                              </m:r>
                            </m:e>
                            <m:sub>
                              <m:r>
                                <a:rPr lang="es-ES" sz="2000" b="0" i="1" smtClean="0">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e>
                      </m:nary>
                    </m:oMath>
                  </m:oMathPara>
                </a14:m>
                <a:endParaRPr lang="es-ES_tradnl" sz="2000" dirty="0"/>
              </a:p>
            </p:txBody>
          </p:sp>
        </mc:Choice>
        <mc:Fallback>
          <p:sp>
            <p:nvSpPr>
              <p:cNvPr id="13" name="Rectángulo 12">
                <a:extLst>
                  <a:ext uri="{FF2B5EF4-FFF2-40B4-BE49-F238E27FC236}">
                    <a16:creationId xmlns:a16="http://schemas.microsoft.com/office/drawing/2014/main" id="{853A60B2-E660-4FFA-8742-B4404BAFC7DF}"/>
                  </a:ext>
                </a:extLst>
              </p:cNvPr>
              <p:cNvSpPr>
                <a:spLocks noRot="1" noChangeAspect="1" noMove="1" noResize="1" noEditPoints="1" noAdjustHandles="1" noChangeArrowheads="1" noChangeShapeType="1" noTextEdit="1"/>
              </p:cNvSpPr>
              <p:nvPr/>
            </p:nvSpPr>
            <p:spPr>
              <a:xfrm>
                <a:off x="457200" y="2586243"/>
                <a:ext cx="2381914" cy="932628"/>
              </a:xfrm>
              <a:prstGeom prst="rect">
                <a:avLst/>
              </a:prstGeom>
              <a:blipFill>
                <a:blip r:embed="rId4"/>
                <a:stretch>
                  <a:fillRect/>
                </a:stretch>
              </a:blipFill>
            </p:spPr>
            <p:txBody>
              <a:bodyPr/>
              <a:lstStyle/>
              <a:p>
                <a:r>
                  <a:rPr lang="es-ES_tradnl">
                    <a:noFill/>
                  </a:rPr>
                  <a:t> </a:t>
                </a:r>
              </a:p>
            </p:txBody>
          </p:sp>
        </mc:Fallback>
      </mc:AlternateContent>
      <p:sp>
        <p:nvSpPr>
          <p:cNvPr id="3" name="Flecha: a la derecha 2">
            <a:extLst>
              <a:ext uri="{FF2B5EF4-FFF2-40B4-BE49-F238E27FC236}">
                <a16:creationId xmlns:a16="http://schemas.microsoft.com/office/drawing/2014/main" id="{C5137DA9-99B7-44AA-92CE-27B679C3679F}"/>
              </a:ext>
            </a:extLst>
          </p:cNvPr>
          <p:cNvSpPr/>
          <p:nvPr/>
        </p:nvSpPr>
        <p:spPr>
          <a:xfrm>
            <a:off x="3315120" y="2313488"/>
            <a:ext cx="807719" cy="282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mc:AlternateContent xmlns:mc="http://schemas.openxmlformats.org/markup-compatibility/2006">
        <mc:Choice xmlns:a14="http://schemas.microsoft.com/office/drawing/2010/main" Requires="a14">
          <p:sp>
            <p:nvSpPr>
              <p:cNvPr id="11" name="Rectángulo 10">
                <a:extLst>
                  <a:ext uri="{FF2B5EF4-FFF2-40B4-BE49-F238E27FC236}">
                    <a16:creationId xmlns:a16="http://schemas.microsoft.com/office/drawing/2014/main" id="{D276FD93-1C9F-44BC-8D03-750A04F4B327}"/>
                  </a:ext>
                </a:extLst>
              </p:cNvPr>
              <p:cNvSpPr/>
              <p:nvPr/>
            </p:nvSpPr>
            <p:spPr>
              <a:xfrm>
                <a:off x="4461294" y="2000901"/>
                <a:ext cx="3402085" cy="8485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𝑓</m:t>
                      </m:r>
                      <m:d>
                        <m:dPr>
                          <m:ctrlPr>
                            <a:rPr lang="es-ES" i="1">
                              <a:latin typeface="Cambria Math" panose="02040503050406030204" pitchFamily="18" charset="0"/>
                            </a:rPr>
                          </m:ctrlPr>
                        </m:dPr>
                        <m:e>
                          <m:r>
                            <a:rPr lang="es-ES" i="1">
                              <a:latin typeface="Cambria Math" panose="02040503050406030204" pitchFamily="18" charset="0"/>
                            </a:rPr>
                            <m:t>𝑥</m:t>
                          </m:r>
                        </m:e>
                      </m:d>
                      <m:r>
                        <a:rPr lang="es-ES" i="1">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m:t>
                      </m:r>
                      <m:nary>
                        <m:naryPr>
                          <m:chr m:val="∑"/>
                          <m:ctrlPr>
                            <a:rPr lang="es-ES" i="1">
                              <a:latin typeface="Cambria Math" panose="02040503050406030204" pitchFamily="18" charset="0"/>
                              <a:ea typeface="Cambria Math" panose="02040503050406030204" pitchFamily="18" charset="0"/>
                            </a:rPr>
                          </m:ctrlPr>
                        </m:naryPr>
                        <m:sub>
                          <m:r>
                            <m:rPr>
                              <m:brk m:alnAt="23"/>
                            </m:rPr>
                            <a:rPr lang="es-ES" i="1">
                              <a:latin typeface="Cambria Math" panose="02040503050406030204" pitchFamily="18" charset="0"/>
                              <a:ea typeface="Cambria Math" panose="02040503050406030204" pitchFamily="18" charset="0"/>
                            </a:rPr>
                            <m:t>𝑖</m:t>
                          </m:r>
                          <m:r>
                            <a:rPr lang="es-ES" i="1">
                              <a:latin typeface="Cambria Math" panose="02040503050406030204" pitchFamily="18" charset="0"/>
                              <a:ea typeface="Cambria Math" panose="02040503050406030204" pitchFamily="18" charset="0"/>
                            </a:rPr>
                            <m:t>=1</m:t>
                          </m:r>
                        </m:sub>
                        <m:sup>
                          <m:r>
                            <a:rPr lang="es-ES" i="1">
                              <a:latin typeface="Cambria Math" panose="02040503050406030204" pitchFamily="18" charset="0"/>
                              <a:ea typeface="Cambria Math" panose="02040503050406030204" pitchFamily="18" charset="0"/>
                            </a:rPr>
                            <m:t>𝑛</m:t>
                          </m:r>
                        </m:sup>
                        <m:e>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𝛼</m:t>
                              </m:r>
                            </m:e>
                            <m:sub>
                              <m:r>
                                <a:rPr lang="es-ES" i="1">
                                  <a:latin typeface="Cambria Math" panose="02040503050406030204" pitchFamily="18" charset="0"/>
                                  <a:ea typeface="Cambria Math" panose="02040503050406030204" pitchFamily="18" charset="0"/>
                                </a:rPr>
                                <m:t>𝑖</m:t>
                              </m:r>
                            </m:sub>
                          </m:sSub>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𝑦</m:t>
                              </m:r>
                            </m:e>
                            <m:sub>
                              <m:r>
                                <a:rPr lang="es-ES" i="1">
                                  <a:latin typeface="Cambria Math" panose="02040503050406030204" pitchFamily="18" charset="0"/>
                                  <a:ea typeface="Cambria Math" panose="02040503050406030204" pitchFamily="18" charset="0"/>
                                </a:rPr>
                                <m:t>𝑖</m:t>
                              </m:r>
                            </m:sub>
                          </m:sSub>
                          <m:r>
                            <a:rPr lang="es-ES" i="1">
                              <a:latin typeface="Cambria Math" panose="02040503050406030204" pitchFamily="18" charset="0"/>
                            </a:rPr>
                            <m:t>h</m:t>
                          </m:r>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𝑥</m:t>
                              </m:r>
                              <m:r>
                                <a:rPr lang="es-ES" i="1">
                                  <a:latin typeface="Cambria Math" panose="02040503050406030204" pitchFamily="18" charset="0"/>
                                </a:rPr>
                                <m:t>)</m:t>
                              </m:r>
                            </m:e>
                            <m:sup>
                              <m:r>
                                <a:rPr lang="es-ES" i="1">
                                  <a:latin typeface="Cambria Math" panose="02040503050406030204" pitchFamily="18" charset="0"/>
                                </a:rPr>
                                <m:t>𝑇</m:t>
                              </m:r>
                            </m:sup>
                          </m:sSup>
                          <m:r>
                            <a:rPr lang="es-ES" b="0" i="1" smtClean="0">
                              <a:latin typeface="Cambria Math" panose="02040503050406030204" pitchFamily="18" charset="0"/>
                            </a:rPr>
                            <m:t>h</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𝑖</m:t>
                              </m:r>
                            </m:sub>
                          </m:sSub>
                          <m:r>
                            <a:rPr lang="es-ES" b="0" i="1" smtClean="0">
                              <a:latin typeface="Cambria Math" panose="02040503050406030204" pitchFamily="18" charset="0"/>
                            </a:rPr>
                            <m:t>)</m:t>
                          </m:r>
                          <m:r>
                            <a:rPr lang="es-ES" i="1" smtClean="0">
                              <a:latin typeface="Cambria Math" panose="02040503050406030204" pitchFamily="18" charset="0"/>
                              <a:ea typeface="Cambria Math" panose="02040503050406030204" pitchFamily="18" charset="0"/>
                            </a:rPr>
                            <m:t> </m:t>
                          </m:r>
                        </m:e>
                      </m:nary>
                    </m:oMath>
                  </m:oMathPara>
                </a14:m>
                <a:endParaRPr lang="es-ES_tradnl" dirty="0"/>
              </a:p>
            </p:txBody>
          </p:sp>
        </mc:Choice>
        <mc:Fallback>
          <p:sp>
            <p:nvSpPr>
              <p:cNvPr id="11" name="Rectángulo 10">
                <a:extLst>
                  <a:ext uri="{FF2B5EF4-FFF2-40B4-BE49-F238E27FC236}">
                    <a16:creationId xmlns:a16="http://schemas.microsoft.com/office/drawing/2014/main" id="{D276FD93-1C9F-44BC-8D03-750A04F4B327}"/>
                  </a:ext>
                </a:extLst>
              </p:cNvPr>
              <p:cNvSpPr>
                <a:spLocks noRot="1" noChangeAspect="1" noMove="1" noResize="1" noEditPoints="1" noAdjustHandles="1" noChangeArrowheads="1" noChangeShapeType="1" noTextEdit="1"/>
              </p:cNvSpPr>
              <p:nvPr/>
            </p:nvSpPr>
            <p:spPr>
              <a:xfrm>
                <a:off x="4461294" y="2000901"/>
                <a:ext cx="3402085" cy="848566"/>
              </a:xfrm>
              <a:prstGeom prst="rect">
                <a:avLst/>
              </a:prstGeom>
              <a:blipFill>
                <a:blip r:embed="rId5"/>
                <a:stretch>
                  <a:fillRect/>
                </a:stretch>
              </a:blipFill>
            </p:spPr>
            <p:txBody>
              <a:bodyPr/>
              <a:lstStyle/>
              <a:p>
                <a:r>
                  <a:rPr lang="es-ES_tradnl">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57C255B4-A2BF-4961-AB91-F20BB0369A6D}"/>
                  </a:ext>
                </a:extLst>
              </p:cNvPr>
              <p:cNvSpPr/>
              <p:nvPr/>
            </p:nvSpPr>
            <p:spPr>
              <a:xfrm>
                <a:off x="685800" y="4242611"/>
                <a:ext cx="3253391" cy="163121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s-ES" sz="2000" i="1" smtClean="0">
                              <a:latin typeface="Cambria Math" panose="02040503050406030204" pitchFamily="18" charset="0"/>
                              <a:ea typeface="Cambria Math" panose="02040503050406030204" pitchFamily="18" charset="0"/>
                            </a:rPr>
                          </m:ctrlPr>
                        </m:sSubPr>
                        <m:e>
                          <m:r>
                            <a:rPr lang="es-ES" sz="2000" b="0" i="1" smtClean="0">
                              <a:latin typeface="Cambria Math" panose="02040503050406030204" pitchFamily="18" charset="0"/>
                              <a:ea typeface="Cambria Math" panose="02040503050406030204" pitchFamily="18" charset="0"/>
                            </a:rPr>
                            <m:t>0&lt;</m:t>
                          </m:r>
                          <m:r>
                            <a:rPr lang="es-ES" sz="2000" i="1">
                              <a:latin typeface="Cambria Math" panose="02040503050406030204" pitchFamily="18" charset="0"/>
                              <a:ea typeface="Cambria Math" panose="02040503050406030204" pitchFamily="18" charset="0"/>
                            </a:rPr>
                            <m:t>𝛼</m:t>
                          </m:r>
                        </m:e>
                        <m:sub>
                          <m:r>
                            <a:rPr lang="es-ES" sz="2000" i="1">
                              <a:latin typeface="Cambria Math" panose="02040503050406030204" pitchFamily="18" charset="0"/>
                              <a:ea typeface="Cambria Math" panose="02040503050406030204" pitchFamily="18" charset="0"/>
                            </a:rPr>
                            <m:t>𝑖</m:t>
                          </m:r>
                        </m:sub>
                      </m:sSub>
                      <m:r>
                        <a:rPr lang="es-ES" sz="2000" i="1">
                          <a:latin typeface="Cambria Math" panose="02040503050406030204" pitchFamily="18" charset="0"/>
                          <a:ea typeface="Cambria Math" panose="02040503050406030204" pitchFamily="18" charset="0"/>
                        </a:rPr>
                        <m:t> &lt;</m:t>
                      </m:r>
                      <m:r>
                        <a:rPr lang="es-ES" sz="2000" b="0" i="1" smtClean="0">
                          <a:latin typeface="Cambria Math" panose="02040503050406030204" pitchFamily="18" charset="0"/>
                          <a:ea typeface="Cambria Math" panose="02040503050406030204" pitchFamily="18" charset="0"/>
                        </a:rPr>
                        <m:t>𝐶</m:t>
                      </m:r>
                      <m:r>
                        <a:rPr lang="es-ES" sz="2000" b="0" i="1" smtClean="0">
                          <a:latin typeface="Cambria Math" panose="02040503050406030204" pitchFamily="18" charset="0"/>
                          <a:ea typeface="Cambria Math" panose="02040503050406030204" pitchFamily="18" charset="0"/>
                        </a:rPr>
                        <m:t> −→</m:t>
                      </m:r>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𝜀</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=0</m:t>
                      </m:r>
                    </m:oMath>
                  </m:oMathPara>
                </a14:m>
                <a:endParaRPr lang="es-ES" sz="2000" b="0" i="1" dirty="0">
                  <a:latin typeface="Cambria Math" panose="02040503050406030204" pitchFamily="18" charset="0"/>
                  <a:ea typeface="Cambria Math" panose="02040503050406030204" pitchFamily="18" charset="0"/>
                </a:endParaRPr>
              </a:p>
              <a:p>
                <a:pPr/>
                <a:endParaRPr lang="es-ES"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ES" sz="2000" b="0" i="1" smtClean="0">
                          <a:latin typeface="Cambria Math" panose="02040503050406030204" pitchFamily="18" charset="0"/>
                          <a:ea typeface="Cambria Math" panose="02040503050406030204" pitchFamily="18" charset="0"/>
                        </a:rPr>
                        <m:t> </m:t>
                      </m:r>
                      <m:d>
                        <m:dPr>
                          <m:begChr m:val="["/>
                          <m:ctrlPr>
                            <a:rPr lang="es-ES" sz="2000" i="1" smtClean="0">
                              <a:latin typeface="Cambria Math" panose="02040503050406030204" pitchFamily="18" charset="0"/>
                              <a:ea typeface="Cambria Math" panose="02040503050406030204" pitchFamily="18" charset="0"/>
                            </a:rPr>
                          </m:ctrlPr>
                        </m:dPr>
                        <m:e>
                          <m:sSub>
                            <m:sSubPr>
                              <m:ctrlPr>
                                <a:rPr lang="es-ES" sz="2000" i="1">
                                  <a:latin typeface="Cambria Math" panose="02040503050406030204" pitchFamily="18" charset="0"/>
                                  <a:ea typeface="Cambria Math" panose="02040503050406030204" pitchFamily="18" charset="0"/>
                                </a:rPr>
                              </m:ctrlPr>
                            </m:sSubPr>
                            <m:e>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r>
                                <a:rPr lang="es-ES" sz="2000" b="0" i="1" smtClean="0">
                                  <a:latin typeface="Cambria Math" panose="02040503050406030204" pitchFamily="18" charset="0"/>
                                  <a:ea typeface="Cambria Math" panose="02040503050406030204" pitchFamily="18" charset="0"/>
                                </a:rPr>
                                <m:t>(</m:t>
                              </m:r>
                              <m:r>
                                <a:rPr lang="es-ES" sz="2000" i="1">
                                  <a:latin typeface="Cambria Math" panose="02040503050406030204" pitchFamily="18" charset="0"/>
                                  <a:ea typeface="Cambria Math" panose="02040503050406030204" pitchFamily="18" charset="0"/>
                                </a:rPr>
                                <m:t>𝛽</m:t>
                              </m:r>
                            </m:e>
                            <m:sub>
                              <m:r>
                                <a:rPr lang="es-ES" sz="2000" i="1">
                                  <a:latin typeface="Cambria Math" panose="02040503050406030204" pitchFamily="18" charset="0"/>
                                  <a:ea typeface="Cambria Math" panose="02040503050406030204" pitchFamily="18" charset="0"/>
                                </a:rPr>
                                <m:t>0</m:t>
                              </m:r>
                            </m:sub>
                          </m:sSub>
                          <m:r>
                            <a:rPr lang="es-ES" sz="2000" i="1">
                              <a:latin typeface="Cambria Math" panose="02040503050406030204" pitchFamily="18" charset="0"/>
                            </a:rPr>
                            <m:t>+</m:t>
                          </m:r>
                          <m:r>
                            <a:rPr lang="es-ES" sz="2000" i="1">
                              <a:latin typeface="Cambria Math" panose="02040503050406030204" pitchFamily="18" charset="0"/>
                            </a:rPr>
                            <m:t>h</m:t>
                          </m:r>
                          <m:r>
                            <a:rPr lang="es-ES" sz="2000" i="1">
                              <a:latin typeface="Cambria Math" panose="02040503050406030204" pitchFamily="18" charset="0"/>
                            </a:rPr>
                            <m:t>(</m:t>
                          </m:r>
                          <m:sSup>
                            <m:sSupPr>
                              <m:ctrlPr>
                                <a:rPr lang="es-ES" sz="2000" i="1">
                                  <a:latin typeface="Cambria Math" panose="02040503050406030204" pitchFamily="18" charset="0"/>
                                </a:rPr>
                              </m:ctrlPr>
                            </m:sSupPr>
                            <m:e>
                              <m:r>
                                <a:rPr lang="es-ES" sz="2000" i="1">
                                  <a:latin typeface="Cambria Math" panose="02040503050406030204" pitchFamily="18" charset="0"/>
                                </a:rPr>
                                <m:t>𝑥</m:t>
                              </m:r>
                              <m:r>
                                <a:rPr lang="es-ES" sz="2000" i="1">
                                  <a:latin typeface="Cambria Math" panose="02040503050406030204" pitchFamily="18" charset="0"/>
                                </a:rPr>
                                <m:t>)</m:t>
                              </m:r>
                            </m:e>
                            <m:sup>
                              <m:r>
                                <a:rPr lang="es-ES" sz="2000" i="1">
                                  <a:latin typeface="Cambria Math" panose="02040503050406030204" pitchFamily="18" charset="0"/>
                                </a:rPr>
                                <m:t>𝑇</m:t>
                              </m:r>
                            </m:sup>
                          </m:sSup>
                          <m:r>
                            <a:rPr lang="es-ES" sz="2000" i="1">
                              <a:latin typeface="Cambria Math" panose="02040503050406030204" pitchFamily="18" charset="0"/>
                              <a:ea typeface="Cambria Math" panose="02040503050406030204" pitchFamily="18" charset="0"/>
                            </a:rPr>
                            <m:t>𝛽</m:t>
                          </m:r>
                          <m:r>
                            <a:rPr lang="es-ES" sz="2000" i="1">
                              <a:latin typeface="Cambria Math" panose="02040503050406030204" pitchFamily="18" charset="0"/>
                            </a:rPr>
                            <m:t> </m:t>
                          </m:r>
                        </m:e>
                      </m:d>
                      <m:r>
                        <a:rPr lang="es-ES" sz="2000" i="1">
                          <a:latin typeface="Cambria Math" panose="02040503050406030204" pitchFamily="18" charset="0"/>
                        </a:rPr>
                        <m:t>−</m:t>
                      </m:r>
                      <m:r>
                        <a:rPr lang="es-ES" sz="2000" b="0" i="1" smtClean="0">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]=0</m:t>
                      </m:r>
                    </m:oMath>
                  </m:oMathPara>
                </a14:m>
                <a:endParaRPr lang="es-ES" sz="2000" i="1" dirty="0">
                  <a:latin typeface="Cambria Math" panose="02040503050406030204" pitchFamily="18" charset="0"/>
                  <a:ea typeface="Cambria Math" panose="02040503050406030204" pitchFamily="18" charset="0"/>
                </a:endParaRPr>
              </a:p>
              <a:p>
                <a:pPr/>
                <a:endParaRPr lang="es-ES"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s-ES" sz="2000" i="1">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𝑦</m:t>
                          </m:r>
                        </m:e>
                        <m:sub>
                          <m:r>
                            <a:rPr lang="es-ES" sz="2000" i="1">
                              <a:latin typeface="Cambria Math" panose="02040503050406030204" pitchFamily="18" charset="0"/>
                              <a:ea typeface="Cambria Math" panose="02040503050406030204" pitchFamily="18" charset="0"/>
                            </a:rPr>
                            <m:t>𝑖</m:t>
                          </m:r>
                        </m:sub>
                      </m:sSub>
                      <m:sSub>
                        <m:sSubPr>
                          <m:ctrlPr>
                            <a:rPr lang="es-ES" sz="2000" i="1" smtClean="0">
                              <a:latin typeface="Cambria Math" panose="02040503050406030204" pitchFamily="18" charset="0"/>
                              <a:ea typeface="Cambria Math" panose="02040503050406030204" pitchFamily="18" charset="0"/>
                            </a:rPr>
                          </m:ctrlPr>
                        </m:sSubPr>
                        <m:e>
                          <m:r>
                            <a:rPr lang="es-ES" sz="2000" i="1">
                              <a:latin typeface="Cambria Math" panose="02040503050406030204" pitchFamily="18" charset="0"/>
                            </a:rPr>
                            <m:t>𝑓</m:t>
                          </m:r>
                          <m:d>
                            <m:dPr>
                              <m:ctrlPr>
                                <a:rPr lang="es-ES" sz="2000" i="1">
                                  <a:latin typeface="Cambria Math" panose="02040503050406030204" pitchFamily="18" charset="0"/>
                                </a:rPr>
                              </m:ctrlPr>
                            </m:dPr>
                            <m:e>
                              <m:r>
                                <a:rPr lang="es-ES" sz="2000" i="1">
                                  <a:latin typeface="Cambria Math" panose="02040503050406030204" pitchFamily="18" charset="0"/>
                                </a:rPr>
                                <m:t>𝑥</m:t>
                              </m:r>
                            </m:e>
                          </m:d>
                          <m:r>
                            <a:rPr lang="es-ES" sz="2000" i="1">
                              <a:latin typeface="Cambria Math" panose="02040503050406030204" pitchFamily="18" charset="0"/>
                            </a:rPr>
                            <m:t>=</m:t>
                          </m:r>
                          <m:r>
                            <a:rPr lang="es-ES" sz="2000" b="0" i="1" smtClean="0">
                              <a:latin typeface="Cambria Math" panose="02040503050406030204" pitchFamily="18" charset="0"/>
                            </a:rPr>
                            <m:t>1</m:t>
                          </m:r>
                          <m:r>
                            <a:rPr lang="es-ES" sz="2000" i="1">
                              <a:latin typeface="Cambria Math" panose="02040503050406030204" pitchFamily="18" charset="0"/>
                              <a:ea typeface="Cambria Math" panose="02040503050406030204" pitchFamily="18" charset="0"/>
                            </a:rPr>
                            <m:t>−→</m:t>
                          </m:r>
                          <m:r>
                            <a:rPr lang="es-ES" sz="200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ea typeface="Cambria Math" panose="02040503050406030204" pitchFamily="18" charset="0"/>
                            </a:rPr>
                            <m:t>0</m:t>
                          </m:r>
                        </m:sub>
                      </m:sSub>
                    </m:oMath>
                  </m:oMathPara>
                </a14:m>
                <a:endParaRPr lang="es-ES_tradnl" sz="2000" dirty="0">
                  <a:latin typeface="Cambria Math" panose="02040503050406030204" pitchFamily="18" charset="0"/>
                  <a:ea typeface="Cambria Math" panose="02040503050406030204" pitchFamily="18" charset="0"/>
                </a:endParaRPr>
              </a:p>
            </p:txBody>
          </p:sp>
        </mc:Choice>
        <mc:Fallback>
          <p:sp>
            <p:nvSpPr>
              <p:cNvPr id="16" name="Rectángulo 15">
                <a:extLst>
                  <a:ext uri="{FF2B5EF4-FFF2-40B4-BE49-F238E27FC236}">
                    <a16:creationId xmlns:a16="http://schemas.microsoft.com/office/drawing/2014/main" id="{57C255B4-A2BF-4961-AB91-F20BB0369A6D}"/>
                  </a:ext>
                </a:extLst>
              </p:cNvPr>
              <p:cNvSpPr>
                <a:spLocks noRot="1" noChangeAspect="1" noMove="1" noResize="1" noEditPoints="1" noAdjustHandles="1" noChangeArrowheads="1" noChangeShapeType="1" noTextEdit="1"/>
              </p:cNvSpPr>
              <p:nvPr/>
            </p:nvSpPr>
            <p:spPr>
              <a:xfrm>
                <a:off x="685800" y="4242611"/>
                <a:ext cx="3253391" cy="1631216"/>
              </a:xfrm>
              <a:prstGeom prst="rect">
                <a:avLst/>
              </a:prstGeom>
              <a:blipFill>
                <a:blip r:embed="rId6"/>
                <a:stretch>
                  <a:fillRect b="-3358"/>
                </a:stretch>
              </a:blipFill>
            </p:spPr>
            <p:txBody>
              <a:bodyPr/>
              <a:lstStyle/>
              <a:p>
                <a:r>
                  <a:rPr lang="es-ES_tradnl">
                    <a:noFill/>
                  </a:rPr>
                  <a:t> </a:t>
                </a:r>
              </a:p>
            </p:txBody>
          </p:sp>
        </mc:Fallback>
      </mc:AlternateContent>
      <p:sp>
        <p:nvSpPr>
          <p:cNvPr id="5" name="Cerrar llave 4">
            <a:extLst>
              <a:ext uri="{FF2B5EF4-FFF2-40B4-BE49-F238E27FC236}">
                <a16:creationId xmlns:a16="http://schemas.microsoft.com/office/drawing/2014/main" id="{269D8551-9B8E-447C-97A2-EFC7BB819601}"/>
              </a:ext>
            </a:extLst>
          </p:cNvPr>
          <p:cNvSpPr/>
          <p:nvPr/>
        </p:nvSpPr>
        <p:spPr>
          <a:xfrm>
            <a:off x="3048000" y="1783440"/>
            <a:ext cx="152400" cy="14169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7" name="Cerrar llave 6">
            <a:extLst>
              <a:ext uri="{FF2B5EF4-FFF2-40B4-BE49-F238E27FC236}">
                <a16:creationId xmlns:a16="http://schemas.microsoft.com/office/drawing/2014/main" id="{FB9D065F-68E7-4132-88A3-774E4C55DFA2}"/>
              </a:ext>
            </a:extLst>
          </p:cNvPr>
          <p:cNvSpPr/>
          <p:nvPr/>
        </p:nvSpPr>
        <p:spPr>
          <a:xfrm>
            <a:off x="3939191" y="4343400"/>
            <a:ext cx="134010" cy="16312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8" name="Flecha: a la derecha 17">
            <a:extLst>
              <a:ext uri="{FF2B5EF4-FFF2-40B4-BE49-F238E27FC236}">
                <a16:creationId xmlns:a16="http://schemas.microsoft.com/office/drawing/2014/main" id="{8AA1E1C2-2B50-498C-AC55-B3A9F73022F3}"/>
              </a:ext>
            </a:extLst>
          </p:cNvPr>
          <p:cNvSpPr/>
          <p:nvPr/>
        </p:nvSpPr>
        <p:spPr>
          <a:xfrm>
            <a:off x="4360027" y="4916988"/>
            <a:ext cx="807719" cy="282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mc:AlternateContent xmlns:mc="http://schemas.openxmlformats.org/markup-compatibility/2006">
        <mc:Choice xmlns:a14="http://schemas.microsoft.com/office/drawing/2010/main" Requires="a14">
          <p:sp>
            <p:nvSpPr>
              <p:cNvPr id="17" name="Rectángulo 16">
                <a:extLst>
                  <a:ext uri="{FF2B5EF4-FFF2-40B4-BE49-F238E27FC236}">
                    <a16:creationId xmlns:a16="http://schemas.microsoft.com/office/drawing/2014/main" id="{B513A397-5BB8-4183-A86E-95057336EADB}"/>
                  </a:ext>
                </a:extLst>
              </p:cNvPr>
              <p:cNvSpPr/>
              <p:nvPr/>
            </p:nvSpPr>
            <p:spPr>
              <a:xfrm>
                <a:off x="5454572" y="4859838"/>
                <a:ext cx="46968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oMath>
                  </m:oMathPara>
                </a14:m>
                <a:endParaRPr lang="es-ES_tradnl" dirty="0"/>
              </a:p>
            </p:txBody>
          </p:sp>
        </mc:Choice>
        <mc:Fallback>
          <p:sp>
            <p:nvSpPr>
              <p:cNvPr id="17" name="Rectángulo 16">
                <a:extLst>
                  <a:ext uri="{FF2B5EF4-FFF2-40B4-BE49-F238E27FC236}">
                    <a16:creationId xmlns:a16="http://schemas.microsoft.com/office/drawing/2014/main" id="{B513A397-5BB8-4183-A86E-95057336EADB}"/>
                  </a:ext>
                </a:extLst>
              </p:cNvPr>
              <p:cNvSpPr>
                <a:spLocks noRot="1" noChangeAspect="1" noMove="1" noResize="1" noEditPoints="1" noAdjustHandles="1" noChangeArrowheads="1" noChangeShapeType="1" noTextEdit="1"/>
              </p:cNvSpPr>
              <p:nvPr/>
            </p:nvSpPr>
            <p:spPr>
              <a:xfrm>
                <a:off x="5454572" y="4859838"/>
                <a:ext cx="469680" cy="369332"/>
              </a:xfrm>
              <a:prstGeom prst="rect">
                <a:avLst/>
              </a:prstGeom>
              <a:blipFill>
                <a:blip r:embed="rId7"/>
                <a:stretch>
                  <a:fillRect b="-13115"/>
                </a:stretch>
              </a:blipFill>
            </p:spPr>
            <p:txBody>
              <a:bodyPr/>
              <a:lstStyle/>
              <a:p>
                <a:r>
                  <a:rPr lang="es-ES_tradnl">
                    <a:noFill/>
                  </a:rPr>
                  <a:t> </a:t>
                </a:r>
              </a:p>
            </p:txBody>
          </p:sp>
        </mc:Fallback>
      </mc:AlternateContent>
    </p:spTree>
    <p:extLst>
      <p:ext uri="{BB962C8B-B14F-4D97-AF65-F5344CB8AC3E}">
        <p14:creationId xmlns:p14="http://schemas.microsoft.com/office/powerpoint/2010/main" val="36131275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 Example 2</a:t>
            </a:r>
          </a:p>
        </p:txBody>
      </p:sp>
      <p:sp>
        <p:nvSpPr>
          <p:cNvPr id="9" name="Rectángulo 8">
            <a:extLst>
              <a:ext uri="{FF2B5EF4-FFF2-40B4-BE49-F238E27FC236}">
                <a16:creationId xmlns:a16="http://schemas.microsoft.com/office/drawing/2014/main" id="{C42A8CA9-1750-4090-ADE3-E907ABA519C2}"/>
              </a:ext>
            </a:extLst>
          </p:cNvPr>
          <p:cNvSpPr/>
          <p:nvPr/>
        </p:nvSpPr>
        <p:spPr>
          <a:xfrm>
            <a:off x="365310" y="1524282"/>
            <a:ext cx="7026090" cy="1200329"/>
          </a:xfrm>
          <a:prstGeom prst="rect">
            <a:avLst/>
          </a:prstGeom>
        </p:spPr>
        <p:txBody>
          <a:bodyPr wrap="square">
            <a:spAutoFit/>
          </a:bodyPr>
          <a:lstStyle/>
          <a:p>
            <a:pPr algn="just"/>
            <a:r>
              <a:rPr lang="es-ES" b="1" dirty="0" err="1"/>
              <a:t>Kernel</a:t>
            </a:r>
            <a:r>
              <a:rPr lang="es-ES" b="1" dirty="0"/>
              <a:t> </a:t>
            </a:r>
            <a:r>
              <a:rPr lang="es-ES" b="1" dirty="0" err="1"/>
              <a:t>Trick</a:t>
            </a:r>
            <a:r>
              <a:rPr lang="es-ES" b="1" dirty="0"/>
              <a:t>: </a:t>
            </a:r>
            <a:r>
              <a:rPr lang="es-ES" dirty="0" err="1"/>
              <a:t>Particularly</a:t>
            </a:r>
            <a:r>
              <a:rPr lang="es-ES" dirty="0"/>
              <a:t> </a:t>
            </a:r>
            <a:r>
              <a:rPr lang="es-ES" dirty="0" err="1"/>
              <a:t>useful</a:t>
            </a:r>
            <a:r>
              <a:rPr lang="es-ES" dirty="0"/>
              <a:t> </a:t>
            </a:r>
            <a:r>
              <a:rPr lang="es-ES" dirty="0" err="1"/>
              <a:t>to</a:t>
            </a:r>
            <a:r>
              <a:rPr lang="es-ES" dirty="0"/>
              <a:t> </a:t>
            </a:r>
            <a:r>
              <a:rPr lang="es-ES" dirty="0" err="1"/>
              <a:t>learn</a:t>
            </a:r>
            <a:r>
              <a:rPr lang="es-ES" dirty="0"/>
              <a:t> </a:t>
            </a:r>
            <a:r>
              <a:rPr lang="es-ES" dirty="0" err="1"/>
              <a:t>similarity</a:t>
            </a:r>
            <a:r>
              <a:rPr lang="es-ES" dirty="0"/>
              <a:t> data (</a:t>
            </a:r>
            <a:r>
              <a:rPr lang="es-ES" dirty="0" err="1"/>
              <a:t>text</a:t>
            </a:r>
            <a:r>
              <a:rPr lang="es-ES" dirty="0"/>
              <a:t>, molecular </a:t>
            </a:r>
            <a:r>
              <a:rPr lang="es-ES" dirty="0" err="1"/>
              <a:t>sequences</a:t>
            </a:r>
            <a:r>
              <a:rPr lang="es-ES" dirty="0"/>
              <a:t>, </a:t>
            </a:r>
            <a:r>
              <a:rPr lang="es-ES" dirty="0" err="1"/>
              <a:t>etc</a:t>
            </a:r>
            <a:r>
              <a:rPr lang="es-ES" dirty="0"/>
              <a:t>)</a:t>
            </a:r>
          </a:p>
          <a:p>
            <a:pPr algn="just"/>
            <a:endParaRPr lang="es-ES" b="1" dirty="0"/>
          </a:p>
          <a:p>
            <a:pPr algn="just"/>
            <a:r>
              <a:rPr lang="es-ES" dirty="0" err="1"/>
              <a:t>Consider</a:t>
            </a:r>
            <a:r>
              <a:rPr lang="es-ES" dirty="0"/>
              <a:t> </a:t>
            </a:r>
            <a:r>
              <a:rPr lang="es-ES" b="1" dirty="0"/>
              <a:t>Example2.py</a:t>
            </a:r>
            <a:endParaRPr lang="es-ES_tradnl" b="1" dirty="0"/>
          </a:p>
        </p:txBody>
      </p:sp>
    </p:spTree>
    <p:extLst>
      <p:ext uri="{BB962C8B-B14F-4D97-AF65-F5344CB8AC3E}">
        <p14:creationId xmlns:p14="http://schemas.microsoft.com/office/powerpoint/2010/main" val="134157346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 name="Rectángulo 3">
            <a:extLst>
              <a:ext uri="{FF2B5EF4-FFF2-40B4-BE49-F238E27FC236}">
                <a16:creationId xmlns:a16="http://schemas.microsoft.com/office/drawing/2014/main" id="{F846142D-AFE3-4ADD-B1EB-BE90F69D6BD5}"/>
              </a:ext>
            </a:extLst>
          </p:cNvPr>
          <p:cNvSpPr/>
          <p:nvPr/>
        </p:nvSpPr>
        <p:spPr>
          <a:xfrm>
            <a:off x="629228" y="1143000"/>
            <a:ext cx="7239000" cy="4265335"/>
          </a:xfrm>
          <a:prstGeom prst="rect">
            <a:avLst/>
          </a:prstGeom>
        </p:spPr>
        <p:txBody>
          <a:bodyPr wrap="square">
            <a:spAutoFit/>
          </a:bodyPr>
          <a:lstStyle/>
          <a:p>
            <a:pPr algn="just">
              <a:lnSpc>
                <a:spcPct val="107000"/>
              </a:lnSpc>
              <a:spcAft>
                <a:spcPts val="800"/>
              </a:spcAft>
            </a:pPr>
            <a:r>
              <a:rPr lang="en-US" b="1" dirty="0">
                <a:latin typeface="Calibri" panose="020F0502020204030204" pitchFamily="34" charset="0"/>
                <a:ea typeface="Calibri" panose="020F0502020204030204" pitchFamily="34" charset="0"/>
                <a:cs typeface="Arial" panose="020B0604020202020204" pitchFamily="34" charset="0"/>
              </a:rPr>
              <a:t>Exercise 3: </a:t>
            </a:r>
            <a:r>
              <a:rPr lang="en-US" dirty="0">
                <a:latin typeface="Calibri" panose="020F0502020204030204" pitchFamily="34" charset="0"/>
                <a:ea typeface="Calibri" panose="020F0502020204030204" pitchFamily="34" charset="0"/>
                <a:cs typeface="Arial" panose="020B0604020202020204" pitchFamily="34" charset="0"/>
              </a:rPr>
              <a:t>We have a CSV file where a list of words is provided with their corresponding labels: {V: ‘verb’; N:’Non-verb’}.</a:t>
            </a:r>
            <a:endParaRPr lang="es-ES_tradnl"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Bef>
                <a:spcPts val="600"/>
              </a:spcBef>
              <a:spcAft>
                <a:spcPts val="600"/>
              </a:spcAft>
              <a:buFont typeface="+mj-lt"/>
              <a:buAutoNum type="arabicPeriod"/>
            </a:pPr>
            <a:r>
              <a:rPr lang="en-US" dirty="0">
                <a:latin typeface="Calibri" panose="020F0502020204030204" pitchFamily="34" charset="0"/>
                <a:ea typeface="Calibri" panose="020F0502020204030204" pitchFamily="34" charset="0"/>
                <a:cs typeface="Arial" panose="020B0604020202020204" pitchFamily="34" charset="0"/>
              </a:rPr>
              <a:t>Assess the </a:t>
            </a:r>
            <a:r>
              <a:rPr lang="en-US" b="1" dirty="0">
                <a:latin typeface="Calibri" panose="020F0502020204030204" pitchFamily="34" charset="0"/>
                <a:ea typeface="Calibri" panose="020F0502020204030204" pitchFamily="34" charset="0"/>
                <a:cs typeface="Arial" panose="020B0604020202020204" pitchFamily="34" charset="0"/>
              </a:rPr>
              <a:t>Word2vec</a:t>
            </a:r>
            <a:r>
              <a:rPr lang="en-US" dirty="0">
                <a:latin typeface="Calibri" panose="020F0502020204030204" pitchFamily="34" charset="0"/>
                <a:ea typeface="Calibri" panose="020F0502020204030204" pitchFamily="34" charset="0"/>
                <a:cs typeface="Arial" panose="020B0604020202020204" pitchFamily="34" charset="0"/>
              </a:rPr>
              <a:t> function, implemented in the package </a:t>
            </a:r>
            <a:r>
              <a:rPr lang="en-US" i="1" dirty="0" err="1">
                <a:latin typeface="Calibri" panose="020F0502020204030204" pitchFamily="34" charset="0"/>
                <a:ea typeface="Calibri" panose="020F0502020204030204" pitchFamily="34" charset="0"/>
                <a:cs typeface="Arial" panose="020B0604020202020204" pitchFamily="34" charset="0"/>
              </a:rPr>
              <a:t>gensim</a:t>
            </a:r>
            <a:r>
              <a:rPr lang="en-US" i="1" dirty="0">
                <a:latin typeface="Calibri" panose="020F0502020204030204" pitchFamily="34" charset="0"/>
                <a:ea typeface="Calibri" panose="020F0502020204030204" pitchFamily="34" charset="0"/>
                <a:cs typeface="Arial" panose="020B0604020202020204" pitchFamily="34" charset="0"/>
              </a:rPr>
              <a:t> (https://radimrehurek.com/gensim/models/word2vec.html)</a:t>
            </a:r>
            <a:r>
              <a:rPr lang="en-US" dirty="0">
                <a:latin typeface="Calibri" panose="020F0502020204030204" pitchFamily="34" charset="0"/>
                <a:ea typeface="Calibri" panose="020F0502020204030204" pitchFamily="34" charset="0"/>
                <a:cs typeface="Arial" panose="020B0604020202020204" pitchFamily="34" charset="0"/>
              </a:rPr>
              <a:t>, which takes a text corpus as input and produces the word vectors as output. It was developed by the Google team: https://code.google.com/archive/p/word2vec/. The original paper is attached in the folder.</a:t>
            </a:r>
            <a:endParaRPr lang="es-ES_tradnl"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Bef>
                <a:spcPts val="600"/>
              </a:spcBef>
              <a:spcAft>
                <a:spcPts val="600"/>
              </a:spcAft>
              <a:buFont typeface="+mj-lt"/>
              <a:buAutoNum type="arabicPeriod"/>
            </a:pPr>
            <a:r>
              <a:rPr lang="en-US" dirty="0">
                <a:latin typeface="Calibri" panose="020F0502020204030204" pitchFamily="34" charset="0"/>
                <a:ea typeface="Calibri" panose="020F0502020204030204" pitchFamily="34" charset="0"/>
                <a:cs typeface="Arial" panose="020B0604020202020204" pitchFamily="34" charset="0"/>
              </a:rPr>
              <a:t>In the Python script provided in the folder (</a:t>
            </a:r>
            <a:r>
              <a:rPr lang="en-US" b="1" i="1" dirty="0">
                <a:latin typeface="Calibri" panose="020F0502020204030204" pitchFamily="34" charset="0"/>
                <a:ea typeface="Calibri" panose="020F0502020204030204" pitchFamily="34" charset="0"/>
                <a:cs typeface="Arial" panose="020B0604020202020204" pitchFamily="34" charset="0"/>
              </a:rPr>
              <a:t>Exercise3.py</a:t>
            </a:r>
            <a:r>
              <a:rPr lang="en-US" dirty="0">
                <a:latin typeface="Calibri" panose="020F0502020204030204" pitchFamily="34" charset="0"/>
                <a:ea typeface="Calibri" panose="020F0502020204030204" pitchFamily="34" charset="0"/>
                <a:cs typeface="Arial" panose="020B0604020202020204" pitchFamily="34" charset="0"/>
              </a:rPr>
              <a:t>), you have an example Word2vec model and precomputed word vectors taken from the downloader API of </a:t>
            </a:r>
            <a:r>
              <a:rPr lang="en-US" i="1" dirty="0" err="1">
                <a:latin typeface="Calibri" panose="020F0502020204030204" pitchFamily="34" charset="0"/>
                <a:ea typeface="Calibri" panose="020F0502020204030204" pitchFamily="34" charset="0"/>
                <a:cs typeface="Arial" panose="020B0604020202020204" pitchFamily="34" charset="0"/>
              </a:rPr>
              <a:t>gensim</a:t>
            </a:r>
            <a:r>
              <a:rPr lang="en-US" dirty="0">
                <a:latin typeface="Calibri" panose="020F0502020204030204" pitchFamily="34" charset="0"/>
                <a:ea typeface="Calibri" panose="020F0502020204030204" pitchFamily="34" charset="0"/>
                <a:cs typeface="Arial" panose="020B0604020202020204" pitchFamily="34" charset="0"/>
              </a:rPr>
              <a:t> (</a:t>
            </a:r>
            <a:r>
              <a:rPr lang="en-US" u="sng" dirty="0">
                <a:solidFill>
                  <a:srgbClr val="0563C1"/>
                </a:solidFill>
                <a:latin typeface="Calibri" panose="020F0502020204030204" pitchFamily="34" charset="0"/>
                <a:ea typeface="Calibri" panose="020F0502020204030204" pitchFamily="34" charset="0"/>
                <a:cs typeface="Arial" panose="020B0604020202020204" pitchFamily="34" charset="0"/>
                <a:hlinkClick r:id="rId3"/>
              </a:rPr>
              <a:t>https://github.com/piskvorky/gensim-data</a:t>
            </a:r>
            <a:r>
              <a:rPr lang="en-US" dirty="0">
                <a:latin typeface="Calibri" panose="020F0502020204030204" pitchFamily="34" charset="0"/>
                <a:ea typeface="Calibri" panose="020F0502020204030204" pitchFamily="34" charset="0"/>
                <a:cs typeface="Arial" panose="020B0604020202020204" pitchFamily="34" charset="0"/>
              </a:rPr>
              <a:t>), particularly obtained from Google news (‘</a:t>
            </a:r>
            <a:r>
              <a:rPr lang="en-US" i="1" dirty="0">
                <a:latin typeface="Calibri" panose="020F0502020204030204" pitchFamily="34" charset="0"/>
                <a:ea typeface="Calibri" panose="020F0502020204030204" pitchFamily="34" charset="0"/>
                <a:cs typeface="Arial" panose="020B0604020202020204" pitchFamily="34" charset="0"/>
              </a:rPr>
              <a:t>word2vec-google-news-300’</a:t>
            </a:r>
            <a:r>
              <a:rPr lang="en-US" dirty="0">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54812282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Support Vector Machines</a:t>
            </a:r>
          </a:p>
        </p:txBody>
      </p:sp>
      <p:sp>
        <p:nvSpPr>
          <p:cNvPr id="4" name="Rectángulo 3">
            <a:extLst>
              <a:ext uri="{FF2B5EF4-FFF2-40B4-BE49-F238E27FC236}">
                <a16:creationId xmlns:a16="http://schemas.microsoft.com/office/drawing/2014/main" id="{F846142D-AFE3-4ADD-B1EB-BE90F69D6BD5}"/>
              </a:ext>
            </a:extLst>
          </p:cNvPr>
          <p:cNvSpPr/>
          <p:nvPr/>
        </p:nvSpPr>
        <p:spPr>
          <a:xfrm>
            <a:off x="629228" y="1143000"/>
            <a:ext cx="7239000" cy="2487156"/>
          </a:xfrm>
          <a:prstGeom prst="rect">
            <a:avLst/>
          </a:prstGeom>
        </p:spPr>
        <p:txBody>
          <a:bodyPr wrap="square">
            <a:spAutoFit/>
          </a:bodyPr>
          <a:lstStyle/>
          <a:p>
            <a:pPr algn="just">
              <a:lnSpc>
                <a:spcPct val="107000"/>
              </a:lnSpc>
              <a:spcAft>
                <a:spcPts val="800"/>
              </a:spcAft>
            </a:pPr>
            <a:r>
              <a:rPr lang="en-US" b="1" dirty="0">
                <a:latin typeface="Calibri" panose="020F0502020204030204" pitchFamily="34" charset="0"/>
                <a:ea typeface="Calibri" panose="020F0502020204030204" pitchFamily="34" charset="0"/>
                <a:cs typeface="Arial" panose="020B0604020202020204" pitchFamily="34" charset="0"/>
              </a:rPr>
              <a:t>Exercise 3: </a:t>
            </a:r>
            <a:r>
              <a:rPr lang="en-US" dirty="0">
                <a:latin typeface="Calibri" panose="020F0502020204030204" pitchFamily="34" charset="0"/>
                <a:ea typeface="Calibri" panose="020F0502020204030204" pitchFamily="34" charset="0"/>
                <a:cs typeface="Arial" panose="020B0604020202020204" pitchFamily="34" charset="0"/>
              </a:rPr>
              <a:t>We have a CSV file where a list of words is provided with their corresponding labels: {V: ‘verb’; N:’Non-verb’}.</a:t>
            </a:r>
            <a:endParaRPr lang="es-ES_tradnl" dirty="0">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Bef>
                <a:spcPts val="600"/>
              </a:spcBef>
              <a:spcAft>
                <a:spcPts val="600"/>
              </a:spcAft>
              <a:buFont typeface="+mj-lt"/>
              <a:buAutoNum type="arabicPeriod" startAt="3"/>
            </a:pPr>
            <a:r>
              <a:rPr lang="en-US" dirty="0">
                <a:latin typeface="Calibri" panose="020F0502020204030204" pitchFamily="34" charset="0"/>
                <a:ea typeface="Calibri" panose="020F0502020204030204" pitchFamily="34" charset="0"/>
                <a:cs typeface="Arial" panose="020B0604020202020204" pitchFamily="34" charset="0"/>
              </a:rPr>
              <a:t>Identify common words between the word2vec model and words included in the </a:t>
            </a:r>
            <a:r>
              <a:rPr lang="en-US" b="1" i="1" dirty="0">
                <a:latin typeface="Calibri" panose="020F0502020204030204" pitchFamily="34" charset="0"/>
                <a:ea typeface="Calibri" panose="020F0502020204030204" pitchFamily="34" charset="0"/>
                <a:cs typeface="Arial" panose="020B0604020202020204" pitchFamily="34" charset="0"/>
              </a:rPr>
              <a:t>words_data.csv</a:t>
            </a:r>
            <a:r>
              <a:rPr lang="en-US" dirty="0">
                <a:latin typeface="Calibri" panose="020F0502020204030204" pitchFamily="34" charset="0"/>
                <a:ea typeface="Calibri" panose="020F0502020204030204" pitchFamily="34" charset="0"/>
                <a:cs typeface="Arial" panose="020B0604020202020204" pitchFamily="34" charset="0"/>
              </a:rPr>
              <a:t> in folder data. </a:t>
            </a:r>
          </a:p>
          <a:p>
            <a:pPr marL="342900" indent="-342900" algn="just">
              <a:lnSpc>
                <a:spcPct val="107000"/>
              </a:lnSpc>
              <a:spcBef>
                <a:spcPts val="600"/>
              </a:spcBef>
              <a:spcAft>
                <a:spcPts val="600"/>
              </a:spcAft>
              <a:buFont typeface="+mj-lt"/>
              <a:buAutoNum type="arabicPeriod" startAt="3"/>
            </a:pPr>
            <a:r>
              <a:rPr lang="en-US" dirty="0"/>
              <a:t>Apply Support Vector Machines with different kernels to predict whether common words are verbs or not. Use 80% for training (5-fold cross-validation) and 20% for testing.  </a:t>
            </a:r>
            <a:endParaRPr lang="es-ES_tradnl" dirty="0"/>
          </a:p>
        </p:txBody>
      </p:sp>
    </p:spTree>
    <p:extLst>
      <p:ext uri="{BB962C8B-B14F-4D97-AF65-F5344CB8AC3E}">
        <p14:creationId xmlns:p14="http://schemas.microsoft.com/office/powerpoint/2010/main" val="230891008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276600"/>
            <a:ext cx="6858000" cy="1219200"/>
          </a:xfrm>
        </p:spPr>
        <p:txBody>
          <a:bodyPr/>
          <a:lstStyle/>
          <a:p>
            <a:r>
              <a:rPr lang="en-US" dirty="0"/>
              <a:t>Supervised Learning - SVM</a:t>
            </a:r>
          </a:p>
        </p:txBody>
      </p:sp>
      <p:sp>
        <p:nvSpPr>
          <p:cNvPr id="3" name="Subtitle 2"/>
          <p:cNvSpPr>
            <a:spLocks noGrp="1"/>
          </p:cNvSpPr>
          <p:nvPr>
            <p:ph type="subTitle" idx="1"/>
          </p:nvPr>
        </p:nvSpPr>
        <p:spPr/>
        <p:txBody>
          <a:bodyPr/>
          <a:lstStyle/>
          <a:p>
            <a:r>
              <a:rPr lang="es-ES" dirty="0"/>
              <a:t>17/10/2024</a:t>
            </a:r>
          </a:p>
        </p:txBody>
      </p:sp>
      <p:sp>
        <p:nvSpPr>
          <p:cNvPr id="8" name="TextBox 4"/>
          <p:cNvSpPr txBox="1"/>
          <p:nvPr/>
        </p:nvSpPr>
        <p:spPr>
          <a:xfrm>
            <a:off x="152400" y="2819400"/>
            <a:ext cx="4267200" cy="338554"/>
          </a:xfrm>
          <a:prstGeom prst="rect">
            <a:avLst/>
          </a:prstGeom>
          <a:noFill/>
        </p:spPr>
        <p:txBody>
          <a:bodyPr wrap="square" rtlCol="0">
            <a:spAutoFit/>
          </a:bodyPr>
          <a:lstStyle/>
          <a:p>
            <a:r>
              <a:rPr lang="en-US" sz="1600" b="1" dirty="0">
                <a:solidFill>
                  <a:schemeClr val="bg1">
                    <a:lumMod val="85000"/>
                  </a:schemeClr>
                </a:solidFill>
              </a:rPr>
              <a:t>Machine Learning</a:t>
            </a:r>
          </a:p>
        </p:txBody>
      </p:sp>
      <p:sp>
        <p:nvSpPr>
          <p:cNvPr id="10" name="TextBox 4"/>
          <p:cNvSpPr txBox="1"/>
          <p:nvPr/>
        </p:nvSpPr>
        <p:spPr>
          <a:xfrm>
            <a:off x="152400" y="3817203"/>
            <a:ext cx="4267200" cy="338554"/>
          </a:xfrm>
          <a:prstGeom prst="rect">
            <a:avLst/>
          </a:prstGeom>
          <a:noFill/>
        </p:spPr>
        <p:txBody>
          <a:bodyPr wrap="square" rtlCol="0">
            <a:spAutoFit/>
          </a:bodyPr>
          <a:lstStyle/>
          <a:p>
            <a:r>
              <a:rPr lang="en-US" sz="1600" b="1" dirty="0">
                <a:solidFill>
                  <a:schemeClr val="bg1">
                    <a:lumMod val="85000"/>
                  </a:schemeClr>
                </a:solidFill>
              </a:rPr>
              <a:t>F.J. Planes       	fplanes@tecnun.es </a:t>
            </a:r>
          </a:p>
        </p:txBody>
      </p:sp>
    </p:spTree>
    <p:extLst>
      <p:ext uri="{BB962C8B-B14F-4D97-AF65-F5344CB8AC3E}">
        <p14:creationId xmlns:p14="http://schemas.microsoft.com/office/powerpoint/2010/main" val="3623328571"/>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15735</TotalTime>
  <Words>1773</Words>
  <Application>Microsoft Office PowerPoint</Application>
  <PresentationFormat>Presentación en pantalla (4:3)</PresentationFormat>
  <Paragraphs>330</Paragraphs>
  <Slides>37</Slides>
  <Notes>37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37</vt:i4>
      </vt:variant>
    </vt:vector>
  </HeadingPairs>
  <TitlesOfParts>
    <vt:vector size="43" baseType="lpstr">
      <vt:lpstr>Arial</vt:lpstr>
      <vt:lpstr>Calibri</vt:lpstr>
      <vt:lpstr>Cambria Math</vt:lpstr>
      <vt:lpstr>Merriweather</vt:lpstr>
      <vt:lpstr>Times New Roman</vt:lpstr>
      <vt:lpstr>Office Theme</vt:lpstr>
      <vt:lpstr>Supervised Learning - SVM</vt:lpstr>
      <vt:lpstr>Introduction</vt:lpstr>
      <vt:lpstr>Introduction</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Optimal Separating Hyperplanes</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Suppor Vector Machines. Example</vt:lpstr>
      <vt:lpstr>Support Vector Machines. Example</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Support Vector Machines. Example 2</vt:lpstr>
      <vt:lpstr>Support Vector Machines</vt:lpstr>
      <vt:lpstr>Support Vector Machines</vt:lpstr>
      <vt:lpstr>Supervised Learning - SVM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amuniategui</dc:creator>
  <cp:lastModifiedBy>Francisco Javier Planes Pedreno</cp:lastModifiedBy>
  <cp:revision>541</cp:revision>
  <dcterms:created xsi:type="dcterms:W3CDTF">2012-07-03T10:25:47Z</dcterms:created>
  <dcterms:modified xsi:type="dcterms:W3CDTF">2024-10-18T16:44:07Z</dcterms:modified>
</cp:coreProperties>
</file>