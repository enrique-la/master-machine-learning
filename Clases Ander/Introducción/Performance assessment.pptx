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23BAC0-0EFB-426B-A9BE-D63CC448E481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6817B-8166-4A6F-A860-7186E3AB91E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478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s-ES" sz="1200" dirty="0"/>
              <a:t>Used in machine learning applications to assess classifiers</a:t>
            </a:r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s-ES"/>
              <a:t>CAF</a:t>
            </a:r>
          </a:p>
        </p:txBody>
      </p:sp>
    </p:spTree>
    <p:extLst>
      <p:ext uri="{BB962C8B-B14F-4D97-AF65-F5344CB8AC3E}">
        <p14:creationId xmlns:p14="http://schemas.microsoft.com/office/powerpoint/2010/main" val="2185472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23F7C-2A49-477B-BECB-2B1E26B76FDF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37E3-BB8D-4610-AACE-D84711EA7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3937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23F7C-2A49-477B-BECB-2B1E26B76FDF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37E3-BB8D-4610-AACE-D84711EA7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9656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23F7C-2A49-477B-BECB-2B1E26B76FDF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37E3-BB8D-4610-AACE-D84711EA7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5608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23F7C-2A49-477B-BECB-2B1E26B76FDF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37E3-BB8D-4610-AACE-D84711EA7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796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23F7C-2A49-477B-BECB-2B1E26B76FDF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37E3-BB8D-4610-AACE-D84711EA7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2012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23F7C-2A49-477B-BECB-2B1E26B76FDF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37E3-BB8D-4610-AACE-D84711EA7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6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23F7C-2A49-477B-BECB-2B1E26B76FDF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37E3-BB8D-4610-AACE-D84711EA7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232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23F7C-2A49-477B-BECB-2B1E26B76FDF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37E3-BB8D-4610-AACE-D84711EA7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814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23F7C-2A49-477B-BECB-2B1E26B76FDF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37E3-BB8D-4610-AACE-D84711EA7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9444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23F7C-2A49-477B-BECB-2B1E26B76FDF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37E3-BB8D-4610-AACE-D84711EA7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0232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23F7C-2A49-477B-BECB-2B1E26B76FDF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37E3-BB8D-4610-AACE-D84711EA7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126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CBM cuerp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8 Grupo"/>
          <p:cNvGrpSpPr/>
          <p:nvPr/>
        </p:nvGrpSpPr>
        <p:grpSpPr>
          <a:xfrm>
            <a:off x="-30925" y="162110"/>
            <a:ext cx="12246445" cy="1268819"/>
            <a:chOff x="-27112" y="179909"/>
            <a:chExt cx="10736370" cy="1399225"/>
          </a:xfrm>
        </p:grpSpPr>
        <p:sp>
          <p:nvSpPr>
            <p:cNvPr id="11" name="Rectángulo 4"/>
            <p:cNvSpPr>
              <a:spLocks/>
            </p:cNvSpPr>
            <p:nvPr/>
          </p:nvSpPr>
          <p:spPr>
            <a:xfrm>
              <a:off x="4397070" y="179909"/>
              <a:ext cx="6312188" cy="1399225"/>
            </a:xfrm>
            <a:custGeom>
              <a:avLst/>
              <a:gdLst>
                <a:gd name="connsiteX0" fmla="*/ 0 w 6593076"/>
                <a:gd name="connsiteY0" fmla="*/ 0 h 1452618"/>
                <a:gd name="connsiteX1" fmla="*/ 6593076 w 6593076"/>
                <a:gd name="connsiteY1" fmla="*/ 0 h 1452618"/>
                <a:gd name="connsiteX2" fmla="*/ 6593076 w 6593076"/>
                <a:gd name="connsiteY2" fmla="*/ 1452618 h 1452618"/>
                <a:gd name="connsiteX3" fmla="*/ 0 w 6593076"/>
                <a:gd name="connsiteY3" fmla="*/ 1452618 h 1452618"/>
                <a:gd name="connsiteX4" fmla="*/ 0 w 6593076"/>
                <a:gd name="connsiteY4" fmla="*/ 0 h 1452618"/>
                <a:gd name="connsiteX0" fmla="*/ 0 w 6593076"/>
                <a:gd name="connsiteY0" fmla="*/ 0 h 1452618"/>
                <a:gd name="connsiteX1" fmla="*/ 6593076 w 6593076"/>
                <a:gd name="connsiteY1" fmla="*/ 0 h 1452618"/>
                <a:gd name="connsiteX2" fmla="*/ 5596431 w 6593076"/>
                <a:gd name="connsiteY2" fmla="*/ 1443799 h 1452618"/>
                <a:gd name="connsiteX3" fmla="*/ 0 w 6593076"/>
                <a:gd name="connsiteY3" fmla="*/ 1452618 h 1452618"/>
                <a:gd name="connsiteX4" fmla="*/ 0 w 6593076"/>
                <a:gd name="connsiteY4" fmla="*/ 0 h 1452618"/>
                <a:gd name="connsiteX0" fmla="*/ 0 w 6593076"/>
                <a:gd name="connsiteY0" fmla="*/ 0 h 1467523"/>
                <a:gd name="connsiteX1" fmla="*/ 6593076 w 6593076"/>
                <a:gd name="connsiteY1" fmla="*/ 0 h 1467523"/>
                <a:gd name="connsiteX2" fmla="*/ 5903334 w 6593076"/>
                <a:gd name="connsiteY2" fmla="*/ 1467523 h 1467523"/>
                <a:gd name="connsiteX3" fmla="*/ 0 w 6593076"/>
                <a:gd name="connsiteY3" fmla="*/ 1452618 h 1467523"/>
                <a:gd name="connsiteX4" fmla="*/ 0 w 6593076"/>
                <a:gd name="connsiteY4" fmla="*/ 0 h 1467523"/>
                <a:gd name="connsiteX0" fmla="*/ 0 w 7858336"/>
                <a:gd name="connsiteY0" fmla="*/ 0 h 1467523"/>
                <a:gd name="connsiteX1" fmla="*/ 6593076 w 7858336"/>
                <a:gd name="connsiteY1" fmla="*/ 0 h 1467523"/>
                <a:gd name="connsiteX2" fmla="*/ 5903334 w 7858336"/>
                <a:gd name="connsiteY2" fmla="*/ 1467523 h 1467523"/>
                <a:gd name="connsiteX3" fmla="*/ 7858336 w 7858336"/>
                <a:gd name="connsiteY3" fmla="*/ 1464479 h 1467523"/>
                <a:gd name="connsiteX4" fmla="*/ 0 w 7858336"/>
                <a:gd name="connsiteY4" fmla="*/ 0 h 1467523"/>
                <a:gd name="connsiteX0" fmla="*/ 1955002 w 1955002"/>
                <a:gd name="connsiteY0" fmla="*/ 0 h 1467523"/>
                <a:gd name="connsiteX1" fmla="*/ 689742 w 1955002"/>
                <a:gd name="connsiteY1" fmla="*/ 0 h 1467523"/>
                <a:gd name="connsiteX2" fmla="*/ 0 w 1955002"/>
                <a:gd name="connsiteY2" fmla="*/ 1467523 h 1467523"/>
                <a:gd name="connsiteX3" fmla="*/ 1955002 w 1955002"/>
                <a:gd name="connsiteY3" fmla="*/ 1464479 h 1467523"/>
                <a:gd name="connsiteX4" fmla="*/ 1955002 w 1955002"/>
                <a:gd name="connsiteY4" fmla="*/ 0 h 1467523"/>
                <a:gd name="connsiteX0" fmla="*/ 1955002 w 2563451"/>
                <a:gd name="connsiteY0" fmla="*/ 0 h 1467523"/>
                <a:gd name="connsiteX1" fmla="*/ 689742 w 2563451"/>
                <a:gd name="connsiteY1" fmla="*/ 0 h 1467523"/>
                <a:gd name="connsiteX2" fmla="*/ 0 w 2563451"/>
                <a:gd name="connsiteY2" fmla="*/ 1467523 h 1467523"/>
                <a:gd name="connsiteX3" fmla="*/ 2563451 w 2563451"/>
                <a:gd name="connsiteY3" fmla="*/ 1464478 h 1467523"/>
                <a:gd name="connsiteX4" fmla="*/ 1955002 w 2563451"/>
                <a:gd name="connsiteY4" fmla="*/ 0 h 1467523"/>
                <a:gd name="connsiteX0" fmla="*/ 2563451 w 2563451"/>
                <a:gd name="connsiteY0" fmla="*/ 20543 h 1467523"/>
                <a:gd name="connsiteX1" fmla="*/ 689742 w 2563451"/>
                <a:gd name="connsiteY1" fmla="*/ 0 h 1467523"/>
                <a:gd name="connsiteX2" fmla="*/ 0 w 2563451"/>
                <a:gd name="connsiteY2" fmla="*/ 1467523 h 1467523"/>
                <a:gd name="connsiteX3" fmla="*/ 2563451 w 2563451"/>
                <a:gd name="connsiteY3" fmla="*/ 1464478 h 1467523"/>
                <a:gd name="connsiteX4" fmla="*/ 2563451 w 2563451"/>
                <a:gd name="connsiteY4" fmla="*/ 20543 h 1467523"/>
                <a:gd name="connsiteX0" fmla="*/ 2563451 w 2563451"/>
                <a:gd name="connsiteY0" fmla="*/ 0 h 1477794"/>
                <a:gd name="connsiteX1" fmla="*/ 689742 w 2563451"/>
                <a:gd name="connsiteY1" fmla="*/ 10271 h 1477794"/>
                <a:gd name="connsiteX2" fmla="*/ 0 w 2563451"/>
                <a:gd name="connsiteY2" fmla="*/ 1477794 h 1477794"/>
                <a:gd name="connsiteX3" fmla="*/ 2563451 w 2563451"/>
                <a:gd name="connsiteY3" fmla="*/ 1474749 h 1477794"/>
                <a:gd name="connsiteX4" fmla="*/ 2563451 w 2563451"/>
                <a:gd name="connsiteY4" fmla="*/ 0 h 1477794"/>
                <a:gd name="connsiteX0" fmla="*/ 2563451 w 2563451"/>
                <a:gd name="connsiteY0" fmla="*/ 10711 h 1488505"/>
                <a:gd name="connsiteX1" fmla="*/ 420381 w 2563451"/>
                <a:gd name="connsiteY1" fmla="*/ 0 h 1488505"/>
                <a:gd name="connsiteX2" fmla="*/ 0 w 2563451"/>
                <a:gd name="connsiteY2" fmla="*/ 1488505 h 1488505"/>
                <a:gd name="connsiteX3" fmla="*/ 2563451 w 2563451"/>
                <a:gd name="connsiteY3" fmla="*/ 1485460 h 1488505"/>
                <a:gd name="connsiteX4" fmla="*/ 2563451 w 2563451"/>
                <a:gd name="connsiteY4" fmla="*/ 10711 h 1488505"/>
                <a:gd name="connsiteX0" fmla="*/ 2563451 w 2563451"/>
                <a:gd name="connsiteY0" fmla="*/ 219 h 1478013"/>
                <a:gd name="connsiteX1" fmla="*/ 403279 w 2563451"/>
                <a:gd name="connsiteY1" fmla="*/ 0 h 1478013"/>
                <a:gd name="connsiteX2" fmla="*/ 0 w 2563451"/>
                <a:gd name="connsiteY2" fmla="*/ 1478013 h 1478013"/>
                <a:gd name="connsiteX3" fmla="*/ 2563451 w 2563451"/>
                <a:gd name="connsiteY3" fmla="*/ 1474968 h 1478013"/>
                <a:gd name="connsiteX4" fmla="*/ 2563451 w 2563451"/>
                <a:gd name="connsiteY4" fmla="*/ 219 h 1478013"/>
                <a:gd name="connsiteX0" fmla="*/ 2563451 w 2563451"/>
                <a:gd name="connsiteY0" fmla="*/ 0 h 1477794"/>
                <a:gd name="connsiteX1" fmla="*/ 411830 w 2563451"/>
                <a:gd name="connsiteY1" fmla="*/ 10273 h 1477794"/>
                <a:gd name="connsiteX2" fmla="*/ 0 w 2563451"/>
                <a:gd name="connsiteY2" fmla="*/ 1477794 h 1477794"/>
                <a:gd name="connsiteX3" fmla="*/ 2563451 w 2563451"/>
                <a:gd name="connsiteY3" fmla="*/ 1474749 h 1477794"/>
                <a:gd name="connsiteX4" fmla="*/ 2563451 w 2563451"/>
                <a:gd name="connsiteY4" fmla="*/ 0 h 147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3451" h="1477794">
                  <a:moveTo>
                    <a:pt x="2563451" y="0"/>
                  </a:moveTo>
                  <a:lnTo>
                    <a:pt x="411830" y="10273"/>
                  </a:lnTo>
                  <a:lnTo>
                    <a:pt x="0" y="1477794"/>
                  </a:lnTo>
                  <a:lnTo>
                    <a:pt x="2563451" y="1474749"/>
                  </a:lnTo>
                  <a:lnTo>
                    <a:pt x="2563451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505150">
                    <a:alpha val="30000"/>
                  </a:srgbClr>
                </a:gs>
                <a:gs pos="0">
                  <a:srgbClr val="FFFFFF"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04287" tIns="52144" rIns="104287" bIns="52144"/>
            <a:lstStyle/>
            <a:p>
              <a:r>
                <a:rPr lang="es-ES" sz="1905" dirty="0"/>
                <a:t>  </a:t>
              </a:r>
            </a:p>
          </p:txBody>
        </p:sp>
        <p:sp>
          <p:nvSpPr>
            <p:cNvPr id="12" name="Rectángulo 4"/>
            <p:cNvSpPr/>
            <p:nvPr/>
          </p:nvSpPr>
          <p:spPr>
            <a:xfrm>
              <a:off x="-27112" y="184887"/>
              <a:ext cx="7581475" cy="1203700"/>
            </a:xfrm>
            <a:custGeom>
              <a:avLst/>
              <a:gdLst>
                <a:gd name="connsiteX0" fmla="*/ 0 w 6593076"/>
                <a:gd name="connsiteY0" fmla="*/ 0 h 1452618"/>
                <a:gd name="connsiteX1" fmla="*/ 6593076 w 6593076"/>
                <a:gd name="connsiteY1" fmla="*/ 0 h 1452618"/>
                <a:gd name="connsiteX2" fmla="*/ 6593076 w 6593076"/>
                <a:gd name="connsiteY2" fmla="*/ 1452618 h 1452618"/>
                <a:gd name="connsiteX3" fmla="*/ 0 w 6593076"/>
                <a:gd name="connsiteY3" fmla="*/ 1452618 h 1452618"/>
                <a:gd name="connsiteX4" fmla="*/ 0 w 6593076"/>
                <a:gd name="connsiteY4" fmla="*/ 0 h 1452618"/>
                <a:gd name="connsiteX0" fmla="*/ 0 w 6593076"/>
                <a:gd name="connsiteY0" fmla="*/ 0 h 1452618"/>
                <a:gd name="connsiteX1" fmla="*/ 6593076 w 6593076"/>
                <a:gd name="connsiteY1" fmla="*/ 0 h 1452618"/>
                <a:gd name="connsiteX2" fmla="*/ 5596431 w 6593076"/>
                <a:gd name="connsiteY2" fmla="*/ 1443799 h 1452618"/>
                <a:gd name="connsiteX3" fmla="*/ 0 w 6593076"/>
                <a:gd name="connsiteY3" fmla="*/ 1452618 h 1452618"/>
                <a:gd name="connsiteX4" fmla="*/ 0 w 6593076"/>
                <a:gd name="connsiteY4" fmla="*/ 0 h 1452618"/>
                <a:gd name="connsiteX0" fmla="*/ 0 w 6593076"/>
                <a:gd name="connsiteY0" fmla="*/ 0 h 1467523"/>
                <a:gd name="connsiteX1" fmla="*/ 6593076 w 6593076"/>
                <a:gd name="connsiteY1" fmla="*/ 0 h 1467523"/>
                <a:gd name="connsiteX2" fmla="*/ 5903334 w 6593076"/>
                <a:gd name="connsiteY2" fmla="*/ 1467523 h 1467523"/>
                <a:gd name="connsiteX3" fmla="*/ 0 w 6593076"/>
                <a:gd name="connsiteY3" fmla="*/ 1452618 h 1467523"/>
                <a:gd name="connsiteX4" fmla="*/ 0 w 6593076"/>
                <a:gd name="connsiteY4" fmla="*/ 0 h 1467523"/>
                <a:gd name="connsiteX0" fmla="*/ 0 w 6593076"/>
                <a:gd name="connsiteY0" fmla="*/ 0 h 1468107"/>
                <a:gd name="connsiteX1" fmla="*/ 6593076 w 6593076"/>
                <a:gd name="connsiteY1" fmla="*/ 0 h 1468107"/>
                <a:gd name="connsiteX2" fmla="*/ 5903334 w 6593076"/>
                <a:gd name="connsiteY2" fmla="*/ 1467523 h 1468107"/>
                <a:gd name="connsiteX3" fmla="*/ 1202907 w 6593076"/>
                <a:gd name="connsiteY3" fmla="*/ 1468107 h 1468107"/>
                <a:gd name="connsiteX4" fmla="*/ 0 w 6593076"/>
                <a:gd name="connsiteY4" fmla="*/ 0 h 1468107"/>
                <a:gd name="connsiteX0" fmla="*/ 0 w 5399213"/>
                <a:gd name="connsiteY0" fmla="*/ 0 h 1468107"/>
                <a:gd name="connsiteX1" fmla="*/ 5399213 w 5399213"/>
                <a:gd name="connsiteY1" fmla="*/ 0 h 1468107"/>
                <a:gd name="connsiteX2" fmla="*/ 4709471 w 5399213"/>
                <a:gd name="connsiteY2" fmla="*/ 1467523 h 1468107"/>
                <a:gd name="connsiteX3" fmla="*/ 9044 w 5399213"/>
                <a:gd name="connsiteY3" fmla="*/ 1468107 h 1468107"/>
                <a:gd name="connsiteX4" fmla="*/ 0 w 5399213"/>
                <a:gd name="connsiteY4" fmla="*/ 0 h 1468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9213" h="1468107">
                  <a:moveTo>
                    <a:pt x="0" y="0"/>
                  </a:moveTo>
                  <a:lnTo>
                    <a:pt x="5399213" y="0"/>
                  </a:lnTo>
                  <a:lnTo>
                    <a:pt x="4709471" y="1467523"/>
                  </a:lnTo>
                  <a:lnTo>
                    <a:pt x="9044" y="1468107"/>
                  </a:lnTo>
                  <a:cubicBezTo>
                    <a:pt x="6029" y="978738"/>
                    <a:pt x="3015" y="489369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F0F1E"/>
                </a:gs>
                <a:gs pos="60000">
                  <a:srgbClr val="C10C20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04287" tIns="52144" rIns="104287" bIns="52144"/>
            <a:lstStyle/>
            <a:p>
              <a:endParaRPr lang="es-ES" sz="1905"/>
            </a:p>
          </p:txBody>
        </p:sp>
      </p:grpSp>
      <p:sp>
        <p:nvSpPr>
          <p:cNvPr id="10" name="9 Rectángulo"/>
          <p:cNvSpPr/>
          <p:nvPr/>
        </p:nvSpPr>
        <p:spPr>
          <a:xfrm>
            <a:off x="273503" y="172227"/>
            <a:ext cx="11199616" cy="10730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4568" tIns="47284" rIns="94568" bIns="47284" rtlCol="0" anchor="ctr"/>
          <a:lstStyle/>
          <a:p>
            <a:pPr>
              <a:spcBef>
                <a:spcPct val="0"/>
              </a:spcBef>
            </a:pPr>
            <a:endParaRPr lang="es-ES_tradnl" sz="3265" dirty="0">
              <a:solidFill>
                <a:schemeClr val="bg1"/>
              </a:solidFill>
              <a:latin typeface="Arial"/>
              <a:ea typeface="+mj-ea"/>
              <a:cs typeface="Arial"/>
            </a:endParaRPr>
          </a:p>
        </p:txBody>
      </p:sp>
      <p:pic>
        <p:nvPicPr>
          <p:cNvPr id="8" name="Imagen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103" y="412997"/>
            <a:ext cx="777982" cy="208297"/>
          </a:xfrm>
          <a:prstGeom prst="rect">
            <a:avLst/>
          </a:prstGeom>
        </p:spPr>
      </p:pic>
      <p:sp>
        <p:nvSpPr>
          <p:cNvPr id="13" name="Título 1"/>
          <p:cNvSpPr>
            <a:spLocks noGrp="1"/>
          </p:cNvSpPr>
          <p:nvPr>
            <p:ph type="title" hasCustomPrompt="1"/>
          </p:nvPr>
        </p:nvSpPr>
        <p:spPr>
          <a:xfrm>
            <a:off x="233514" y="138390"/>
            <a:ext cx="8212683" cy="1143000"/>
          </a:xfrm>
        </p:spPr>
        <p:txBody>
          <a:bodyPr>
            <a:normAutofit/>
          </a:bodyPr>
          <a:lstStyle>
            <a:lvl1pPr algn="l">
              <a:defRPr sz="2539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_tradnl" dirty="0"/>
              <a:t>TÍTULO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1754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23F7C-2A49-477B-BECB-2B1E26B76FDF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537E3-BB8D-4610-AACE-D84711EA7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8241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AA8CF84-2130-4B6B-9727-D18AD23834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es-ES" sz="2902" dirty="0"/>
              <a:t>Performance assessment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FDDB01A-EB81-41A7-9EF5-DF78F505686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249768" y="1600776"/>
            <a:ext cx="8722213" cy="4525934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Clr>
                <a:schemeClr val="tx1"/>
              </a:buClr>
            </a:pPr>
            <a:r>
              <a:rPr lang="en-US" altLang="es-ES" dirty="0"/>
              <a:t>ROC curve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</a:pPr>
            <a:r>
              <a:rPr lang="en-US" altLang="es-ES" dirty="0"/>
              <a:t>Area under the ROC curve (AUC)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</a:pPr>
            <a:r>
              <a:rPr lang="en-US" altLang="es-ES" dirty="0"/>
              <a:t>Examples using ROC</a:t>
            </a:r>
          </a:p>
        </p:txBody>
      </p:sp>
    </p:spTree>
    <p:extLst>
      <p:ext uri="{BB962C8B-B14F-4D97-AF65-F5344CB8AC3E}">
        <p14:creationId xmlns:p14="http://schemas.microsoft.com/office/powerpoint/2010/main" val="1723674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676265D-B042-43B0-8ED8-CFDDE37E10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s-ES" dirty="0"/>
              <a:t>ROC curves:  Simplest case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8EF2BD18-EAB6-4C25-95FD-7B79638C34C1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249768" y="1600776"/>
            <a:ext cx="8722213" cy="452593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spcBef>
                <a:spcPct val="50000"/>
              </a:spcBef>
              <a:buClr>
                <a:schemeClr val="tx1"/>
              </a:buClr>
            </a:pPr>
            <a:r>
              <a:rPr lang="en-US" altLang="es-ES"/>
              <a:t>Consider a diagnostic test for a disease: the expression of a particular gene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</a:pPr>
            <a:r>
              <a:rPr lang="en-US" altLang="es-ES"/>
              <a:t>Test has 2 possible outcomes:</a:t>
            </a:r>
          </a:p>
          <a:p>
            <a:pPr lvl="1" eaLnBrk="1" hangingPunct="1">
              <a:spcBef>
                <a:spcPct val="50000"/>
              </a:spcBef>
              <a:buClr>
                <a:schemeClr val="tx1"/>
              </a:buClr>
            </a:pPr>
            <a:r>
              <a:rPr lang="en-US" altLang="es-ES"/>
              <a:t>‘positive’ = suggesting presence of disease</a:t>
            </a:r>
          </a:p>
          <a:p>
            <a:pPr lvl="2" eaLnBrk="1" hangingPunct="1">
              <a:spcBef>
                <a:spcPct val="50000"/>
              </a:spcBef>
              <a:buClr>
                <a:schemeClr val="tx1"/>
              </a:buClr>
            </a:pPr>
            <a:r>
              <a:rPr lang="es-ES" altLang="es-ES"/>
              <a:t>Gene expression is over a threshold</a:t>
            </a:r>
            <a:endParaRPr lang="en-US" altLang="es-ES"/>
          </a:p>
          <a:p>
            <a:pPr lvl="1" eaLnBrk="1" hangingPunct="1">
              <a:spcBef>
                <a:spcPct val="50000"/>
              </a:spcBef>
              <a:buClr>
                <a:schemeClr val="tx1"/>
              </a:buClr>
            </a:pPr>
            <a:r>
              <a:rPr lang="en-US" altLang="es-ES"/>
              <a:t> ‘negative’ </a:t>
            </a:r>
          </a:p>
          <a:p>
            <a:pPr lvl="2" eaLnBrk="1" hangingPunct="1">
              <a:spcBef>
                <a:spcPct val="50000"/>
              </a:spcBef>
              <a:buClr>
                <a:schemeClr val="tx1"/>
              </a:buClr>
            </a:pPr>
            <a:r>
              <a:rPr lang="es-ES" altLang="es-ES"/>
              <a:t>Gene expression is below the threshold</a:t>
            </a:r>
            <a:endParaRPr lang="en-US" altLang="es-ES"/>
          </a:p>
          <a:p>
            <a:pPr eaLnBrk="1" hangingPunct="1">
              <a:spcBef>
                <a:spcPct val="50000"/>
              </a:spcBef>
              <a:buClr>
                <a:schemeClr val="tx1"/>
              </a:buClr>
            </a:pPr>
            <a:r>
              <a:rPr lang="en-US" altLang="es-ES"/>
              <a:t>An individual can test either positive or negative for the disease</a:t>
            </a:r>
          </a:p>
          <a:p>
            <a:pPr lvl="1" eaLnBrk="1" hangingPunct="1">
              <a:spcBef>
                <a:spcPct val="50000"/>
              </a:spcBef>
              <a:buClr>
                <a:schemeClr val="tx1"/>
              </a:buClr>
            </a:pPr>
            <a:r>
              <a:rPr lang="es-ES" altLang="es-ES" sz="2600"/>
              <a:t>The selection of the threshold is crucial.</a:t>
            </a:r>
            <a:endParaRPr lang="en-US" altLang="es-ES" sz="2600"/>
          </a:p>
        </p:txBody>
      </p:sp>
    </p:spTree>
    <p:extLst>
      <p:ext uri="{BB962C8B-B14F-4D97-AF65-F5344CB8AC3E}">
        <p14:creationId xmlns:p14="http://schemas.microsoft.com/office/powerpoint/2010/main" val="1903744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84834EC-60D0-47B3-B63C-BBF8DBE49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s-ES" sz="2902" dirty="0"/>
              <a:t>Specific Example</a:t>
            </a:r>
          </a:p>
        </p:txBody>
      </p:sp>
      <p:sp>
        <p:nvSpPr>
          <p:cNvPr id="15363" name="Line 3">
            <a:extLst>
              <a:ext uri="{FF2B5EF4-FFF2-40B4-BE49-F238E27FC236}">
                <a16:creationId xmlns:a16="http://schemas.microsoft.com/office/drawing/2014/main" id="{5AD4F4E2-9A92-4F55-A1F5-FF86ECBF28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1" y="4648200"/>
            <a:ext cx="7162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7119C9D0-639D-4EFB-8416-1FC658E92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105401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400">
                <a:latin typeface="Comic Sans MS" panose="030F0702030302020204" pitchFamily="66" charset="0"/>
              </a:rPr>
              <a:t>Test Result</a:t>
            </a:r>
          </a:p>
        </p:txBody>
      </p:sp>
      <p:sp>
        <p:nvSpPr>
          <p:cNvPr id="15365" name="Freeform 5">
            <a:extLst>
              <a:ext uri="{FF2B5EF4-FFF2-40B4-BE49-F238E27FC236}">
                <a16:creationId xmlns:a16="http://schemas.microsoft.com/office/drawing/2014/main" id="{519C7AFD-7A37-4BFC-AD2E-11450185FA72}"/>
              </a:ext>
            </a:extLst>
          </p:cNvPr>
          <p:cNvSpPr>
            <a:spLocks/>
          </p:cNvSpPr>
          <p:nvPr/>
        </p:nvSpPr>
        <p:spPr bwMode="auto">
          <a:xfrm>
            <a:off x="5105401" y="2819400"/>
            <a:ext cx="3933825" cy="1819275"/>
          </a:xfrm>
          <a:custGeom>
            <a:avLst/>
            <a:gdLst>
              <a:gd name="T0" fmla="*/ 0 w 2478"/>
              <a:gd name="T1" fmla="*/ 2147483647 h 1146"/>
              <a:gd name="T2" fmla="*/ 2147483647 w 2478"/>
              <a:gd name="T3" fmla="*/ 2147483647 h 1146"/>
              <a:gd name="T4" fmla="*/ 2147483647 w 2478"/>
              <a:gd name="T5" fmla="*/ 2147483647 h 1146"/>
              <a:gd name="T6" fmla="*/ 2147483647 w 2478"/>
              <a:gd name="T7" fmla="*/ 2147483647 h 1146"/>
              <a:gd name="T8" fmla="*/ 2147483647 w 2478"/>
              <a:gd name="T9" fmla="*/ 2147483647 h 1146"/>
              <a:gd name="T10" fmla="*/ 2147483647 w 2478"/>
              <a:gd name="T11" fmla="*/ 2147483647 h 1146"/>
              <a:gd name="T12" fmla="*/ 2147483647 w 2478"/>
              <a:gd name="T13" fmla="*/ 2147483647 h 1146"/>
              <a:gd name="T14" fmla="*/ 2147483647 w 2478"/>
              <a:gd name="T15" fmla="*/ 2147483647 h 1146"/>
              <a:gd name="T16" fmla="*/ 2147483647 w 2478"/>
              <a:gd name="T17" fmla="*/ 2147483647 h 1146"/>
              <a:gd name="T18" fmla="*/ 2147483647 w 2478"/>
              <a:gd name="T19" fmla="*/ 2147483647 h 1146"/>
              <a:gd name="T20" fmla="*/ 2147483647 w 2478"/>
              <a:gd name="T21" fmla="*/ 2147483647 h 1146"/>
              <a:gd name="T22" fmla="*/ 2147483647 w 2478"/>
              <a:gd name="T23" fmla="*/ 2147483647 h 1146"/>
              <a:gd name="T24" fmla="*/ 2147483647 w 2478"/>
              <a:gd name="T25" fmla="*/ 2147483647 h 1146"/>
              <a:gd name="T26" fmla="*/ 2147483647 w 2478"/>
              <a:gd name="T27" fmla="*/ 2147483647 h 114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478"/>
              <a:gd name="T43" fmla="*/ 0 h 1146"/>
              <a:gd name="T44" fmla="*/ 2478 w 2478"/>
              <a:gd name="T45" fmla="*/ 1146 h 114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478" h="1146">
                <a:moveTo>
                  <a:pt x="0" y="1146"/>
                </a:moveTo>
                <a:cubicBezTo>
                  <a:pt x="57" y="1137"/>
                  <a:pt x="267" y="1110"/>
                  <a:pt x="356" y="1079"/>
                </a:cubicBezTo>
                <a:cubicBezTo>
                  <a:pt x="445" y="1048"/>
                  <a:pt x="477" y="1028"/>
                  <a:pt x="534" y="960"/>
                </a:cubicBezTo>
                <a:cubicBezTo>
                  <a:pt x="591" y="892"/>
                  <a:pt x="644" y="772"/>
                  <a:pt x="700" y="668"/>
                </a:cubicBezTo>
                <a:cubicBezTo>
                  <a:pt x="756" y="564"/>
                  <a:pt x="802" y="439"/>
                  <a:pt x="870" y="336"/>
                </a:cubicBezTo>
                <a:cubicBezTo>
                  <a:pt x="938" y="233"/>
                  <a:pt x="1046" y="96"/>
                  <a:pt x="1110" y="48"/>
                </a:cubicBezTo>
                <a:cubicBezTo>
                  <a:pt x="1174" y="0"/>
                  <a:pt x="1206" y="16"/>
                  <a:pt x="1254" y="48"/>
                </a:cubicBezTo>
                <a:cubicBezTo>
                  <a:pt x="1302" y="80"/>
                  <a:pt x="1350" y="152"/>
                  <a:pt x="1398" y="240"/>
                </a:cubicBezTo>
                <a:cubicBezTo>
                  <a:pt x="1446" y="328"/>
                  <a:pt x="1501" y="484"/>
                  <a:pt x="1542" y="576"/>
                </a:cubicBezTo>
                <a:cubicBezTo>
                  <a:pt x="1583" y="668"/>
                  <a:pt x="1606" y="730"/>
                  <a:pt x="1645" y="790"/>
                </a:cubicBezTo>
                <a:cubicBezTo>
                  <a:pt x="1684" y="850"/>
                  <a:pt x="1739" y="899"/>
                  <a:pt x="1778" y="935"/>
                </a:cubicBezTo>
                <a:cubicBezTo>
                  <a:pt x="1817" y="971"/>
                  <a:pt x="1837" y="980"/>
                  <a:pt x="1878" y="1008"/>
                </a:cubicBezTo>
                <a:cubicBezTo>
                  <a:pt x="1919" y="1036"/>
                  <a:pt x="1922" y="1085"/>
                  <a:pt x="2022" y="1104"/>
                </a:cubicBezTo>
                <a:cubicBezTo>
                  <a:pt x="2122" y="1123"/>
                  <a:pt x="2383" y="1120"/>
                  <a:pt x="2478" y="1124"/>
                </a:cubicBezTo>
              </a:path>
            </a:pathLst>
          </a:cu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5366" name="Freeform 6">
            <a:extLst>
              <a:ext uri="{FF2B5EF4-FFF2-40B4-BE49-F238E27FC236}">
                <a16:creationId xmlns:a16="http://schemas.microsoft.com/office/drawing/2014/main" id="{0260D1CF-FA49-4D44-9E5B-014FDC9F6114}"/>
              </a:ext>
            </a:extLst>
          </p:cNvPr>
          <p:cNvSpPr>
            <a:spLocks/>
          </p:cNvSpPr>
          <p:nvPr/>
        </p:nvSpPr>
        <p:spPr bwMode="auto">
          <a:xfrm>
            <a:off x="3200401" y="2819400"/>
            <a:ext cx="4454524" cy="1838325"/>
          </a:xfrm>
          <a:custGeom>
            <a:avLst/>
            <a:gdLst>
              <a:gd name="T0" fmla="*/ 0 w 2806"/>
              <a:gd name="T1" fmla="*/ 2147483647 h 1158"/>
              <a:gd name="T2" fmla="*/ 2147483647 w 2806"/>
              <a:gd name="T3" fmla="*/ 2147483647 h 1158"/>
              <a:gd name="T4" fmla="*/ 2147483647 w 2806"/>
              <a:gd name="T5" fmla="*/ 2147483647 h 1158"/>
              <a:gd name="T6" fmla="*/ 2147483647 w 2806"/>
              <a:gd name="T7" fmla="*/ 2147483647 h 1158"/>
              <a:gd name="T8" fmla="*/ 2147483647 w 2806"/>
              <a:gd name="T9" fmla="*/ 2147483647 h 1158"/>
              <a:gd name="T10" fmla="*/ 2147483647 w 2806"/>
              <a:gd name="T11" fmla="*/ 2147483647 h 1158"/>
              <a:gd name="T12" fmla="*/ 2147483647 w 2806"/>
              <a:gd name="T13" fmla="*/ 2147483647 h 1158"/>
              <a:gd name="T14" fmla="*/ 2147483647 w 2806"/>
              <a:gd name="T15" fmla="*/ 2147483647 h 1158"/>
              <a:gd name="T16" fmla="*/ 2147483647 w 2806"/>
              <a:gd name="T17" fmla="*/ 2147483647 h 1158"/>
              <a:gd name="T18" fmla="*/ 2147483647 w 2806"/>
              <a:gd name="T19" fmla="*/ 2147483647 h 1158"/>
              <a:gd name="T20" fmla="*/ 2147483647 w 2806"/>
              <a:gd name="T21" fmla="*/ 2147483647 h 1158"/>
              <a:gd name="T22" fmla="*/ 2147483647 w 2806"/>
              <a:gd name="T23" fmla="*/ 2147483647 h 1158"/>
              <a:gd name="T24" fmla="*/ 2147483647 w 2806"/>
              <a:gd name="T25" fmla="*/ 2147483647 h 1158"/>
              <a:gd name="T26" fmla="*/ 2147483647 w 2806"/>
              <a:gd name="T27" fmla="*/ 2147483647 h 1158"/>
              <a:gd name="T28" fmla="*/ 2147483647 w 2806"/>
              <a:gd name="T29" fmla="*/ 2147483647 h 1158"/>
              <a:gd name="T30" fmla="*/ 2147483647 w 2806"/>
              <a:gd name="T31" fmla="*/ 2147483647 h 1158"/>
              <a:gd name="T32" fmla="*/ 2147483647 w 2806"/>
              <a:gd name="T33" fmla="*/ 2147483647 h 1158"/>
              <a:gd name="T34" fmla="*/ 2147483647 w 2806"/>
              <a:gd name="T35" fmla="*/ 2147483647 h 1158"/>
              <a:gd name="T36" fmla="*/ 2147483647 w 2806"/>
              <a:gd name="T37" fmla="*/ 2147483647 h 1158"/>
              <a:gd name="T38" fmla="*/ 2147483647 w 2806"/>
              <a:gd name="T39" fmla="*/ 2147483647 h 1158"/>
              <a:gd name="T40" fmla="*/ 2147483647 w 2806"/>
              <a:gd name="T41" fmla="*/ 2147483647 h 115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806"/>
              <a:gd name="T64" fmla="*/ 0 h 1158"/>
              <a:gd name="T65" fmla="*/ 2806 w 2806"/>
              <a:gd name="T66" fmla="*/ 1158 h 1158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806" h="1158">
                <a:moveTo>
                  <a:pt x="0" y="1158"/>
                </a:moveTo>
                <a:cubicBezTo>
                  <a:pt x="92" y="1146"/>
                  <a:pt x="184" y="1134"/>
                  <a:pt x="240" y="1110"/>
                </a:cubicBezTo>
                <a:cubicBezTo>
                  <a:pt x="296" y="1086"/>
                  <a:pt x="288" y="1062"/>
                  <a:pt x="336" y="1014"/>
                </a:cubicBezTo>
                <a:cubicBezTo>
                  <a:pt x="384" y="966"/>
                  <a:pt x="479" y="880"/>
                  <a:pt x="528" y="822"/>
                </a:cubicBezTo>
                <a:cubicBezTo>
                  <a:pt x="577" y="764"/>
                  <a:pt x="589" y="726"/>
                  <a:pt x="628" y="663"/>
                </a:cubicBezTo>
                <a:cubicBezTo>
                  <a:pt x="667" y="600"/>
                  <a:pt x="710" y="508"/>
                  <a:pt x="762" y="441"/>
                </a:cubicBezTo>
                <a:cubicBezTo>
                  <a:pt x="814" y="374"/>
                  <a:pt x="882" y="319"/>
                  <a:pt x="939" y="263"/>
                </a:cubicBezTo>
                <a:cubicBezTo>
                  <a:pt x="996" y="207"/>
                  <a:pt x="1049" y="144"/>
                  <a:pt x="1104" y="102"/>
                </a:cubicBezTo>
                <a:cubicBezTo>
                  <a:pt x="1159" y="60"/>
                  <a:pt x="1217" y="16"/>
                  <a:pt x="1273" y="8"/>
                </a:cubicBezTo>
                <a:cubicBezTo>
                  <a:pt x="1329" y="0"/>
                  <a:pt x="1388" y="22"/>
                  <a:pt x="1440" y="54"/>
                </a:cubicBezTo>
                <a:cubicBezTo>
                  <a:pt x="1492" y="86"/>
                  <a:pt x="1545" y="147"/>
                  <a:pt x="1584" y="198"/>
                </a:cubicBezTo>
                <a:cubicBezTo>
                  <a:pt x="1623" y="249"/>
                  <a:pt x="1649" y="315"/>
                  <a:pt x="1673" y="363"/>
                </a:cubicBezTo>
                <a:cubicBezTo>
                  <a:pt x="1697" y="411"/>
                  <a:pt x="1702" y="445"/>
                  <a:pt x="1728" y="486"/>
                </a:cubicBezTo>
                <a:cubicBezTo>
                  <a:pt x="1754" y="527"/>
                  <a:pt x="1804" y="576"/>
                  <a:pt x="1828" y="608"/>
                </a:cubicBezTo>
                <a:cubicBezTo>
                  <a:pt x="1852" y="640"/>
                  <a:pt x="1849" y="650"/>
                  <a:pt x="1872" y="678"/>
                </a:cubicBezTo>
                <a:cubicBezTo>
                  <a:pt x="1895" y="706"/>
                  <a:pt x="1936" y="734"/>
                  <a:pt x="1968" y="774"/>
                </a:cubicBezTo>
                <a:cubicBezTo>
                  <a:pt x="2000" y="814"/>
                  <a:pt x="2030" y="877"/>
                  <a:pt x="2064" y="918"/>
                </a:cubicBezTo>
                <a:cubicBezTo>
                  <a:pt x="2098" y="959"/>
                  <a:pt x="2133" y="995"/>
                  <a:pt x="2173" y="1019"/>
                </a:cubicBezTo>
                <a:cubicBezTo>
                  <a:pt x="2213" y="1043"/>
                  <a:pt x="2250" y="1047"/>
                  <a:pt x="2304" y="1062"/>
                </a:cubicBezTo>
                <a:cubicBezTo>
                  <a:pt x="2358" y="1077"/>
                  <a:pt x="2411" y="1093"/>
                  <a:pt x="2495" y="1108"/>
                </a:cubicBezTo>
                <a:cubicBezTo>
                  <a:pt x="2579" y="1123"/>
                  <a:pt x="2741" y="1143"/>
                  <a:pt x="2806" y="1152"/>
                </a:cubicBezTo>
              </a:path>
            </a:pathLst>
          </a:custGeom>
          <a:noFill/>
          <a:ln w="38100" cap="flat" cmpd="sng">
            <a:solidFill>
              <a:srgbClr val="D8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394247" name="AutoShape 7">
            <a:extLst>
              <a:ext uri="{FF2B5EF4-FFF2-40B4-BE49-F238E27FC236}">
                <a16:creationId xmlns:a16="http://schemas.microsoft.com/office/drawing/2014/main" id="{C6576BEF-D0FE-43DC-89F5-A4BA69EA08C7}"/>
              </a:ext>
            </a:extLst>
          </p:cNvPr>
          <p:cNvSpPr>
            <a:spLocks/>
          </p:cNvSpPr>
          <p:nvPr/>
        </p:nvSpPr>
        <p:spPr bwMode="auto">
          <a:xfrm>
            <a:off x="8815390" y="2036765"/>
            <a:ext cx="1395411" cy="830997"/>
          </a:xfrm>
          <a:prstGeom prst="borderCallout1">
            <a:avLst>
              <a:gd name="adj1" fmla="val 13690"/>
              <a:gd name="adj2" fmla="val -5463"/>
              <a:gd name="adj3" fmla="val 101139"/>
              <a:gd name="adj4" fmla="val -100343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Pts with disease</a:t>
            </a:r>
          </a:p>
        </p:txBody>
      </p:sp>
      <p:sp>
        <p:nvSpPr>
          <p:cNvPr id="394248" name="AutoShape 8">
            <a:extLst>
              <a:ext uri="{FF2B5EF4-FFF2-40B4-BE49-F238E27FC236}">
                <a16:creationId xmlns:a16="http://schemas.microsoft.com/office/drawing/2014/main" id="{5D0B6C3C-EDDB-4AC0-A1A8-3BFFFCF5CB47}"/>
              </a:ext>
            </a:extLst>
          </p:cNvPr>
          <p:cNvSpPr>
            <a:spLocks/>
          </p:cNvSpPr>
          <p:nvPr/>
        </p:nvSpPr>
        <p:spPr bwMode="auto">
          <a:xfrm>
            <a:off x="1752600" y="1947865"/>
            <a:ext cx="2133600" cy="830997"/>
          </a:xfrm>
          <a:prstGeom prst="borderCallout1">
            <a:avLst>
              <a:gd name="adj1" fmla="val 13690"/>
              <a:gd name="adj2" fmla="val 103569"/>
              <a:gd name="adj3" fmla="val 109694"/>
              <a:gd name="adj4" fmla="val 14553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Pts without the disease</a:t>
            </a:r>
          </a:p>
        </p:txBody>
      </p:sp>
    </p:spTree>
    <p:extLst>
      <p:ext uri="{BB962C8B-B14F-4D97-AF65-F5344CB8AC3E}">
        <p14:creationId xmlns:p14="http://schemas.microsoft.com/office/powerpoint/2010/main" val="1863815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Line 2">
            <a:extLst>
              <a:ext uri="{FF2B5EF4-FFF2-40B4-BE49-F238E27FC236}">
                <a16:creationId xmlns:a16="http://schemas.microsoft.com/office/drawing/2014/main" id="{7B9C792D-0BE1-4398-9389-2ED8D54824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1" y="4648200"/>
            <a:ext cx="7162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95ED4C8A-5E87-4504-98AC-B3B5FB305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105401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400">
                <a:latin typeface="Comic Sans MS" panose="030F0702030302020204" pitchFamily="66" charset="0"/>
              </a:rPr>
              <a:t>Test Result</a:t>
            </a:r>
          </a:p>
        </p:txBody>
      </p:sp>
      <p:sp>
        <p:nvSpPr>
          <p:cNvPr id="16388" name="Freeform 4">
            <a:extLst>
              <a:ext uri="{FF2B5EF4-FFF2-40B4-BE49-F238E27FC236}">
                <a16:creationId xmlns:a16="http://schemas.microsoft.com/office/drawing/2014/main" id="{5F0D3186-B370-4BF0-9EFF-284B3C545399}"/>
              </a:ext>
            </a:extLst>
          </p:cNvPr>
          <p:cNvSpPr>
            <a:spLocks/>
          </p:cNvSpPr>
          <p:nvPr/>
        </p:nvSpPr>
        <p:spPr bwMode="auto">
          <a:xfrm>
            <a:off x="5105401" y="2819400"/>
            <a:ext cx="3933825" cy="1819275"/>
          </a:xfrm>
          <a:custGeom>
            <a:avLst/>
            <a:gdLst>
              <a:gd name="T0" fmla="*/ 0 w 2478"/>
              <a:gd name="T1" fmla="*/ 2147483647 h 1146"/>
              <a:gd name="T2" fmla="*/ 2147483647 w 2478"/>
              <a:gd name="T3" fmla="*/ 2147483647 h 1146"/>
              <a:gd name="T4" fmla="*/ 2147483647 w 2478"/>
              <a:gd name="T5" fmla="*/ 2147483647 h 1146"/>
              <a:gd name="T6" fmla="*/ 2147483647 w 2478"/>
              <a:gd name="T7" fmla="*/ 2147483647 h 1146"/>
              <a:gd name="T8" fmla="*/ 2147483647 w 2478"/>
              <a:gd name="T9" fmla="*/ 2147483647 h 1146"/>
              <a:gd name="T10" fmla="*/ 2147483647 w 2478"/>
              <a:gd name="T11" fmla="*/ 2147483647 h 1146"/>
              <a:gd name="T12" fmla="*/ 2147483647 w 2478"/>
              <a:gd name="T13" fmla="*/ 2147483647 h 1146"/>
              <a:gd name="T14" fmla="*/ 2147483647 w 2478"/>
              <a:gd name="T15" fmla="*/ 2147483647 h 1146"/>
              <a:gd name="T16" fmla="*/ 2147483647 w 2478"/>
              <a:gd name="T17" fmla="*/ 2147483647 h 1146"/>
              <a:gd name="T18" fmla="*/ 2147483647 w 2478"/>
              <a:gd name="T19" fmla="*/ 2147483647 h 1146"/>
              <a:gd name="T20" fmla="*/ 2147483647 w 2478"/>
              <a:gd name="T21" fmla="*/ 2147483647 h 1146"/>
              <a:gd name="T22" fmla="*/ 2147483647 w 2478"/>
              <a:gd name="T23" fmla="*/ 2147483647 h 1146"/>
              <a:gd name="T24" fmla="*/ 2147483647 w 2478"/>
              <a:gd name="T25" fmla="*/ 2147483647 h 1146"/>
              <a:gd name="T26" fmla="*/ 2147483647 w 2478"/>
              <a:gd name="T27" fmla="*/ 2147483647 h 114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478"/>
              <a:gd name="T43" fmla="*/ 0 h 1146"/>
              <a:gd name="T44" fmla="*/ 2478 w 2478"/>
              <a:gd name="T45" fmla="*/ 1146 h 114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478" h="1146">
                <a:moveTo>
                  <a:pt x="0" y="1146"/>
                </a:moveTo>
                <a:cubicBezTo>
                  <a:pt x="57" y="1137"/>
                  <a:pt x="267" y="1110"/>
                  <a:pt x="356" y="1079"/>
                </a:cubicBezTo>
                <a:cubicBezTo>
                  <a:pt x="445" y="1048"/>
                  <a:pt x="477" y="1028"/>
                  <a:pt x="534" y="960"/>
                </a:cubicBezTo>
                <a:cubicBezTo>
                  <a:pt x="591" y="892"/>
                  <a:pt x="644" y="772"/>
                  <a:pt x="700" y="668"/>
                </a:cubicBezTo>
                <a:cubicBezTo>
                  <a:pt x="756" y="564"/>
                  <a:pt x="802" y="439"/>
                  <a:pt x="870" y="336"/>
                </a:cubicBezTo>
                <a:cubicBezTo>
                  <a:pt x="938" y="233"/>
                  <a:pt x="1046" y="96"/>
                  <a:pt x="1110" y="48"/>
                </a:cubicBezTo>
                <a:cubicBezTo>
                  <a:pt x="1174" y="0"/>
                  <a:pt x="1206" y="16"/>
                  <a:pt x="1254" y="48"/>
                </a:cubicBezTo>
                <a:cubicBezTo>
                  <a:pt x="1302" y="80"/>
                  <a:pt x="1350" y="152"/>
                  <a:pt x="1398" y="240"/>
                </a:cubicBezTo>
                <a:cubicBezTo>
                  <a:pt x="1446" y="328"/>
                  <a:pt x="1501" y="484"/>
                  <a:pt x="1542" y="576"/>
                </a:cubicBezTo>
                <a:cubicBezTo>
                  <a:pt x="1583" y="668"/>
                  <a:pt x="1606" y="730"/>
                  <a:pt x="1645" y="790"/>
                </a:cubicBezTo>
                <a:cubicBezTo>
                  <a:pt x="1684" y="850"/>
                  <a:pt x="1739" y="899"/>
                  <a:pt x="1778" y="935"/>
                </a:cubicBezTo>
                <a:cubicBezTo>
                  <a:pt x="1817" y="971"/>
                  <a:pt x="1837" y="980"/>
                  <a:pt x="1878" y="1008"/>
                </a:cubicBezTo>
                <a:cubicBezTo>
                  <a:pt x="1919" y="1036"/>
                  <a:pt x="1922" y="1085"/>
                  <a:pt x="2022" y="1104"/>
                </a:cubicBezTo>
                <a:cubicBezTo>
                  <a:pt x="2122" y="1123"/>
                  <a:pt x="2383" y="1120"/>
                  <a:pt x="2478" y="1124"/>
                </a:cubicBezTo>
              </a:path>
            </a:pathLst>
          </a:cu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6389" name="Freeform 5">
            <a:extLst>
              <a:ext uri="{FF2B5EF4-FFF2-40B4-BE49-F238E27FC236}">
                <a16:creationId xmlns:a16="http://schemas.microsoft.com/office/drawing/2014/main" id="{3EBF5CA4-11F9-401A-A8AD-0F63C92B3822}"/>
              </a:ext>
            </a:extLst>
          </p:cNvPr>
          <p:cNvSpPr>
            <a:spLocks/>
          </p:cNvSpPr>
          <p:nvPr/>
        </p:nvSpPr>
        <p:spPr bwMode="auto">
          <a:xfrm>
            <a:off x="3200401" y="2819400"/>
            <a:ext cx="4454524" cy="1838325"/>
          </a:xfrm>
          <a:custGeom>
            <a:avLst/>
            <a:gdLst>
              <a:gd name="T0" fmla="*/ 0 w 2806"/>
              <a:gd name="T1" fmla="*/ 2147483647 h 1158"/>
              <a:gd name="T2" fmla="*/ 2147483647 w 2806"/>
              <a:gd name="T3" fmla="*/ 2147483647 h 1158"/>
              <a:gd name="T4" fmla="*/ 2147483647 w 2806"/>
              <a:gd name="T5" fmla="*/ 2147483647 h 1158"/>
              <a:gd name="T6" fmla="*/ 2147483647 w 2806"/>
              <a:gd name="T7" fmla="*/ 2147483647 h 1158"/>
              <a:gd name="T8" fmla="*/ 2147483647 w 2806"/>
              <a:gd name="T9" fmla="*/ 2147483647 h 1158"/>
              <a:gd name="T10" fmla="*/ 2147483647 w 2806"/>
              <a:gd name="T11" fmla="*/ 2147483647 h 1158"/>
              <a:gd name="T12" fmla="*/ 2147483647 w 2806"/>
              <a:gd name="T13" fmla="*/ 2147483647 h 1158"/>
              <a:gd name="T14" fmla="*/ 2147483647 w 2806"/>
              <a:gd name="T15" fmla="*/ 2147483647 h 1158"/>
              <a:gd name="T16" fmla="*/ 2147483647 w 2806"/>
              <a:gd name="T17" fmla="*/ 2147483647 h 1158"/>
              <a:gd name="T18" fmla="*/ 2147483647 w 2806"/>
              <a:gd name="T19" fmla="*/ 2147483647 h 1158"/>
              <a:gd name="T20" fmla="*/ 2147483647 w 2806"/>
              <a:gd name="T21" fmla="*/ 2147483647 h 1158"/>
              <a:gd name="T22" fmla="*/ 2147483647 w 2806"/>
              <a:gd name="T23" fmla="*/ 2147483647 h 1158"/>
              <a:gd name="T24" fmla="*/ 2147483647 w 2806"/>
              <a:gd name="T25" fmla="*/ 2147483647 h 1158"/>
              <a:gd name="T26" fmla="*/ 2147483647 w 2806"/>
              <a:gd name="T27" fmla="*/ 2147483647 h 1158"/>
              <a:gd name="T28" fmla="*/ 2147483647 w 2806"/>
              <a:gd name="T29" fmla="*/ 2147483647 h 1158"/>
              <a:gd name="T30" fmla="*/ 2147483647 w 2806"/>
              <a:gd name="T31" fmla="*/ 2147483647 h 1158"/>
              <a:gd name="T32" fmla="*/ 2147483647 w 2806"/>
              <a:gd name="T33" fmla="*/ 2147483647 h 1158"/>
              <a:gd name="T34" fmla="*/ 2147483647 w 2806"/>
              <a:gd name="T35" fmla="*/ 2147483647 h 1158"/>
              <a:gd name="T36" fmla="*/ 2147483647 w 2806"/>
              <a:gd name="T37" fmla="*/ 2147483647 h 1158"/>
              <a:gd name="T38" fmla="*/ 2147483647 w 2806"/>
              <a:gd name="T39" fmla="*/ 2147483647 h 1158"/>
              <a:gd name="T40" fmla="*/ 2147483647 w 2806"/>
              <a:gd name="T41" fmla="*/ 2147483647 h 115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806"/>
              <a:gd name="T64" fmla="*/ 0 h 1158"/>
              <a:gd name="T65" fmla="*/ 2806 w 2806"/>
              <a:gd name="T66" fmla="*/ 1158 h 1158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806" h="1158">
                <a:moveTo>
                  <a:pt x="0" y="1158"/>
                </a:moveTo>
                <a:cubicBezTo>
                  <a:pt x="92" y="1146"/>
                  <a:pt x="184" y="1134"/>
                  <a:pt x="240" y="1110"/>
                </a:cubicBezTo>
                <a:cubicBezTo>
                  <a:pt x="296" y="1086"/>
                  <a:pt x="288" y="1062"/>
                  <a:pt x="336" y="1014"/>
                </a:cubicBezTo>
                <a:cubicBezTo>
                  <a:pt x="384" y="966"/>
                  <a:pt x="479" y="880"/>
                  <a:pt x="528" y="822"/>
                </a:cubicBezTo>
                <a:cubicBezTo>
                  <a:pt x="577" y="764"/>
                  <a:pt x="589" y="726"/>
                  <a:pt x="628" y="663"/>
                </a:cubicBezTo>
                <a:cubicBezTo>
                  <a:pt x="667" y="600"/>
                  <a:pt x="710" y="508"/>
                  <a:pt x="762" y="441"/>
                </a:cubicBezTo>
                <a:cubicBezTo>
                  <a:pt x="814" y="374"/>
                  <a:pt x="882" y="319"/>
                  <a:pt x="939" y="263"/>
                </a:cubicBezTo>
                <a:cubicBezTo>
                  <a:pt x="996" y="207"/>
                  <a:pt x="1049" y="144"/>
                  <a:pt x="1104" y="102"/>
                </a:cubicBezTo>
                <a:cubicBezTo>
                  <a:pt x="1159" y="60"/>
                  <a:pt x="1217" y="16"/>
                  <a:pt x="1273" y="8"/>
                </a:cubicBezTo>
                <a:cubicBezTo>
                  <a:pt x="1329" y="0"/>
                  <a:pt x="1388" y="22"/>
                  <a:pt x="1440" y="54"/>
                </a:cubicBezTo>
                <a:cubicBezTo>
                  <a:pt x="1492" y="86"/>
                  <a:pt x="1545" y="147"/>
                  <a:pt x="1584" y="198"/>
                </a:cubicBezTo>
                <a:cubicBezTo>
                  <a:pt x="1623" y="249"/>
                  <a:pt x="1649" y="315"/>
                  <a:pt x="1673" y="363"/>
                </a:cubicBezTo>
                <a:cubicBezTo>
                  <a:pt x="1697" y="411"/>
                  <a:pt x="1702" y="445"/>
                  <a:pt x="1728" y="486"/>
                </a:cubicBezTo>
                <a:cubicBezTo>
                  <a:pt x="1754" y="527"/>
                  <a:pt x="1804" y="576"/>
                  <a:pt x="1828" y="608"/>
                </a:cubicBezTo>
                <a:cubicBezTo>
                  <a:pt x="1852" y="640"/>
                  <a:pt x="1849" y="650"/>
                  <a:pt x="1872" y="678"/>
                </a:cubicBezTo>
                <a:cubicBezTo>
                  <a:pt x="1895" y="706"/>
                  <a:pt x="1936" y="734"/>
                  <a:pt x="1968" y="774"/>
                </a:cubicBezTo>
                <a:cubicBezTo>
                  <a:pt x="2000" y="814"/>
                  <a:pt x="2030" y="877"/>
                  <a:pt x="2064" y="918"/>
                </a:cubicBezTo>
                <a:cubicBezTo>
                  <a:pt x="2098" y="959"/>
                  <a:pt x="2133" y="995"/>
                  <a:pt x="2173" y="1019"/>
                </a:cubicBezTo>
                <a:cubicBezTo>
                  <a:pt x="2213" y="1043"/>
                  <a:pt x="2250" y="1047"/>
                  <a:pt x="2304" y="1062"/>
                </a:cubicBezTo>
                <a:cubicBezTo>
                  <a:pt x="2358" y="1077"/>
                  <a:pt x="2411" y="1093"/>
                  <a:pt x="2495" y="1108"/>
                </a:cubicBezTo>
                <a:cubicBezTo>
                  <a:pt x="2579" y="1123"/>
                  <a:pt x="2741" y="1143"/>
                  <a:pt x="2806" y="1152"/>
                </a:cubicBezTo>
              </a:path>
            </a:pathLst>
          </a:custGeom>
          <a:noFill/>
          <a:ln w="38100" cap="flat" cmpd="sng">
            <a:solidFill>
              <a:srgbClr val="D8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6390" name="Line 7">
            <a:extLst>
              <a:ext uri="{FF2B5EF4-FFF2-40B4-BE49-F238E27FC236}">
                <a16:creationId xmlns:a16="http://schemas.microsoft.com/office/drawing/2014/main" id="{21DBB038-F60F-421D-B768-9C340311E6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1828800"/>
            <a:ext cx="0" cy="297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grpSp>
        <p:nvGrpSpPr>
          <p:cNvPr id="16391" name="Group 8">
            <a:extLst>
              <a:ext uri="{FF2B5EF4-FFF2-40B4-BE49-F238E27FC236}">
                <a16:creationId xmlns:a16="http://schemas.microsoft.com/office/drawing/2014/main" id="{98DA45AF-514D-4D48-8FD1-80F58451C2EB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752599"/>
            <a:ext cx="3962400" cy="457200"/>
            <a:chOff x="576" y="1104"/>
            <a:chExt cx="2496" cy="288"/>
          </a:xfrm>
        </p:grpSpPr>
        <p:sp>
          <p:nvSpPr>
            <p:cNvPr id="16396" name="Line 9">
              <a:extLst>
                <a:ext uri="{FF2B5EF4-FFF2-40B4-BE49-F238E27FC236}">
                  <a16:creationId xmlns:a16="http://schemas.microsoft.com/office/drawing/2014/main" id="{5F226619-8E8F-47F4-9947-530611CC07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1392"/>
              <a:ext cx="23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16397" name="Text Box 10">
              <a:extLst>
                <a:ext uri="{FF2B5EF4-FFF2-40B4-BE49-F238E27FC236}">
                  <a16:creationId xmlns:a16="http://schemas.microsoft.com/office/drawing/2014/main" id="{70CB1F0F-DD71-47D3-A973-75A8ABDCD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104"/>
              <a:ext cx="24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s-ES" sz="2001" dirty="0">
                  <a:latin typeface="Comic Sans MS" panose="030F0702030302020204" pitchFamily="66" charset="0"/>
                </a:rPr>
                <a:t>Call these patients “negative”</a:t>
              </a:r>
            </a:p>
          </p:txBody>
        </p:sp>
      </p:grpSp>
      <p:grpSp>
        <p:nvGrpSpPr>
          <p:cNvPr id="16392" name="Group 11">
            <a:extLst>
              <a:ext uri="{FF2B5EF4-FFF2-40B4-BE49-F238E27FC236}">
                <a16:creationId xmlns:a16="http://schemas.microsoft.com/office/drawing/2014/main" id="{27CA594C-9761-4C59-850C-CE41C6E3A92E}"/>
              </a:ext>
            </a:extLst>
          </p:cNvPr>
          <p:cNvGrpSpPr>
            <a:grpSpLocks/>
          </p:cNvGrpSpPr>
          <p:nvPr/>
        </p:nvGrpSpPr>
        <p:grpSpPr bwMode="auto">
          <a:xfrm>
            <a:off x="6477001" y="1752599"/>
            <a:ext cx="3962400" cy="457200"/>
            <a:chOff x="3120" y="1104"/>
            <a:chExt cx="2496" cy="288"/>
          </a:xfrm>
        </p:grpSpPr>
        <p:sp>
          <p:nvSpPr>
            <p:cNvPr id="16394" name="Line 12">
              <a:extLst>
                <a:ext uri="{FF2B5EF4-FFF2-40B4-BE49-F238E27FC236}">
                  <a16:creationId xmlns:a16="http://schemas.microsoft.com/office/drawing/2014/main" id="{265365A4-7B8C-46EF-BB88-A037BD5153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392"/>
              <a:ext cx="20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16395" name="Text Box 13">
              <a:extLst>
                <a:ext uri="{FF2B5EF4-FFF2-40B4-BE49-F238E27FC236}">
                  <a16:creationId xmlns:a16="http://schemas.microsoft.com/office/drawing/2014/main" id="{2D236F37-7AEE-4025-89F5-6F4FAB728B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104"/>
              <a:ext cx="24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s-ES" sz="2001" dirty="0">
                  <a:latin typeface="Comic Sans MS" panose="030F0702030302020204" pitchFamily="66" charset="0"/>
                </a:rPr>
                <a:t>Call these patients “positive”</a:t>
              </a:r>
            </a:p>
          </p:txBody>
        </p:sp>
      </p:grpSp>
      <p:sp>
        <p:nvSpPr>
          <p:cNvPr id="16393" name="Rectangle 14">
            <a:extLst>
              <a:ext uri="{FF2B5EF4-FFF2-40B4-BE49-F238E27FC236}">
                <a16:creationId xmlns:a16="http://schemas.microsoft.com/office/drawing/2014/main" id="{6420758A-65BB-44B0-A98C-8988076794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s-ES" sz="2902" dirty="0"/>
              <a:t>Threshold</a:t>
            </a:r>
          </a:p>
        </p:txBody>
      </p:sp>
    </p:spTree>
    <p:extLst>
      <p:ext uri="{BB962C8B-B14F-4D97-AF65-F5344CB8AC3E}">
        <p14:creationId xmlns:p14="http://schemas.microsoft.com/office/powerpoint/2010/main" val="1269991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2">
            <a:extLst>
              <a:ext uri="{FF2B5EF4-FFF2-40B4-BE49-F238E27FC236}">
                <a16:creationId xmlns:a16="http://schemas.microsoft.com/office/drawing/2014/main" id="{C4E600C4-67FD-420E-8F3C-1A8EE3C33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1" y="4648200"/>
            <a:ext cx="7162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id="{FECB4858-5AE1-4EE2-9364-AA1054F2E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105401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400">
                <a:latin typeface="Comic Sans MS" panose="030F0702030302020204" pitchFamily="66" charset="0"/>
              </a:rPr>
              <a:t>Test Result</a:t>
            </a:r>
          </a:p>
        </p:txBody>
      </p:sp>
      <p:sp>
        <p:nvSpPr>
          <p:cNvPr id="17412" name="Freeform 4">
            <a:extLst>
              <a:ext uri="{FF2B5EF4-FFF2-40B4-BE49-F238E27FC236}">
                <a16:creationId xmlns:a16="http://schemas.microsoft.com/office/drawing/2014/main" id="{D57FE5C2-9357-41E8-87CC-BEE20A89CBF2}"/>
              </a:ext>
            </a:extLst>
          </p:cNvPr>
          <p:cNvSpPr>
            <a:spLocks/>
          </p:cNvSpPr>
          <p:nvPr/>
        </p:nvSpPr>
        <p:spPr bwMode="auto">
          <a:xfrm>
            <a:off x="5105401" y="2819400"/>
            <a:ext cx="3933825" cy="1819275"/>
          </a:xfrm>
          <a:custGeom>
            <a:avLst/>
            <a:gdLst>
              <a:gd name="T0" fmla="*/ 0 w 2478"/>
              <a:gd name="T1" fmla="*/ 2147483647 h 1146"/>
              <a:gd name="T2" fmla="*/ 2147483647 w 2478"/>
              <a:gd name="T3" fmla="*/ 2147483647 h 1146"/>
              <a:gd name="T4" fmla="*/ 2147483647 w 2478"/>
              <a:gd name="T5" fmla="*/ 2147483647 h 1146"/>
              <a:gd name="T6" fmla="*/ 2147483647 w 2478"/>
              <a:gd name="T7" fmla="*/ 2147483647 h 1146"/>
              <a:gd name="T8" fmla="*/ 2147483647 w 2478"/>
              <a:gd name="T9" fmla="*/ 2147483647 h 1146"/>
              <a:gd name="T10" fmla="*/ 2147483647 w 2478"/>
              <a:gd name="T11" fmla="*/ 2147483647 h 1146"/>
              <a:gd name="T12" fmla="*/ 2147483647 w 2478"/>
              <a:gd name="T13" fmla="*/ 2147483647 h 1146"/>
              <a:gd name="T14" fmla="*/ 2147483647 w 2478"/>
              <a:gd name="T15" fmla="*/ 2147483647 h 1146"/>
              <a:gd name="T16" fmla="*/ 2147483647 w 2478"/>
              <a:gd name="T17" fmla="*/ 2147483647 h 1146"/>
              <a:gd name="T18" fmla="*/ 2147483647 w 2478"/>
              <a:gd name="T19" fmla="*/ 2147483647 h 1146"/>
              <a:gd name="T20" fmla="*/ 2147483647 w 2478"/>
              <a:gd name="T21" fmla="*/ 2147483647 h 1146"/>
              <a:gd name="T22" fmla="*/ 2147483647 w 2478"/>
              <a:gd name="T23" fmla="*/ 2147483647 h 1146"/>
              <a:gd name="T24" fmla="*/ 2147483647 w 2478"/>
              <a:gd name="T25" fmla="*/ 2147483647 h 1146"/>
              <a:gd name="T26" fmla="*/ 2147483647 w 2478"/>
              <a:gd name="T27" fmla="*/ 2147483647 h 114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478"/>
              <a:gd name="T43" fmla="*/ 0 h 1146"/>
              <a:gd name="T44" fmla="*/ 2478 w 2478"/>
              <a:gd name="T45" fmla="*/ 1146 h 114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478" h="1146">
                <a:moveTo>
                  <a:pt x="0" y="1146"/>
                </a:moveTo>
                <a:cubicBezTo>
                  <a:pt x="57" y="1137"/>
                  <a:pt x="267" y="1110"/>
                  <a:pt x="356" y="1079"/>
                </a:cubicBezTo>
                <a:cubicBezTo>
                  <a:pt x="445" y="1048"/>
                  <a:pt x="477" y="1028"/>
                  <a:pt x="534" y="960"/>
                </a:cubicBezTo>
                <a:cubicBezTo>
                  <a:pt x="591" y="892"/>
                  <a:pt x="644" y="772"/>
                  <a:pt x="700" y="668"/>
                </a:cubicBezTo>
                <a:cubicBezTo>
                  <a:pt x="756" y="564"/>
                  <a:pt x="802" y="439"/>
                  <a:pt x="870" y="336"/>
                </a:cubicBezTo>
                <a:cubicBezTo>
                  <a:pt x="938" y="233"/>
                  <a:pt x="1046" y="96"/>
                  <a:pt x="1110" y="48"/>
                </a:cubicBezTo>
                <a:cubicBezTo>
                  <a:pt x="1174" y="0"/>
                  <a:pt x="1206" y="16"/>
                  <a:pt x="1254" y="48"/>
                </a:cubicBezTo>
                <a:cubicBezTo>
                  <a:pt x="1302" y="80"/>
                  <a:pt x="1350" y="152"/>
                  <a:pt x="1398" y="240"/>
                </a:cubicBezTo>
                <a:cubicBezTo>
                  <a:pt x="1446" y="328"/>
                  <a:pt x="1501" y="484"/>
                  <a:pt x="1542" y="576"/>
                </a:cubicBezTo>
                <a:cubicBezTo>
                  <a:pt x="1583" y="668"/>
                  <a:pt x="1606" y="730"/>
                  <a:pt x="1645" y="790"/>
                </a:cubicBezTo>
                <a:cubicBezTo>
                  <a:pt x="1684" y="850"/>
                  <a:pt x="1739" y="899"/>
                  <a:pt x="1778" y="935"/>
                </a:cubicBezTo>
                <a:cubicBezTo>
                  <a:pt x="1817" y="971"/>
                  <a:pt x="1837" y="980"/>
                  <a:pt x="1878" y="1008"/>
                </a:cubicBezTo>
                <a:cubicBezTo>
                  <a:pt x="1919" y="1036"/>
                  <a:pt x="1922" y="1085"/>
                  <a:pt x="2022" y="1104"/>
                </a:cubicBezTo>
                <a:cubicBezTo>
                  <a:pt x="2122" y="1123"/>
                  <a:pt x="2383" y="1120"/>
                  <a:pt x="2478" y="1124"/>
                </a:cubicBezTo>
              </a:path>
            </a:pathLst>
          </a:cu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7413" name="Line 5">
            <a:extLst>
              <a:ext uri="{FF2B5EF4-FFF2-40B4-BE49-F238E27FC236}">
                <a16:creationId xmlns:a16="http://schemas.microsoft.com/office/drawing/2014/main" id="{DDFD951B-61C7-4018-AEC8-E5C8DB667E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1828800"/>
            <a:ext cx="0" cy="297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grpSp>
        <p:nvGrpSpPr>
          <p:cNvPr id="17414" name="Group 6">
            <a:extLst>
              <a:ext uri="{FF2B5EF4-FFF2-40B4-BE49-F238E27FC236}">
                <a16:creationId xmlns:a16="http://schemas.microsoft.com/office/drawing/2014/main" id="{0D0E0098-9DCC-40D6-9C84-91EE28302C3F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752599"/>
            <a:ext cx="3962400" cy="457200"/>
            <a:chOff x="576" y="1104"/>
            <a:chExt cx="2496" cy="288"/>
          </a:xfrm>
        </p:grpSpPr>
        <p:sp>
          <p:nvSpPr>
            <p:cNvPr id="17424" name="Line 7">
              <a:extLst>
                <a:ext uri="{FF2B5EF4-FFF2-40B4-BE49-F238E27FC236}">
                  <a16:creationId xmlns:a16="http://schemas.microsoft.com/office/drawing/2014/main" id="{E8232D2D-19BE-41F1-80E3-47F4F1529D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1392"/>
              <a:ext cx="23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17425" name="Text Box 8">
              <a:extLst>
                <a:ext uri="{FF2B5EF4-FFF2-40B4-BE49-F238E27FC236}">
                  <a16:creationId xmlns:a16="http://schemas.microsoft.com/office/drawing/2014/main" id="{1F354B3D-863C-419E-8671-51A38376FA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104"/>
              <a:ext cx="24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s-ES" sz="2001">
                  <a:latin typeface="Comic Sans MS" panose="030F0702030302020204" pitchFamily="66" charset="0"/>
                </a:rPr>
                <a:t>Call these patients “negative”</a:t>
              </a:r>
            </a:p>
          </p:txBody>
        </p:sp>
      </p:grpSp>
      <p:grpSp>
        <p:nvGrpSpPr>
          <p:cNvPr id="17415" name="Group 9">
            <a:extLst>
              <a:ext uri="{FF2B5EF4-FFF2-40B4-BE49-F238E27FC236}">
                <a16:creationId xmlns:a16="http://schemas.microsoft.com/office/drawing/2014/main" id="{0E196B5C-6EAF-4604-BC24-042E3304223C}"/>
              </a:ext>
            </a:extLst>
          </p:cNvPr>
          <p:cNvGrpSpPr>
            <a:grpSpLocks/>
          </p:cNvGrpSpPr>
          <p:nvPr/>
        </p:nvGrpSpPr>
        <p:grpSpPr bwMode="auto">
          <a:xfrm>
            <a:off x="6477001" y="1752599"/>
            <a:ext cx="3962400" cy="457200"/>
            <a:chOff x="3120" y="1104"/>
            <a:chExt cx="2496" cy="288"/>
          </a:xfrm>
        </p:grpSpPr>
        <p:sp>
          <p:nvSpPr>
            <p:cNvPr id="17422" name="Line 10">
              <a:extLst>
                <a:ext uri="{FF2B5EF4-FFF2-40B4-BE49-F238E27FC236}">
                  <a16:creationId xmlns:a16="http://schemas.microsoft.com/office/drawing/2014/main" id="{8602AAF3-93D5-4A31-808A-0EDBBCEB0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392"/>
              <a:ext cx="20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17423" name="Text Box 11">
              <a:extLst>
                <a:ext uri="{FF2B5EF4-FFF2-40B4-BE49-F238E27FC236}">
                  <a16:creationId xmlns:a16="http://schemas.microsoft.com/office/drawing/2014/main" id="{293555C4-6720-42A6-BF94-6B50B23633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104"/>
              <a:ext cx="24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s-ES" sz="2001">
                  <a:latin typeface="Comic Sans MS" panose="030F0702030302020204" pitchFamily="66" charset="0"/>
                </a:rPr>
                <a:t>Call these patients “positive”</a:t>
              </a:r>
            </a:p>
          </p:txBody>
        </p:sp>
      </p:grpSp>
      <p:sp>
        <p:nvSpPr>
          <p:cNvPr id="17416" name="Freeform 13">
            <a:extLst>
              <a:ext uri="{FF2B5EF4-FFF2-40B4-BE49-F238E27FC236}">
                <a16:creationId xmlns:a16="http://schemas.microsoft.com/office/drawing/2014/main" id="{F2067AB4-3A66-4D4A-BABD-4A7AFE6D3F30}"/>
              </a:ext>
            </a:extLst>
          </p:cNvPr>
          <p:cNvSpPr>
            <a:spLocks/>
          </p:cNvSpPr>
          <p:nvPr/>
        </p:nvSpPr>
        <p:spPr bwMode="auto">
          <a:xfrm>
            <a:off x="6400802" y="2825751"/>
            <a:ext cx="2590800" cy="1827213"/>
          </a:xfrm>
          <a:custGeom>
            <a:avLst/>
            <a:gdLst>
              <a:gd name="T0" fmla="*/ 0 w 1632"/>
              <a:gd name="T1" fmla="*/ 2147483647 h 1151"/>
              <a:gd name="T2" fmla="*/ 2147483647 w 1632"/>
              <a:gd name="T3" fmla="*/ 2147483647 h 1151"/>
              <a:gd name="T4" fmla="*/ 2147483647 w 1632"/>
              <a:gd name="T5" fmla="*/ 2147483647 h 1151"/>
              <a:gd name="T6" fmla="*/ 2147483647 w 1632"/>
              <a:gd name="T7" fmla="*/ 2147483647 h 1151"/>
              <a:gd name="T8" fmla="*/ 2147483647 w 1632"/>
              <a:gd name="T9" fmla="*/ 2147483647 h 1151"/>
              <a:gd name="T10" fmla="*/ 2147483647 w 1632"/>
              <a:gd name="T11" fmla="*/ 0 h 1151"/>
              <a:gd name="T12" fmla="*/ 2147483647 w 1632"/>
              <a:gd name="T13" fmla="*/ 2147483647 h 1151"/>
              <a:gd name="T14" fmla="*/ 2147483647 w 1632"/>
              <a:gd name="T15" fmla="*/ 2147483647 h 1151"/>
              <a:gd name="T16" fmla="*/ 2147483647 w 1632"/>
              <a:gd name="T17" fmla="*/ 2147483647 h 1151"/>
              <a:gd name="T18" fmla="*/ 2147483647 w 1632"/>
              <a:gd name="T19" fmla="*/ 2147483647 h 1151"/>
              <a:gd name="T20" fmla="*/ 2147483647 w 1632"/>
              <a:gd name="T21" fmla="*/ 2147483647 h 1151"/>
              <a:gd name="T22" fmla="*/ 2147483647 w 1632"/>
              <a:gd name="T23" fmla="*/ 2147483647 h 1151"/>
              <a:gd name="T24" fmla="*/ 2147483647 w 1632"/>
              <a:gd name="T25" fmla="*/ 2147483647 h 1151"/>
              <a:gd name="T26" fmla="*/ 2147483647 w 1632"/>
              <a:gd name="T27" fmla="*/ 2147483647 h 1151"/>
              <a:gd name="T28" fmla="*/ 2147483647 w 1632"/>
              <a:gd name="T29" fmla="*/ 2147483647 h 1151"/>
              <a:gd name="T30" fmla="*/ 2147483647 w 1632"/>
              <a:gd name="T31" fmla="*/ 2147483647 h 1151"/>
              <a:gd name="T32" fmla="*/ 2147483647 w 1632"/>
              <a:gd name="T33" fmla="*/ 2147483647 h 1151"/>
              <a:gd name="T34" fmla="*/ 0 w 1632"/>
              <a:gd name="T35" fmla="*/ 2147483647 h 1151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632"/>
              <a:gd name="T55" fmla="*/ 0 h 1151"/>
              <a:gd name="T56" fmla="*/ 1632 w 1632"/>
              <a:gd name="T57" fmla="*/ 1151 h 1151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632" h="1151">
                <a:moveTo>
                  <a:pt x="0" y="428"/>
                </a:moveTo>
                <a:lnTo>
                  <a:pt x="48" y="332"/>
                </a:lnTo>
                <a:lnTo>
                  <a:pt x="92" y="280"/>
                </a:lnTo>
                <a:lnTo>
                  <a:pt x="172" y="172"/>
                </a:lnTo>
                <a:lnTo>
                  <a:pt x="240" y="92"/>
                </a:lnTo>
                <a:lnTo>
                  <a:pt x="324" y="0"/>
                </a:lnTo>
                <a:lnTo>
                  <a:pt x="408" y="12"/>
                </a:lnTo>
                <a:lnTo>
                  <a:pt x="480" y="52"/>
                </a:lnTo>
                <a:lnTo>
                  <a:pt x="576" y="236"/>
                </a:lnTo>
                <a:lnTo>
                  <a:pt x="672" y="428"/>
                </a:lnTo>
                <a:lnTo>
                  <a:pt x="768" y="668"/>
                </a:lnTo>
                <a:lnTo>
                  <a:pt x="879" y="848"/>
                </a:lnTo>
                <a:lnTo>
                  <a:pt x="1080" y="1016"/>
                </a:lnTo>
                <a:lnTo>
                  <a:pt x="1156" y="1088"/>
                </a:lnTo>
                <a:lnTo>
                  <a:pt x="1419" y="1115"/>
                </a:lnTo>
                <a:lnTo>
                  <a:pt x="1632" y="1142"/>
                </a:lnTo>
                <a:lnTo>
                  <a:pt x="3" y="1151"/>
                </a:lnTo>
                <a:lnTo>
                  <a:pt x="0" y="428"/>
                </a:lnTo>
                <a:close/>
              </a:path>
            </a:pathLst>
          </a:custGeom>
          <a:solidFill>
            <a:srgbClr val="0000FF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7417" name="Text Box 14">
            <a:extLst>
              <a:ext uri="{FF2B5EF4-FFF2-40B4-BE49-F238E27FC236}">
                <a16:creationId xmlns:a16="http://schemas.microsoft.com/office/drawing/2014/main" id="{DD51FF41-B0A0-4C46-A14E-784AC42E9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5943602"/>
            <a:ext cx="2971800" cy="4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001" b="1" dirty="0">
                <a:solidFill>
                  <a:srgbClr val="D80000"/>
                </a:solidFill>
                <a:latin typeface="Comic Sans MS" panose="030F0702030302020204" pitchFamily="66" charset="0"/>
              </a:rPr>
              <a:t>without the disease</a:t>
            </a:r>
          </a:p>
        </p:txBody>
      </p:sp>
      <p:sp>
        <p:nvSpPr>
          <p:cNvPr id="17418" name="Text Box 15">
            <a:extLst>
              <a:ext uri="{FF2B5EF4-FFF2-40B4-BE49-F238E27FC236}">
                <a16:creationId xmlns:a16="http://schemas.microsoft.com/office/drawing/2014/main" id="{029F8B67-3A9F-4C6E-8FE8-9FDDDB5FC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6248402"/>
            <a:ext cx="3048000" cy="4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001" b="1">
                <a:solidFill>
                  <a:srgbClr val="0033CC"/>
                </a:solidFill>
                <a:latin typeface="Comic Sans MS" panose="030F0702030302020204" pitchFamily="66" charset="0"/>
              </a:rPr>
              <a:t>with the disease</a:t>
            </a:r>
          </a:p>
        </p:txBody>
      </p:sp>
      <p:sp>
        <p:nvSpPr>
          <p:cNvPr id="17419" name="AutoShape 16">
            <a:extLst>
              <a:ext uri="{FF2B5EF4-FFF2-40B4-BE49-F238E27FC236}">
                <a16:creationId xmlns:a16="http://schemas.microsoft.com/office/drawing/2014/main" id="{4DC7CEDD-D2D0-45D9-9242-29AD2F01B04C}"/>
              </a:ext>
            </a:extLst>
          </p:cNvPr>
          <p:cNvSpPr>
            <a:spLocks/>
          </p:cNvSpPr>
          <p:nvPr/>
        </p:nvSpPr>
        <p:spPr bwMode="auto">
          <a:xfrm>
            <a:off x="7620001" y="2408240"/>
            <a:ext cx="2667000" cy="461665"/>
          </a:xfrm>
          <a:prstGeom prst="borderCallout1">
            <a:avLst>
              <a:gd name="adj1" fmla="val 23079"/>
              <a:gd name="adj2" fmla="val -2856"/>
              <a:gd name="adj3" fmla="val 215384"/>
              <a:gd name="adj4" fmla="val -1291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s-ES" sz="2400" b="1">
                <a:latin typeface="Comic Sans MS" panose="030F0702030302020204" pitchFamily="66" charset="0"/>
              </a:rPr>
              <a:t>True Positives</a:t>
            </a:r>
          </a:p>
        </p:txBody>
      </p:sp>
      <p:sp>
        <p:nvSpPr>
          <p:cNvPr id="17420" name="Freeform 17">
            <a:extLst>
              <a:ext uri="{FF2B5EF4-FFF2-40B4-BE49-F238E27FC236}">
                <a16:creationId xmlns:a16="http://schemas.microsoft.com/office/drawing/2014/main" id="{F642D422-92D2-453B-8930-A2AE51991602}"/>
              </a:ext>
            </a:extLst>
          </p:cNvPr>
          <p:cNvSpPr>
            <a:spLocks/>
          </p:cNvSpPr>
          <p:nvPr/>
        </p:nvSpPr>
        <p:spPr bwMode="auto">
          <a:xfrm>
            <a:off x="3200401" y="2819400"/>
            <a:ext cx="4454524" cy="1838325"/>
          </a:xfrm>
          <a:custGeom>
            <a:avLst/>
            <a:gdLst>
              <a:gd name="T0" fmla="*/ 0 w 2806"/>
              <a:gd name="T1" fmla="*/ 2147483647 h 1158"/>
              <a:gd name="T2" fmla="*/ 2147483647 w 2806"/>
              <a:gd name="T3" fmla="*/ 2147483647 h 1158"/>
              <a:gd name="T4" fmla="*/ 2147483647 w 2806"/>
              <a:gd name="T5" fmla="*/ 2147483647 h 1158"/>
              <a:gd name="T6" fmla="*/ 2147483647 w 2806"/>
              <a:gd name="T7" fmla="*/ 2147483647 h 1158"/>
              <a:gd name="T8" fmla="*/ 2147483647 w 2806"/>
              <a:gd name="T9" fmla="*/ 2147483647 h 1158"/>
              <a:gd name="T10" fmla="*/ 2147483647 w 2806"/>
              <a:gd name="T11" fmla="*/ 2147483647 h 1158"/>
              <a:gd name="T12" fmla="*/ 2147483647 w 2806"/>
              <a:gd name="T13" fmla="*/ 2147483647 h 1158"/>
              <a:gd name="T14" fmla="*/ 2147483647 w 2806"/>
              <a:gd name="T15" fmla="*/ 2147483647 h 1158"/>
              <a:gd name="T16" fmla="*/ 2147483647 w 2806"/>
              <a:gd name="T17" fmla="*/ 2147483647 h 1158"/>
              <a:gd name="T18" fmla="*/ 2147483647 w 2806"/>
              <a:gd name="T19" fmla="*/ 2147483647 h 1158"/>
              <a:gd name="T20" fmla="*/ 2147483647 w 2806"/>
              <a:gd name="T21" fmla="*/ 2147483647 h 1158"/>
              <a:gd name="T22" fmla="*/ 2147483647 w 2806"/>
              <a:gd name="T23" fmla="*/ 2147483647 h 1158"/>
              <a:gd name="T24" fmla="*/ 2147483647 w 2806"/>
              <a:gd name="T25" fmla="*/ 2147483647 h 1158"/>
              <a:gd name="T26" fmla="*/ 2147483647 w 2806"/>
              <a:gd name="T27" fmla="*/ 2147483647 h 1158"/>
              <a:gd name="T28" fmla="*/ 2147483647 w 2806"/>
              <a:gd name="T29" fmla="*/ 2147483647 h 1158"/>
              <a:gd name="T30" fmla="*/ 2147483647 w 2806"/>
              <a:gd name="T31" fmla="*/ 2147483647 h 1158"/>
              <a:gd name="T32" fmla="*/ 2147483647 w 2806"/>
              <a:gd name="T33" fmla="*/ 2147483647 h 1158"/>
              <a:gd name="T34" fmla="*/ 2147483647 w 2806"/>
              <a:gd name="T35" fmla="*/ 2147483647 h 1158"/>
              <a:gd name="T36" fmla="*/ 2147483647 w 2806"/>
              <a:gd name="T37" fmla="*/ 2147483647 h 1158"/>
              <a:gd name="T38" fmla="*/ 2147483647 w 2806"/>
              <a:gd name="T39" fmla="*/ 2147483647 h 1158"/>
              <a:gd name="T40" fmla="*/ 2147483647 w 2806"/>
              <a:gd name="T41" fmla="*/ 2147483647 h 115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806"/>
              <a:gd name="T64" fmla="*/ 0 h 1158"/>
              <a:gd name="T65" fmla="*/ 2806 w 2806"/>
              <a:gd name="T66" fmla="*/ 1158 h 1158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806" h="1158">
                <a:moveTo>
                  <a:pt x="0" y="1158"/>
                </a:moveTo>
                <a:cubicBezTo>
                  <a:pt x="92" y="1146"/>
                  <a:pt x="184" y="1134"/>
                  <a:pt x="240" y="1110"/>
                </a:cubicBezTo>
                <a:cubicBezTo>
                  <a:pt x="296" y="1086"/>
                  <a:pt x="288" y="1062"/>
                  <a:pt x="336" y="1014"/>
                </a:cubicBezTo>
                <a:cubicBezTo>
                  <a:pt x="384" y="966"/>
                  <a:pt x="479" y="880"/>
                  <a:pt x="528" y="822"/>
                </a:cubicBezTo>
                <a:cubicBezTo>
                  <a:pt x="577" y="764"/>
                  <a:pt x="589" y="726"/>
                  <a:pt x="628" y="663"/>
                </a:cubicBezTo>
                <a:cubicBezTo>
                  <a:pt x="667" y="600"/>
                  <a:pt x="710" y="508"/>
                  <a:pt x="762" y="441"/>
                </a:cubicBezTo>
                <a:cubicBezTo>
                  <a:pt x="814" y="374"/>
                  <a:pt x="882" y="319"/>
                  <a:pt x="939" y="263"/>
                </a:cubicBezTo>
                <a:cubicBezTo>
                  <a:pt x="996" y="207"/>
                  <a:pt x="1049" y="144"/>
                  <a:pt x="1104" y="102"/>
                </a:cubicBezTo>
                <a:cubicBezTo>
                  <a:pt x="1159" y="60"/>
                  <a:pt x="1217" y="16"/>
                  <a:pt x="1273" y="8"/>
                </a:cubicBezTo>
                <a:cubicBezTo>
                  <a:pt x="1329" y="0"/>
                  <a:pt x="1388" y="22"/>
                  <a:pt x="1440" y="54"/>
                </a:cubicBezTo>
                <a:cubicBezTo>
                  <a:pt x="1492" y="86"/>
                  <a:pt x="1545" y="147"/>
                  <a:pt x="1584" y="198"/>
                </a:cubicBezTo>
                <a:cubicBezTo>
                  <a:pt x="1623" y="249"/>
                  <a:pt x="1649" y="315"/>
                  <a:pt x="1673" y="363"/>
                </a:cubicBezTo>
                <a:cubicBezTo>
                  <a:pt x="1697" y="411"/>
                  <a:pt x="1702" y="445"/>
                  <a:pt x="1728" y="486"/>
                </a:cubicBezTo>
                <a:cubicBezTo>
                  <a:pt x="1754" y="527"/>
                  <a:pt x="1804" y="576"/>
                  <a:pt x="1828" y="608"/>
                </a:cubicBezTo>
                <a:cubicBezTo>
                  <a:pt x="1852" y="640"/>
                  <a:pt x="1849" y="650"/>
                  <a:pt x="1872" y="678"/>
                </a:cubicBezTo>
                <a:cubicBezTo>
                  <a:pt x="1895" y="706"/>
                  <a:pt x="1936" y="734"/>
                  <a:pt x="1968" y="774"/>
                </a:cubicBezTo>
                <a:cubicBezTo>
                  <a:pt x="2000" y="814"/>
                  <a:pt x="2030" y="877"/>
                  <a:pt x="2064" y="918"/>
                </a:cubicBezTo>
                <a:cubicBezTo>
                  <a:pt x="2098" y="959"/>
                  <a:pt x="2133" y="995"/>
                  <a:pt x="2173" y="1019"/>
                </a:cubicBezTo>
                <a:cubicBezTo>
                  <a:pt x="2213" y="1043"/>
                  <a:pt x="2250" y="1047"/>
                  <a:pt x="2304" y="1062"/>
                </a:cubicBezTo>
                <a:cubicBezTo>
                  <a:pt x="2358" y="1077"/>
                  <a:pt x="2411" y="1093"/>
                  <a:pt x="2495" y="1108"/>
                </a:cubicBezTo>
                <a:cubicBezTo>
                  <a:pt x="2579" y="1123"/>
                  <a:pt x="2741" y="1143"/>
                  <a:pt x="2806" y="1152"/>
                </a:cubicBezTo>
              </a:path>
            </a:pathLst>
          </a:custGeom>
          <a:noFill/>
          <a:ln w="38100" cap="flat" cmpd="sng">
            <a:solidFill>
              <a:srgbClr val="D8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7421" name="Rectangle 18">
            <a:extLst>
              <a:ext uri="{FF2B5EF4-FFF2-40B4-BE49-F238E27FC236}">
                <a16:creationId xmlns:a16="http://schemas.microsoft.com/office/drawing/2014/main" id="{DB14100A-551D-4A1E-BE9C-CF78CAD663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s-ES" dirty="0"/>
              <a:t>Some definitions</a:t>
            </a:r>
          </a:p>
        </p:txBody>
      </p:sp>
    </p:spTree>
    <p:extLst>
      <p:ext uri="{BB962C8B-B14F-4D97-AF65-F5344CB8AC3E}">
        <p14:creationId xmlns:p14="http://schemas.microsoft.com/office/powerpoint/2010/main" val="365095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Line 2">
            <a:extLst>
              <a:ext uri="{FF2B5EF4-FFF2-40B4-BE49-F238E27FC236}">
                <a16:creationId xmlns:a16="http://schemas.microsoft.com/office/drawing/2014/main" id="{0363A2D2-03D1-4329-A39A-4C1B08B0FA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1" y="4648200"/>
            <a:ext cx="7162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18D08AA9-D6EB-48D3-9EDF-D1BCE63CC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105401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400">
                <a:latin typeface="Comic Sans MS" panose="030F0702030302020204" pitchFamily="66" charset="0"/>
              </a:rPr>
              <a:t>Test Result</a:t>
            </a:r>
          </a:p>
        </p:txBody>
      </p:sp>
      <p:sp>
        <p:nvSpPr>
          <p:cNvPr id="18436" name="Freeform 4">
            <a:extLst>
              <a:ext uri="{FF2B5EF4-FFF2-40B4-BE49-F238E27FC236}">
                <a16:creationId xmlns:a16="http://schemas.microsoft.com/office/drawing/2014/main" id="{339F3DAC-2DF7-4FD2-A192-00FCBED04896}"/>
              </a:ext>
            </a:extLst>
          </p:cNvPr>
          <p:cNvSpPr>
            <a:spLocks/>
          </p:cNvSpPr>
          <p:nvPr/>
        </p:nvSpPr>
        <p:spPr bwMode="auto">
          <a:xfrm>
            <a:off x="5105401" y="2819400"/>
            <a:ext cx="3933825" cy="1819275"/>
          </a:xfrm>
          <a:custGeom>
            <a:avLst/>
            <a:gdLst>
              <a:gd name="T0" fmla="*/ 0 w 2478"/>
              <a:gd name="T1" fmla="*/ 2147483647 h 1146"/>
              <a:gd name="T2" fmla="*/ 2147483647 w 2478"/>
              <a:gd name="T3" fmla="*/ 2147483647 h 1146"/>
              <a:gd name="T4" fmla="*/ 2147483647 w 2478"/>
              <a:gd name="T5" fmla="*/ 2147483647 h 1146"/>
              <a:gd name="T6" fmla="*/ 2147483647 w 2478"/>
              <a:gd name="T7" fmla="*/ 2147483647 h 1146"/>
              <a:gd name="T8" fmla="*/ 2147483647 w 2478"/>
              <a:gd name="T9" fmla="*/ 2147483647 h 1146"/>
              <a:gd name="T10" fmla="*/ 2147483647 w 2478"/>
              <a:gd name="T11" fmla="*/ 2147483647 h 1146"/>
              <a:gd name="T12" fmla="*/ 2147483647 w 2478"/>
              <a:gd name="T13" fmla="*/ 2147483647 h 1146"/>
              <a:gd name="T14" fmla="*/ 2147483647 w 2478"/>
              <a:gd name="T15" fmla="*/ 2147483647 h 1146"/>
              <a:gd name="T16" fmla="*/ 2147483647 w 2478"/>
              <a:gd name="T17" fmla="*/ 2147483647 h 1146"/>
              <a:gd name="T18" fmla="*/ 2147483647 w 2478"/>
              <a:gd name="T19" fmla="*/ 2147483647 h 1146"/>
              <a:gd name="T20" fmla="*/ 2147483647 w 2478"/>
              <a:gd name="T21" fmla="*/ 2147483647 h 1146"/>
              <a:gd name="T22" fmla="*/ 2147483647 w 2478"/>
              <a:gd name="T23" fmla="*/ 2147483647 h 1146"/>
              <a:gd name="T24" fmla="*/ 2147483647 w 2478"/>
              <a:gd name="T25" fmla="*/ 2147483647 h 1146"/>
              <a:gd name="T26" fmla="*/ 2147483647 w 2478"/>
              <a:gd name="T27" fmla="*/ 2147483647 h 114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478"/>
              <a:gd name="T43" fmla="*/ 0 h 1146"/>
              <a:gd name="T44" fmla="*/ 2478 w 2478"/>
              <a:gd name="T45" fmla="*/ 1146 h 114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478" h="1146">
                <a:moveTo>
                  <a:pt x="0" y="1146"/>
                </a:moveTo>
                <a:cubicBezTo>
                  <a:pt x="57" y="1137"/>
                  <a:pt x="267" y="1110"/>
                  <a:pt x="356" y="1079"/>
                </a:cubicBezTo>
                <a:cubicBezTo>
                  <a:pt x="445" y="1048"/>
                  <a:pt x="477" y="1028"/>
                  <a:pt x="534" y="960"/>
                </a:cubicBezTo>
                <a:cubicBezTo>
                  <a:pt x="591" y="892"/>
                  <a:pt x="644" y="772"/>
                  <a:pt x="700" y="668"/>
                </a:cubicBezTo>
                <a:cubicBezTo>
                  <a:pt x="756" y="564"/>
                  <a:pt x="802" y="439"/>
                  <a:pt x="870" y="336"/>
                </a:cubicBezTo>
                <a:cubicBezTo>
                  <a:pt x="938" y="233"/>
                  <a:pt x="1046" y="96"/>
                  <a:pt x="1110" y="48"/>
                </a:cubicBezTo>
                <a:cubicBezTo>
                  <a:pt x="1174" y="0"/>
                  <a:pt x="1206" y="16"/>
                  <a:pt x="1254" y="48"/>
                </a:cubicBezTo>
                <a:cubicBezTo>
                  <a:pt x="1302" y="80"/>
                  <a:pt x="1350" y="152"/>
                  <a:pt x="1398" y="240"/>
                </a:cubicBezTo>
                <a:cubicBezTo>
                  <a:pt x="1446" y="328"/>
                  <a:pt x="1501" y="484"/>
                  <a:pt x="1542" y="576"/>
                </a:cubicBezTo>
                <a:cubicBezTo>
                  <a:pt x="1583" y="668"/>
                  <a:pt x="1606" y="730"/>
                  <a:pt x="1645" y="790"/>
                </a:cubicBezTo>
                <a:cubicBezTo>
                  <a:pt x="1684" y="850"/>
                  <a:pt x="1739" y="899"/>
                  <a:pt x="1778" y="935"/>
                </a:cubicBezTo>
                <a:cubicBezTo>
                  <a:pt x="1817" y="971"/>
                  <a:pt x="1837" y="980"/>
                  <a:pt x="1878" y="1008"/>
                </a:cubicBezTo>
                <a:cubicBezTo>
                  <a:pt x="1919" y="1036"/>
                  <a:pt x="1922" y="1085"/>
                  <a:pt x="2022" y="1104"/>
                </a:cubicBezTo>
                <a:cubicBezTo>
                  <a:pt x="2122" y="1123"/>
                  <a:pt x="2383" y="1120"/>
                  <a:pt x="2478" y="1124"/>
                </a:cubicBezTo>
              </a:path>
            </a:pathLst>
          </a:cu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8437" name="Line 5">
            <a:extLst>
              <a:ext uri="{FF2B5EF4-FFF2-40B4-BE49-F238E27FC236}">
                <a16:creationId xmlns:a16="http://schemas.microsoft.com/office/drawing/2014/main" id="{E50F94F1-F99B-4DF5-9BBC-18CB46C1ED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1828800"/>
            <a:ext cx="0" cy="297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grpSp>
        <p:nvGrpSpPr>
          <p:cNvPr id="18438" name="Group 6">
            <a:extLst>
              <a:ext uri="{FF2B5EF4-FFF2-40B4-BE49-F238E27FC236}">
                <a16:creationId xmlns:a16="http://schemas.microsoft.com/office/drawing/2014/main" id="{7E8B07EF-6069-4899-A423-5F2E864AB0C9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752599"/>
            <a:ext cx="3962400" cy="457200"/>
            <a:chOff x="576" y="1104"/>
            <a:chExt cx="2496" cy="288"/>
          </a:xfrm>
        </p:grpSpPr>
        <p:sp>
          <p:nvSpPr>
            <p:cNvPr id="18448" name="Line 7">
              <a:extLst>
                <a:ext uri="{FF2B5EF4-FFF2-40B4-BE49-F238E27FC236}">
                  <a16:creationId xmlns:a16="http://schemas.microsoft.com/office/drawing/2014/main" id="{E80B7CE8-2AD7-4C22-96C5-45183FA361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1392"/>
              <a:ext cx="23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18449" name="Text Box 8">
              <a:extLst>
                <a:ext uri="{FF2B5EF4-FFF2-40B4-BE49-F238E27FC236}">
                  <a16:creationId xmlns:a16="http://schemas.microsoft.com/office/drawing/2014/main" id="{1C1F40F4-5DC2-4792-B4F4-15EFD2C6F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104"/>
              <a:ext cx="24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s-ES" sz="2001">
                  <a:latin typeface="Comic Sans MS" panose="030F0702030302020204" pitchFamily="66" charset="0"/>
                </a:rPr>
                <a:t>Call these patients “negative”</a:t>
              </a:r>
            </a:p>
          </p:txBody>
        </p:sp>
      </p:grpSp>
      <p:grpSp>
        <p:nvGrpSpPr>
          <p:cNvPr id="18439" name="Group 9">
            <a:extLst>
              <a:ext uri="{FF2B5EF4-FFF2-40B4-BE49-F238E27FC236}">
                <a16:creationId xmlns:a16="http://schemas.microsoft.com/office/drawing/2014/main" id="{09B721D3-4D9A-417C-9B47-DC3A90E7F7AA}"/>
              </a:ext>
            </a:extLst>
          </p:cNvPr>
          <p:cNvGrpSpPr>
            <a:grpSpLocks/>
          </p:cNvGrpSpPr>
          <p:nvPr/>
        </p:nvGrpSpPr>
        <p:grpSpPr bwMode="auto">
          <a:xfrm>
            <a:off x="6477001" y="1752599"/>
            <a:ext cx="3962400" cy="457200"/>
            <a:chOff x="3120" y="1104"/>
            <a:chExt cx="2496" cy="288"/>
          </a:xfrm>
        </p:grpSpPr>
        <p:sp>
          <p:nvSpPr>
            <p:cNvPr id="18446" name="Line 10">
              <a:extLst>
                <a:ext uri="{FF2B5EF4-FFF2-40B4-BE49-F238E27FC236}">
                  <a16:creationId xmlns:a16="http://schemas.microsoft.com/office/drawing/2014/main" id="{160BA751-AC89-465C-8846-7826AC9377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392"/>
              <a:ext cx="20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18447" name="Text Box 11">
              <a:extLst>
                <a:ext uri="{FF2B5EF4-FFF2-40B4-BE49-F238E27FC236}">
                  <a16:creationId xmlns:a16="http://schemas.microsoft.com/office/drawing/2014/main" id="{4ACAA7D4-C61B-477E-8AD3-1A002573B4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104"/>
              <a:ext cx="24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s-ES" sz="2001">
                  <a:latin typeface="Comic Sans MS" panose="030F0702030302020204" pitchFamily="66" charset="0"/>
                </a:rPr>
                <a:t>Call these patients “positive”</a:t>
              </a:r>
            </a:p>
          </p:txBody>
        </p:sp>
      </p:grpSp>
      <p:sp>
        <p:nvSpPr>
          <p:cNvPr id="18440" name="Text Box 12">
            <a:extLst>
              <a:ext uri="{FF2B5EF4-FFF2-40B4-BE49-F238E27FC236}">
                <a16:creationId xmlns:a16="http://schemas.microsoft.com/office/drawing/2014/main" id="{CAF42FE5-A790-46E4-8504-1C97EA52E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5943602"/>
            <a:ext cx="2971800" cy="4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001" b="1">
                <a:solidFill>
                  <a:srgbClr val="D80000"/>
                </a:solidFill>
                <a:latin typeface="Comic Sans MS" panose="030F0702030302020204" pitchFamily="66" charset="0"/>
              </a:rPr>
              <a:t>without the disease</a:t>
            </a:r>
          </a:p>
        </p:txBody>
      </p:sp>
      <p:sp>
        <p:nvSpPr>
          <p:cNvPr id="18441" name="Text Box 13">
            <a:extLst>
              <a:ext uri="{FF2B5EF4-FFF2-40B4-BE49-F238E27FC236}">
                <a16:creationId xmlns:a16="http://schemas.microsoft.com/office/drawing/2014/main" id="{48034AB4-525A-4EC1-A3EB-C587D405C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6248402"/>
            <a:ext cx="3048000" cy="4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001" b="1">
                <a:solidFill>
                  <a:srgbClr val="0033CC"/>
                </a:solidFill>
                <a:latin typeface="Comic Sans MS" panose="030F0702030302020204" pitchFamily="66" charset="0"/>
              </a:rPr>
              <a:t>with the disease</a:t>
            </a:r>
          </a:p>
        </p:txBody>
      </p:sp>
      <p:sp>
        <p:nvSpPr>
          <p:cNvPr id="18442" name="Freeform 14">
            <a:extLst>
              <a:ext uri="{FF2B5EF4-FFF2-40B4-BE49-F238E27FC236}">
                <a16:creationId xmlns:a16="http://schemas.microsoft.com/office/drawing/2014/main" id="{133645C3-95DF-4B80-A36D-E792647DFF74}"/>
              </a:ext>
            </a:extLst>
          </p:cNvPr>
          <p:cNvSpPr>
            <a:spLocks/>
          </p:cNvSpPr>
          <p:nvPr/>
        </p:nvSpPr>
        <p:spPr bwMode="auto">
          <a:xfrm>
            <a:off x="3200401" y="2819400"/>
            <a:ext cx="4454524" cy="1838325"/>
          </a:xfrm>
          <a:custGeom>
            <a:avLst/>
            <a:gdLst>
              <a:gd name="T0" fmla="*/ 0 w 2806"/>
              <a:gd name="T1" fmla="*/ 2147483647 h 1158"/>
              <a:gd name="T2" fmla="*/ 2147483647 w 2806"/>
              <a:gd name="T3" fmla="*/ 2147483647 h 1158"/>
              <a:gd name="T4" fmla="*/ 2147483647 w 2806"/>
              <a:gd name="T5" fmla="*/ 2147483647 h 1158"/>
              <a:gd name="T6" fmla="*/ 2147483647 w 2806"/>
              <a:gd name="T7" fmla="*/ 2147483647 h 1158"/>
              <a:gd name="T8" fmla="*/ 2147483647 w 2806"/>
              <a:gd name="T9" fmla="*/ 2147483647 h 1158"/>
              <a:gd name="T10" fmla="*/ 2147483647 w 2806"/>
              <a:gd name="T11" fmla="*/ 2147483647 h 1158"/>
              <a:gd name="T12" fmla="*/ 2147483647 w 2806"/>
              <a:gd name="T13" fmla="*/ 2147483647 h 1158"/>
              <a:gd name="T14" fmla="*/ 2147483647 w 2806"/>
              <a:gd name="T15" fmla="*/ 2147483647 h 1158"/>
              <a:gd name="T16" fmla="*/ 2147483647 w 2806"/>
              <a:gd name="T17" fmla="*/ 2147483647 h 1158"/>
              <a:gd name="T18" fmla="*/ 2147483647 w 2806"/>
              <a:gd name="T19" fmla="*/ 2147483647 h 1158"/>
              <a:gd name="T20" fmla="*/ 2147483647 w 2806"/>
              <a:gd name="T21" fmla="*/ 2147483647 h 1158"/>
              <a:gd name="T22" fmla="*/ 2147483647 w 2806"/>
              <a:gd name="T23" fmla="*/ 2147483647 h 1158"/>
              <a:gd name="T24" fmla="*/ 2147483647 w 2806"/>
              <a:gd name="T25" fmla="*/ 2147483647 h 1158"/>
              <a:gd name="T26" fmla="*/ 2147483647 w 2806"/>
              <a:gd name="T27" fmla="*/ 2147483647 h 1158"/>
              <a:gd name="T28" fmla="*/ 2147483647 w 2806"/>
              <a:gd name="T29" fmla="*/ 2147483647 h 1158"/>
              <a:gd name="T30" fmla="*/ 2147483647 w 2806"/>
              <a:gd name="T31" fmla="*/ 2147483647 h 1158"/>
              <a:gd name="T32" fmla="*/ 2147483647 w 2806"/>
              <a:gd name="T33" fmla="*/ 2147483647 h 1158"/>
              <a:gd name="T34" fmla="*/ 2147483647 w 2806"/>
              <a:gd name="T35" fmla="*/ 2147483647 h 1158"/>
              <a:gd name="T36" fmla="*/ 2147483647 w 2806"/>
              <a:gd name="T37" fmla="*/ 2147483647 h 1158"/>
              <a:gd name="T38" fmla="*/ 2147483647 w 2806"/>
              <a:gd name="T39" fmla="*/ 2147483647 h 1158"/>
              <a:gd name="T40" fmla="*/ 2147483647 w 2806"/>
              <a:gd name="T41" fmla="*/ 2147483647 h 115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806"/>
              <a:gd name="T64" fmla="*/ 0 h 1158"/>
              <a:gd name="T65" fmla="*/ 2806 w 2806"/>
              <a:gd name="T66" fmla="*/ 1158 h 1158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806" h="1158">
                <a:moveTo>
                  <a:pt x="0" y="1158"/>
                </a:moveTo>
                <a:cubicBezTo>
                  <a:pt x="92" y="1146"/>
                  <a:pt x="184" y="1134"/>
                  <a:pt x="240" y="1110"/>
                </a:cubicBezTo>
                <a:cubicBezTo>
                  <a:pt x="296" y="1086"/>
                  <a:pt x="288" y="1062"/>
                  <a:pt x="336" y="1014"/>
                </a:cubicBezTo>
                <a:cubicBezTo>
                  <a:pt x="384" y="966"/>
                  <a:pt x="479" y="880"/>
                  <a:pt x="528" y="822"/>
                </a:cubicBezTo>
                <a:cubicBezTo>
                  <a:pt x="577" y="764"/>
                  <a:pt x="589" y="726"/>
                  <a:pt x="628" y="663"/>
                </a:cubicBezTo>
                <a:cubicBezTo>
                  <a:pt x="667" y="600"/>
                  <a:pt x="710" y="508"/>
                  <a:pt x="762" y="441"/>
                </a:cubicBezTo>
                <a:cubicBezTo>
                  <a:pt x="814" y="374"/>
                  <a:pt x="882" y="319"/>
                  <a:pt x="939" y="263"/>
                </a:cubicBezTo>
                <a:cubicBezTo>
                  <a:pt x="996" y="207"/>
                  <a:pt x="1049" y="144"/>
                  <a:pt x="1104" y="102"/>
                </a:cubicBezTo>
                <a:cubicBezTo>
                  <a:pt x="1159" y="60"/>
                  <a:pt x="1217" y="16"/>
                  <a:pt x="1273" y="8"/>
                </a:cubicBezTo>
                <a:cubicBezTo>
                  <a:pt x="1329" y="0"/>
                  <a:pt x="1388" y="22"/>
                  <a:pt x="1440" y="54"/>
                </a:cubicBezTo>
                <a:cubicBezTo>
                  <a:pt x="1492" y="86"/>
                  <a:pt x="1545" y="147"/>
                  <a:pt x="1584" y="198"/>
                </a:cubicBezTo>
                <a:cubicBezTo>
                  <a:pt x="1623" y="249"/>
                  <a:pt x="1649" y="315"/>
                  <a:pt x="1673" y="363"/>
                </a:cubicBezTo>
                <a:cubicBezTo>
                  <a:pt x="1697" y="411"/>
                  <a:pt x="1702" y="445"/>
                  <a:pt x="1728" y="486"/>
                </a:cubicBezTo>
                <a:cubicBezTo>
                  <a:pt x="1754" y="527"/>
                  <a:pt x="1804" y="576"/>
                  <a:pt x="1828" y="608"/>
                </a:cubicBezTo>
                <a:cubicBezTo>
                  <a:pt x="1852" y="640"/>
                  <a:pt x="1849" y="650"/>
                  <a:pt x="1872" y="678"/>
                </a:cubicBezTo>
                <a:cubicBezTo>
                  <a:pt x="1895" y="706"/>
                  <a:pt x="1936" y="734"/>
                  <a:pt x="1968" y="774"/>
                </a:cubicBezTo>
                <a:cubicBezTo>
                  <a:pt x="2000" y="814"/>
                  <a:pt x="2030" y="877"/>
                  <a:pt x="2064" y="918"/>
                </a:cubicBezTo>
                <a:cubicBezTo>
                  <a:pt x="2098" y="959"/>
                  <a:pt x="2133" y="995"/>
                  <a:pt x="2173" y="1019"/>
                </a:cubicBezTo>
                <a:cubicBezTo>
                  <a:pt x="2213" y="1043"/>
                  <a:pt x="2250" y="1047"/>
                  <a:pt x="2304" y="1062"/>
                </a:cubicBezTo>
                <a:cubicBezTo>
                  <a:pt x="2358" y="1077"/>
                  <a:pt x="2411" y="1093"/>
                  <a:pt x="2495" y="1108"/>
                </a:cubicBezTo>
                <a:cubicBezTo>
                  <a:pt x="2579" y="1123"/>
                  <a:pt x="2741" y="1143"/>
                  <a:pt x="2806" y="1152"/>
                </a:cubicBezTo>
              </a:path>
            </a:pathLst>
          </a:custGeom>
          <a:noFill/>
          <a:ln w="38100" cap="flat" cmpd="sng">
            <a:solidFill>
              <a:srgbClr val="D8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8443" name="Freeform 15">
            <a:extLst>
              <a:ext uri="{FF2B5EF4-FFF2-40B4-BE49-F238E27FC236}">
                <a16:creationId xmlns:a16="http://schemas.microsoft.com/office/drawing/2014/main" id="{88F4DCC7-8611-4D3A-B888-6BF4D4B2239D}"/>
              </a:ext>
            </a:extLst>
          </p:cNvPr>
          <p:cNvSpPr>
            <a:spLocks/>
          </p:cNvSpPr>
          <p:nvPr/>
        </p:nvSpPr>
        <p:spPr bwMode="auto">
          <a:xfrm>
            <a:off x="6397626" y="4159251"/>
            <a:ext cx="1273175" cy="493713"/>
          </a:xfrm>
          <a:custGeom>
            <a:avLst/>
            <a:gdLst>
              <a:gd name="T0" fmla="*/ 2147483647 w 802"/>
              <a:gd name="T1" fmla="*/ 2147483647 h 311"/>
              <a:gd name="T2" fmla="*/ 0 w 802"/>
              <a:gd name="T3" fmla="*/ 0 h 311"/>
              <a:gd name="T4" fmla="*/ 2147483647 w 802"/>
              <a:gd name="T5" fmla="*/ 2147483647 h 311"/>
              <a:gd name="T6" fmla="*/ 2147483647 w 802"/>
              <a:gd name="T7" fmla="*/ 2147483647 h 311"/>
              <a:gd name="T8" fmla="*/ 2147483647 w 802"/>
              <a:gd name="T9" fmla="*/ 2147483647 h 311"/>
              <a:gd name="T10" fmla="*/ 2147483647 w 802"/>
              <a:gd name="T11" fmla="*/ 2147483647 h 311"/>
              <a:gd name="T12" fmla="*/ 2147483647 w 802"/>
              <a:gd name="T13" fmla="*/ 2147483647 h 311"/>
              <a:gd name="T14" fmla="*/ 2147483647 w 802"/>
              <a:gd name="T15" fmla="*/ 2147483647 h 31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802"/>
              <a:gd name="T25" fmla="*/ 0 h 311"/>
              <a:gd name="T26" fmla="*/ 802 w 802"/>
              <a:gd name="T27" fmla="*/ 311 h 31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02" h="311">
                <a:moveTo>
                  <a:pt x="2" y="308"/>
                </a:moveTo>
                <a:lnTo>
                  <a:pt x="0" y="0"/>
                </a:lnTo>
                <a:lnTo>
                  <a:pt x="88" y="109"/>
                </a:lnTo>
                <a:lnTo>
                  <a:pt x="151" y="166"/>
                </a:lnTo>
                <a:lnTo>
                  <a:pt x="292" y="211"/>
                </a:lnTo>
                <a:lnTo>
                  <a:pt x="494" y="260"/>
                </a:lnTo>
                <a:lnTo>
                  <a:pt x="802" y="311"/>
                </a:lnTo>
                <a:lnTo>
                  <a:pt x="2" y="308"/>
                </a:lnTo>
                <a:close/>
              </a:path>
            </a:pathLst>
          </a:custGeom>
          <a:solidFill>
            <a:srgbClr val="D80000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8444" name="AutoShape 16">
            <a:extLst>
              <a:ext uri="{FF2B5EF4-FFF2-40B4-BE49-F238E27FC236}">
                <a16:creationId xmlns:a16="http://schemas.microsoft.com/office/drawing/2014/main" id="{80FB9A5A-2FFF-4805-8828-EC2AE2CEA884}"/>
              </a:ext>
            </a:extLst>
          </p:cNvPr>
          <p:cNvSpPr>
            <a:spLocks/>
          </p:cNvSpPr>
          <p:nvPr/>
        </p:nvSpPr>
        <p:spPr bwMode="auto">
          <a:xfrm>
            <a:off x="8001000" y="5033965"/>
            <a:ext cx="1835150" cy="830997"/>
          </a:xfrm>
          <a:prstGeom prst="borderCallout1">
            <a:avLst>
              <a:gd name="adj1" fmla="val 13690"/>
              <a:gd name="adj2" fmla="val -4153"/>
              <a:gd name="adj3" fmla="val -59505"/>
              <a:gd name="adj4" fmla="val -72319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s-ES" sz="2400" b="1">
                <a:solidFill>
                  <a:srgbClr val="000000"/>
                </a:solidFill>
                <a:latin typeface="Comic Sans MS" panose="030F0702030302020204" pitchFamily="66" charset="0"/>
              </a:rPr>
              <a:t>False Positives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31290A-F60F-42A8-B133-FB840945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ES" dirty="0"/>
              <a:t>Some definitions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54677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2">
            <a:extLst>
              <a:ext uri="{FF2B5EF4-FFF2-40B4-BE49-F238E27FC236}">
                <a16:creationId xmlns:a16="http://schemas.microsoft.com/office/drawing/2014/main" id="{E29620BC-6ECC-4840-87DA-1B743C661C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1" y="4648200"/>
            <a:ext cx="7162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9459" name="Text Box 3">
            <a:extLst>
              <a:ext uri="{FF2B5EF4-FFF2-40B4-BE49-F238E27FC236}">
                <a16:creationId xmlns:a16="http://schemas.microsoft.com/office/drawing/2014/main" id="{042D4436-8928-4CB5-8052-A624D42ED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105401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400">
                <a:latin typeface="Comic Sans MS" panose="030F0702030302020204" pitchFamily="66" charset="0"/>
              </a:rPr>
              <a:t>Test Result</a:t>
            </a:r>
          </a:p>
        </p:txBody>
      </p:sp>
      <p:sp>
        <p:nvSpPr>
          <p:cNvPr id="19460" name="Freeform 4">
            <a:extLst>
              <a:ext uri="{FF2B5EF4-FFF2-40B4-BE49-F238E27FC236}">
                <a16:creationId xmlns:a16="http://schemas.microsoft.com/office/drawing/2014/main" id="{B6AB4A5E-0325-4848-9011-13050FD9D1BF}"/>
              </a:ext>
            </a:extLst>
          </p:cNvPr>
          <p:cNvSpPr>
            <a:spLocks/>
          </p:cNvSpPr>
          <p:nvPr/>
        </p:nvSpPr>
        <p:spPr bwMode="auto">
          <a:xfrm>
            <a:off x="5105401" y="2819400"/>
            <a:ext cx="3933825" cy="1819275"/>
          </a:xfrm>
          <a:custGeom>
            <a:avLst/>
            <a:gdLst>
              <a:gd name="T0" fmla="*/ 0 w 2478"/>
              <a:gd name="T1" fmla="*/ 2147483647 h 1146"/>
              <a:gd name="T2" fmla="*/ 2147483647 w 2478"/>
              <a:gd name="T3" fmla="*/ 2147483647 h 1146"/>
              <a:gd name="T4" fmla="*/ 2147483647 w 2478"/>
              <a:gd name="T5" fmla="*/ 2147483647 h 1146"/>
              <a:gd name="T6" fmla="*/ 2147483647 w 2478"/>
              <a:gd name="T7" fmla="*/ 2147483647 h 1146"/>
              <a:gd name="T8" fmla="*/ 2147483647 w 2478"/>
              <a:gd name="T9" fmla="*/ 2147483647 h 1146"/>
              <a:gd name="T10" fmla="*/ 2147483647 w 2478"/>
              <a:gd name="T11" fmla="*/ 2147483647 h 1146"/>
              <a:gd name="T12" fmla="*/ 2147483647 w 2478"/>
              <a:gd name="T13" fmla="*/ 2147483647 h 1146"/>
              <a:gd name="T14" fmla="*/ 2147483647 w 2478"/>
              <a:gd name="T15" fmla="*/ 2147483647 h 1146"/>
              <a:gd name="T16" fmla="*/ 2147483647 w 2478"/>
              <a:gd name="T17" fmla="*/ 2147483647 h 1146"/>
              <a:gd name="T18" fmla="*/ 2147483647 w 2478"/>
              <a:gd name="T19" fmla="*/ 2147483647 h 1146"/>
              <a:gd name="T20" fmla="*/ 2147483647 w 2478"/>
              <a:gd name="T21" fmla="*/ 2147483647 h 1146"/>
              <a:gd name="T22" fmla="*/ 2147483647 w 2478"/>
              <a:gd name="T23" fmla="*/ 2147483647 h 1146"/>
              <a:gd name="T24" fmla="*/ 2147483647 w 2478"/>
              <a:gd name="T25" fmla="*/ 2147483647 h 1146"/>
              <a:gd name="T26" fmla="*/ 2147483647 w 2478"/>
              <a:gd name="T27" fmla="*/ 2147483647 h 114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478"/>
              <a:gd name="T43" fmla="*/ 0 h 1146"/>
              <a:gd name="T44" fmla="*/ 2478 w 2478"/>
              <a:gd name="T45" fmla="*/ 1146 h 114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478" h="1146">
                <a:moveTo>
                  <a:pt x="0" y="1146"/>
                </a:moveTo>
                <a:cubicBezTo>
                  <a:pt x="57" y="1137"/>
                  <a:pt x="267" y="1110"/>
                  <a:pt x="356" y="1079"/>
                </a:cubicBezTo>
                <a:cubicBezTo>
                  <a:pt x="445" y="1048"/>
                  <a:pt x="477" y="1028"/>
                  <a:pt x="534" y="960"/>
                </a:cubicBezTo>
                <a:cubicBezTo>
                  <a:pt x="591" y="892"/>
                  <a:pt x="644" y="772"/>
                  <a:pt x="700" y="668"/>
                </a:cubicBezTo>
                <a:cubicBezTo>
                  <a:pt x="756" y="564"/>
                  <a:pt x="802" y="439"/>
                  <a:pt x="870" y="336"/>
                </a:cubicBezTo>
                <a:cubicBezTo>
                  <a:pt x="938" y="233"/>
                  <a:pt x="1046" y="96"/>
                  <a:pt x="1110" y="48"/>
                </a:cubicBezTo>
                <a:cubicBezTo>
                  <a:pt x="1174" y="0"/>
                  <a:pt x="1206" y="16"/>
                  <a:pt x="1254" y="48"/>
                </a:cubicBezTo>
                <a:cubicBezTo>
                  <a:pt x="1302" y="80"/>
                  <a:pt x="1350" y="152"/>
                  <a:pt x="1398" y="240"/>
                </a:cubicBezTo>
                <a:cubicBezTo>
                  <a:pt x="1446" y="328"/>
                  <a:pt x="1501" y="484"/>
                  <a:pt x="1542" y="576"/>
                </a:cubicBezTo>
                <a:cubicBezTo>
                  <a:pt x="1583" y="668"/>
                  <a:pt x="1606" y="730"/>
                  <a:pt x="1645" y="790"/>
                </a:cubicBezTo>
                <a:cubicBezTo>
                  <a:pt x="1684" y="850"/>
                  <a:pt x="1739" y="899"/>
                  <a:pt x="1778" y="935"/>
                </a:cubicBezTo>
                <a:cubicBezTo>
                  <a:pt x="1817" y="971"/>
                  <a:pt x="1837" y="980"/>
                  <a:pt x="1878" y="1008"/>
                </a:cubicBezTo>
                <a:cubicBezTo>
                  <a:pt x="1919" y="1036"/>
                  <a:pt x="1922" y="1085"/>
                  <a:pt x="2022" y="1104"/>
                </a:cubicBezTo>
                <a:cubicBezTo>
                  <a:pt x="2122" y="1123"/>
                  <a:pt x="2383" y="1120"/>
                  <a:pt x="2478" y="1124"/>
                </a:cubicBezTo>
              </a:path>
            </a:pathLst>
          </a:cu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8DF1D34A-D8F5-425F-9EBF-FF1D4AAB2E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1828800"/>
            <a:ext cx="0" cy="297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grpSp>
        <p:nvGrpSpPr>
          <p:cNvPr id="19462" name="Group 6">
            <a:extLst>
              <a:ext uri="{FF2B5EF4-FFF2-40B4-BE49-F238E27FC236}">
                <a16:creationId xmlns:a16="http://schemas.microsoft.com/office/drawing/2014/main" id="{1719C133-472F-41C1-93CA-FE9B5D843BFA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752599"/>
            <a:ext cx="3962400" cy="457200"/>
            <a:chOff x="576" y="1104"/>
            <a:chExt cx="2496" cy="288"/>
          </a:xfrm>
        </p:grpSpPr>
        <p:sp>
          <p:nvSpPr>
            <p:cNvPr id="19472" name="Line 7">
              <a:extLst>
                <a:ext uri="{FF2B5EF4-FFF2-40B4-BE49-F238E27FC236}">
                  <a16:creationId xmlns:a16="http://schemas.microsoft.com/office/drawing/2014/main" id="{FC871361-1823-4BA9-97C6-28BDDECE3B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1392"/>
              <a:ext cx="23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19473" name="Text Box 8">
              <a:extLst>
                <a:ext uri="{FF2B5EF4-FFF2-40B4-BE49-F238E27FC236}">
                  <a16:creationId xmlns:a16="http://schemas.microsoft.com/office/drawing/2014/main" id="{9F81E533-4444-4060-A02C-5AA6C9827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104"/>
              <a:ext cx="24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s-ES" sz="2001">
                  <a:latin typeface="Comic Sans MS" panose="030F0702030302020204" pitchFamily="66" charset="0"/>
                </a:rPr>
                <a:t>Call these patients “negative”</a:t>
              </a:r>
            </a:p>
          </p:txBody>
        </p:sp>
      </p:grpSp>
      <p:grpSp>
        <p:nvGrpSpPr>
          <p:cNvPr id="19463" name="Group 9">
            <a:extLst>
              <a:ext uri="{FF2B5EF4-FFF2-40B4-BE49-F238E27FC236}">
                <a16:creationId xmlns:a16="http://schemas.microsoft.com/office/drawing/2014/main" id="{7F0EFFB1-831A-4CB3-B76E-03E991824365}"/>
              </a:ext>
            </a:extLst>
          </p:cNvPr>
          <p:cNvGrpSpPr>
            <a:grpSpLocks/>
          </p:cNvGrpSpPr>
          <p:nvPr/>
        </p:nvGrpSpPr>
        <p:grpSpPr bwMode="auto">
          <a:xfrm>
            <a:off x="6477001" y="1752599"/>
            <a:ext cx="3962400" cy="457200"/>
            <a:chOff x="3120" y="1104"/>
            <a:chExt cx="2496" cy="288"/>
          </a:xfrm>
        </p:grpSpPr>
        <p:sp>
          <p:nvSpPr>
            <p:cNvPr id="19470" name="Line 10">
              <a:extLst>
                <a:ext uri="{FF2B5EF4-FFF2-40B4-BE49-F238E27FC236}">
                  <a16:creationId xmlns:a16="http://schemas.microsoft.com/office/drawing/2014/main" id="{D584A1FD-CC7E-466F-A485-51479DB4F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392"/>
              <a:ext cx="20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19471" name="Text Box 11">
              <a:extLst>
                <a:ext uri="{FF2B5EF4-FFF2-40B4-BE49-F238E27FC236}">
                  <a16:creationId xmlns:a16="http://schemas.microsoft.com/office/drawing/2014/main" id="{0BB7CD5B-1799-422D-8CD9-F1F5AE918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104"/>
              <a:ext cx="24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s-ES" sz="2001">
                  <a:latin typeface="Comic Sans MS" panose="030F0702030302020204" pitchFamily="66" charset="0"/>
                </a:rPr>
                <a:t>Call these patients “positive</a:t>
              </a:r>
              <a:r>
                <a:rPr lang="en-US" altLang="es-ES" sz="2001"/>
                <a:t>”</a:t>
              </a:r>
            </a:p>
          </p:txBody>
        </p:sp>
      </p:grpSp>
      <p:sp>
        <p:nvSpPr>
          <p:cNvPr id="19464" name="Text Box 12">
            <a:extLst>
              <a:ext uri="{FF2B5EF4-FFF2-40B4-BE49-F238E27FC236}">
                <a16:creationId xmlns:a16="http://schemas.microsoft.com/office/drawing/2014/main" id="{86EC0E3A-574B-4E3D-8322-407B73449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5943602"/>
            <a:ext cx="2971800" cy="4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001" b="1">
                <a:solidFill>
                  <a:srgbClr val="D80000"/>
                </a:solidFill>
                <a:latin typeface="Comic Sans MS" panose="030F0702030302020204" pitchFamily="66" charset="0"/>
              </a:rPr>
              <a:t>without the disease</a:t>
            </a:r>
          </a:p>
        </p:txBody>
      </p:sp>
      <p:sp>
        <p:nvSpPr>
          <p:cNvPr id="19465" name="Text Box 13">
            <a:extLst>
              <a:ext uri="{FF2B5EF4-FFF2-40B4-BE49-F238E27FC236}">
                <a16:creationId xmlns:a16="http://schemas.microsoft.com/office/drawing/2014/main" id="{4DD4E62D-1C4D-449B-8B74-493AD7A34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6248402"/>
            <a:ext cx="3048000" cy="4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001" b="1">
                <a:solidFill>
                  <a:srgbClr val="0033CC"/>
                </a:solidFill>
                <a:latin typeface="Comic Sans MS" panose="030F0702030302020204" pitchFamily="66" charset="0"/>
              </a:rPr>
              <a:t>with the disease</a:t>
            </a:r>
          </a:p>
        </p:txBody>
      </p:sp>
      <p:sp>
        <p:nvSpPr>
          <p:cNvPr id="19466" name="Freeform 14">
            <a:extLst>
              <a:ext uri="{FF2B5EF4-FFF2-40B4-BE49-F238E27FC236}">
                <a16:creationId xmlns:a16="http://schemas.microsoft.com/office/drawing/2014/main" id="{0D9F0617-97CC-4623-8656-0430B0AEE05F}"/>
              </a:ext>
            </a:extLst>
          </p:cNvPr>
          <p:cNvSpPr>
            <a:spLocks/>
          </p:cNvSpPr>
          <p:nvPr/>
        </p:nvSpPr>
        <p:spPr bwMode="auto">
          <a:xfrm>
            <a:off x="3200401" y="2819400"/>
            <a:ext cx="4454524" cy="1838325"/>
          </a:xfrm>
          <a:custGeom>
            <a:avLst/>
            <a:gdLst>
              <a:gd name="T0" fmla="*/ 0 w 2806"/>
              <a:gd name="T1" fmla="*/ 2147483647 h 1158"/>
              <a:gd name="T2" fmla="*/ 2147483647 w 2806"/>
              <a:gd name="T3" fmla="*/ 2147483647 h 1158"/>
              <a:gd name="T4" fmla="*/ 2147483647 w 2806"/>
              <a:gd name="T5" fmla="*/ 2147483647 h 1158"/>
              <a:gd name="T6" fmla="*/ 2147483647 w 2806"/>
              <a:gd name="T7" fmla="*/ 2147483647 h 1158"/>
              <a:gd name="T8" fmla="*/ 2147483647 w 2806"/>
              <a:gd name="T9" fmla="*/ 2147483647 h 1158"/>
              <a:gd name="T10" fmla="*/ 2147483647 w 2806"/>
              <a:gd name="T11" fmla="*/ 2147483647 h 1158"/>
              <a:gd name="T12" fmla="*/ 2147483647 w 2806"/>
              <a:gd name="T13" fmla="*/ 2147483647 h 1158"/>
              <a:gd name="T14" fmla="*/ 2147483647 w 2806"/>
              <a:gd name="T15" fmla="*/ 2147483647 h 1158"/>
              <a:gd name="T16" fmla="*/ 2147483647 w 2806"/>
              <a:gd name="T17" fmla="*/ 2147483647 h 1158"/>
              <a:gd name="T18" fmla="*/ 2147483647 w 2806"/>
              <a:gd name="T19" fmla="*/ 2147483647 h 1158"/>
              <a:gd name="T20" fmla="*/ 2147483647 w 2806"/>
              <a:gd name="T21" fmla="*/ 2147483647 h 1158"/>
              <a:gd name="T22" fmla="*/ 2147483647 w 2806"/>
              <a:gd name="T23" fmla="*/ 2147483647 h 1158"/>
              <a:gd name="T24" fmla="*/ 2147483647 w 2806"/>
              <a:gd name="T25" fmla="*/ 2147483647 h 1158"/>
              <a:gd name="T26" fmla="*/ 2147483647 w 2806"/>
              <a:gd name="T27" fmla="*/ 2147483647 h 1158"/>
              <a:gd name="T28" fmla="*/ 2147483647 w 2806"/>
              <a:gd name="T29" fmla="*/ 2147483647 h 1158"/>
              <a:gd name="T30" fmla="*/ 2147483647 w 2806"/>
              <a:gd name="T31" fmla="*/ 2147483647 h 1158"/>
              <a:gd name="T32" fmla="*/ 2147483647 w 2806"/>
              <a:gd name="T33" fmla="*/ 2147483647 h 1158"/>
              <a:gd name="T34" fmla="*/ 2147483647 w 2806"/>
              <a:gd name="T35" fmla="*/ 2147483647 h 1158"/>
              <a:gd name="T36" fmla="*/ 2147483647 w 2806"/>
              <a:gd name="T37" fmla="*/ 2147483647 h 1158"/>
              <a:gd name="T38" fmla="*/ 2147483647 w 2806"/>
              <a:gd name="T39" fmla="*/ 2147483647 h 1158"/>
              <a:gd name="T40" fmla="*/ 2147483647 w 2806"/>
              <a:gd name="T41" fmla="*/ 2147483647 h 115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806"/>
              <a:gd name="T64" fmla="*/ 0 h 1158"/>
              <a:gd name="T65" fmla="*/ 2806 w 2806"/>
              <a:gd name="T66" fmla="*/ 1158 h 1158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806" h="1158">
                <a:moveTo>
                  <a:pt x="0" y="1158"/>
                </a:moveTo>
                <a:cubicBezTo>
                  <a:pt x="92" y="1146"/>
                  <a:pt x="184" y="1134"/>
                  <a:pt x="240" y="1110"/>
                </a:cubicBezTo>
                <a:cubicBezTo>
                  <a:pt x="296" y="1086"/>
                  <a:pt x="288" y="1062"/>
                  <a:pt x="336" y="1014"/>
                </a:cubicBezTo>
                <a:cubicBezTo>
                  <a:pt x="384" y="966"/>
                  <a:pt x="479" y="880"/>
                  <a:pt x="528" y="822"/>
                </a:cubicBezTo>
                <a:cubicBezTo>
                  <a:pt x="577" y="764"/>
                  <a:pt x="589" y="726"/>
                  <a:pt x="628" y="663"/>
                </a:cubicBezTo>
                <a:cubicBezTo>
                  <a:pt x="667" y="600"/>
                  <a:pt x="710" y="508"/>
                  <a:pt x="762" y="441"/>
                </a:cubicBezTo>
                <a:cubicBezTo>
                  <a:pt x="814" y="374"/>
                  <a:pt x="882" y="319"/>
                  <a:pt x="939" y="263"/>
                </a:cubicBezTo>
                <a:cubicBezTo>
                  <a:pt x="996" y="207"/>
                  <a:pt x="1049" y="144"/>
                  <a:pt x="1104" y="102"/>
                </a:cubicBezTo>
                <a:cubicBezTo>
                  <a:pt x="1159" y="60"/>
                  <a:pt x="1217" y="16"/>
                  <a:pt x="1273" y="8"/>
                </a:cubicBezTo>
                <a:cubicBezTo>
                  <a:pt x="1329" y="0"/>
                  <a:pt x="1388" y="22"/>
                  <a:pt x="1440" y="54"/>
                </a:cubicBezTo>
                <a:cubicBezTo>
                  <a:pt x="1492" y="86"/>
                  <a:pt x="1545" y="147"/>
                  <a:pt x="1584" y="198"/>
                </a:cubicBezTo>
                <a:cubicBezTo>
                  <a:pt x="1623" y="249"/>
                  <a:pt x="1649" y="315"/>
                  <a:pt x="1673" y="363"/>
                </a:cubicBezTo>
                <a:cubicBezTo>
                  <a:pt x="1697" y="411"/>
                  <a:pt x="1702" y="445"/>
                  <a:pt x="1728" y="486"/>
                </a:cubicBezTo>
                <a:cubicBezTo>
                  <a:pt x="1754" y="527"/>
                  <a:pt x="1804" y="576"/>
                  <a:pt x="1828" y="608"/>
                </a:cubicBezTo>
                <a:cubicBezTo>
                  <a:pt x="1852" y="640"/>
                  <a:pt x="1849" y="650"/>
                  <a:pt x="1872" y="678"/>
                </a:cubicBezTo>
                <a:cubicBezTo>
                  <a:pt x="1895" y="706"/>
                  <a:pt x="1936" y="734"/>
                  <a:pt x="1968" y="774"/>
                </a:cubicBezTo>
                <a:cubicBezTo>
                  <a:pt x="2000" y="814"/>
                  <a:pt x="2030" y="877"/>
                  <a:pt x="2064" y="918"/>
                </a:cubicBezTo>
                <a:cubicBezTo>
                  <a:pt x="2098" y="959"/>
                  <a:pt x="2133" y="995"/>
                  <a:pt x="2173" y="1019"/>
                </a:cubicBezTo>
                <a:cubicBezTo>
                  <a:pt x="2213" y="1043"/>
                  <a:pt x="2250" y="1047"/>
                  <a:pt x="2304" y="1062"/>
                </a:cubicBezTo>
                <a:cubicBezTo>
                  <a:pt x="2358" y="1077"/>
                  <a:pt x="2411" y="1093"/>
                  <a:pt x="2495" y="1108"/>
                </a:cubicBezTo>
                <a:cubicBezTo>
                  <a:pt x="2579" y="1123"/>
                  <a:pt x="2741" y="1143"/>
                  <a:pt x="2806" y="1152"/>
                </a:cubicBezTo>
              </a:path>
            </a:pathLst>
          </a:custGeom>
          <a:noFill/>
          <a:ln w="38100" cap="flat" cmpd="sng">
            <a:solidFill>
              <a:srgbClr val="D8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9467" name="Freeform 15">
            <a:extLst>
              <a:ext uri="{FF2B5EF4-FFF2-40B4-BE49-F238E27FC236}">
                <a16:creationId xmlns:a16="http://schemas.microsoft.com/office/drawing/2014/main" id="{270C574C-61FD-43EB-AC89-CE096FB19ABF}"/>
              </a:ext>
            </a:extLst>
          </p:cNvPr>
          <p:cNvSpPr>
            <a:spLocks/>
          </p:cNvSpPr>
          <p:nvPr/>
        </p:nvSpPr>
        <p:spPr bwMode="auto">
          <a:xfrm>
            <a:off x="3200401" y="2819400"/>
            <a:ext cx="3200400" cy="1828800"/>
          </a:xfrm>
          <a:custGeom>
            <a:avLst/>
            <a:gdLst>
              <a:gd name="T0" fmla="*/ 0 w 2016"/>
              <a:gd name="T1" fmla="*/ 2147483647 h 1152"/>
              <a:gd name="T2" fmla="*/ 2147483647 w 2016"/>
              <a:gd name="T3" fmla="*/ 2147483647 h 1152"/>
              <a:gd name="T4" fmla="*/ 2147483647 w 2016"/>
              <a:gd name="T5" fmla="*/ 2147483647 h 1152"/>
              <a:gd name="T6" fmla="*/ 2147483647 w 2016"/>
              <a:gd name="T7" fmla="*/ 2147483647 h 1152"/>
              <a:gd name="T8" fmla="*/ 2147483647 w 2016"/>
              <a:gd name="T9" fmla="*/ 2147483647 h 1152"/>
              <a:gd name="T10" fmla="*/ 2147483647 w 2016"/>
              <a:gd name="T11" fmla="*/ 2147483647 h 1152"/>
              <a:gd name="T12" fmla="*/ 2147483647 w 2016"/>
              <a:gd name="T13" fmla="*/ 2147483647 h 1152"/>
              <a:gd name="T14" fmla="*/ 2147483647 w 2016"/>
              <a:gd name="T15" fmla="*/ 2147483647 h 1152"/>
              <a:gd name="T16" fmla="*/ 2147483647 w 2016"/>
              <a:gd name="T17" fmla="*/ 2147483647 h 1152"/>
              <a:gd name="T18" fmla="*/ 2147483647 w 2016"/>
              <a:gd name="T19" fmla="*/ 2147483647 h 1152"/>
              <a:gd name="T20" fmla="*/ 2147483647 w 2016"/>
              <a:gd name="T21" fmla="*/ 2147483647 h 1152"/>
              <a:gd name="T22" fmla="*/ 2147483647 w 2016"/>
              <a:gd name="T23" fmla="*/ 2147483647 h 1152"/>
              <a:gd name="T24" fmla="*/ 2147483647 w 2016"/>
              <a:gd name="T25" fmla="*/ 2147483647 h 1152"/>
              <a:gd name="T26" fmla="*/ 2147483647 w 2016"/>
              <a:gd name="T27" fmla="*/ 2147483647 h 1152"/>
              <a:gd name="T28" fmla="*/ 2147483647 w 2016"/>
              <a:gd name="T29" fmla="*/ 2147483647 h 1152"/>
              <a:gd name="T30" fmla="*/ 2147483647 w 2016"/>
              <a:gd name="T31" fmla="*/ 2147483647 h 1152"/>
              <a:gd name="T32" fmla="*/ 2147483647 w 2016"/>
              <a:gd name="T33" fmla="*/ 2147483647 h 1152"/>
              <a:gd name="T34" fmla="*/ 2147483647 w 2016"/>
              <a:gd name="T35" fmla="*/ 2147483647 h 1152"/>
              <a:gd name="T36" fmla="*/ 2147483647 w 2016"/>
              <a:gd name="T37" fmla="*/ 0 h 1152"/>
              <a:gd name="T38" fmla="*/ 2147483647 w 2016"/>
              <a:gd name="T39" fmla="*/ 0 h 1152"/>
              <a:gd name="T40" fmla="*/ 2147483647 w 2016"/>
              <a:gd name="T41" fmla="*/ 2147483647 h 1152"/>
              <a:gd name="T42" fmla="*/ 2147483647 w 2016"/>
              <a:gd name="T43" fmla="*/ 2147483647 h 1152"/>
              <a:gd name="T44" fmla="*/ 2147483647 w 2016"/>
              <a:gd name="T45" fmla="*/ 2147483647 h 1152"/>
              <a:gd name="T46" fmla="*/ 2147483647 w 2016"/>
              <a:gd name="T47" fmla="*/ 2147483647 h 1152"/>
              <a:gd name="T48" fmla="*/ 2147483647 w 2016"/>
              <a:gd name="T49" fmla="*/ 2147483647 h 1152"/>
              <a:gd name="T50" fmla="*/ 2147483647 w 2016"/>
              <a:gd name="T51" fmla="*/ 2147483647 h 1152"/>
              <a:gd name="T52" fmla="*/ 2147483647 w 2016"/>
              <a:gd name="T53" fmla="*/ 2147483647 h 1152"/>
              <a:gd name="T54" fmla="*/ 2147483647 w 2016"/>
              <a:gd name="T55" fmla="*/ 2147483647 h 1152"/>
              <a:gd name="T56" fmla="*/ 2147483647 w 2016"/>
              <a:gd name="T57" fmla="*/ 2147483647 h 1152"/>
              <a:gd name="T58" fmla="*/ 2147483647 w 2016"/>
              <a:gd name="T59" fmla="*/ 2147483647 h 1152"/>
              <a:gd name="T60" fmla="*/ 2147483647 w 2016"/>
              <a:gd name="T61" fmla="*/ 2147483647 h 1152"/>
              <a:gd name="T62" fmla="*/ 2147483647 w 2016"/>
              <a:gd name="T63" fmla="*/ 2147483647 h 1152"/>
              <a:gd name="T64" fmla="*/ 0 w 2016"/>
              <a:gd name="T65" fmla="*/ 2147483647 h 1152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016"/>
              <a:gd name="T100" fmla="*/ 0 h 1152"/>
              <a:gd name="T101" fmla="*/ 2016 w 2016"/>
              <a:gd name="T102" fmla="*/ 1152 h 1152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016" h="1152">
                <a:moveTo>
                  <a:pt x="0" y="1152"/>
                </a:moveTo>
                <a:lnTo>
                  <a:pt x="240" y="1104"/>
                </a:lnTo>
                <a:lnTo>
                  <a:pt x="288" y="1056"/>
                </a:lnTo>
                <a:lnTo>
                  <a:pt x="336" y="1008"/>
                </a:lnTo>
                <a:lnTo>
                  <a:pt x="384" y="960"/>
                </a:lnTo>
                <a:lnTo>
                  <a:pt x="432" y="912"/>
                </a:lnTo>
                <a:lnTo>
                  <a:pt x="480" y="864"/>
                </a:lnTo>
                <a:lnTo>
                  <a:pt x="528" y="816"/>
                </a:lnTo>
                <a:lnTo>
                  <a:pt x="576" y="768"/>
                </a:lnTo>
                <a:lnTo>
                  <a:pt x="624" y="672"/>
                </a:lnTo>
                <a:lnTo>
                  <a:pt x="672" y="576"/>
                </a:lnTo>
                <a:lnTo>
                  <a:pt x="768" y="432"/>
                </a:lnTo>
                <a:lnTo>
                  <a:pt x="864" y="336"/>
                </a:lnTo>
                <a:lnTo>
                  <a:pt x="912" y="288"/>
                </a:lnTo>
                <a:lnTo>
                  <a:pt x="960" y="240"/>
                </a:lnTo>
                <a:lnTo>
                  <a:pt x="1008" y="192"/>
                </a:lnTo>
                <a:lnTo>
                  <a:pt x="1056" y="144"/>
                </a:lnTo>
                <a:lnTo>
                  <a:pt x="1104" y="96"/>
                </a:lnTo>
                <a:lnTo>
                  <a:pt x="1248" y="0"/>
                </a:lnTo>
                <a:lnTo>
                  <a:pt x="1344" y="0"/>
                </a:lnTo>
                <a:lnTo>
                  <a:pt x="1440" y="48"/>
                </a:lnTo>
                <a:lnTo>
                  <a:pt x="1488" y="96"/>
                </a:lnTo>
                <a:lnTo>
                  <a:pt x="1536" y="144"/>
                </a:lnTo>
                <a:lnTo>
                  <a:pt x="1584" y="192"/>
                </a:lnTo>
                <a:lnTo>
                  <a:pt x="1632" y="288"/>
                </a:lnTo>
                <a:lnTo>
                  <a:pt x="1680" y="384"/>
                </a:lnTo>
                <a:lnTo>
                  <a:pt x="1728" y="480"/>
                </a:lnTo>
                <a:lnTo>
                  <a:pt x="1872" y="672"/>
                </a:lnTo>
                <a:lnTo>
                  <a:pt x="1920" y="720"/>
                </a:lnTo>
                <a:lnTo>
                  <a:pt x="1968" y="768"/>
                </a:lnTo>
                <a:lnTo>
                  <a:pt x="2016" y="816"/>
                </a:lnTo>
                <a:lnTo>
                  <a:pt x="2016" y="1152"/>
                </a:lnTo>
                <a:lnTo>
                  <a:pt x="0" y="1152"/>
                </a:lnTo>
                <a:close/>
              </a:path>
            </a:pathLst>
          </a:custGeom>
          <a:solidFill>
            <a:srgbClr val="D80000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19468" name="AutoShape 16">
            <a:extLst>
              <a:ext uri="{FF2B5EF4-FFF2-40B4-BE49-F238E27FC236}">
                <a16:creationId xmlns:a16="http://schemas.microsoft.com/office/drawing/2014/main" id="{A15512E8-3D72-487D-A988-CD68AE361505}"/>
              </a:ext>
            </a:extLst>
          </p:cNvPr>
          <p:cNvSpPr>
            <a:spLocks/>
          </p:cNvSpPr>
          <p:nvPr/>
        </p:nvSpPr>
        <p:spPr bwMode="auto">
          <a:xfrm>
            <a:off x="2085975" y="2895602"/>
            <a:ext cx="1876426" cy="830997"/>
          </a:xfrm>
          <a:prstGeom prst="borderCallout1">
            <a:avLst>
              <a:gd name="adj1" fmla="val 18046"/>
              <a:gd name="adj2" fmla="val 104060"/>
              <a:gd name="adj3" fmla="val 172181"/>
              <a:gd name="adj4" fmla="val 157106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s-ES" sz="2400">
                <a:latin typeface="Comic Sans MS" panose="030F0702030302020204" pitchFamily="66" charset="0"/>
              </a:rPr>
              <a:t>True negatives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AABCE1-EC71-4EF3-843D-DB7F2C6AA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ES" dirty="0"/>
              <a:t>Some definitions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88994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Line 2">
            <a:extLst>
              <a:ext uri="{FF2B5EF4-FFF2-40B4-BE49-F238E27FC236}">
                <a16:creationId xmlns:a16="http://schemas.microsoft.com/office/drawing/2014/main" id="{8A8218E6-7E58-4239-AC24-5C10820ED2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1" y="4648200"/>
            <a:ext cx="7162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ACA8FCFE-FE76-42AE-AA05-D6069C2D7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105401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400">
                <a:latin typeface="Comic Sans MS" panose="030F0702030302020204" pitchFamily="66" charset="0"/>
              </a:rPr>
              <a:t>Test Result</a:t>
            </a:r>
          </a:p>
        </p:txBody>
      </p:sp>
      <p:sp>
        <p:nvSpPr>
          <p:cNvPr id="20484" name="Freeform 4">
            <a:extLst>
              <a:ext uri="{FF2B5EF4-FFF2-40B4-BE49-F238E27FC236}">
                <a16:creationId xmlns:a16="http://schemas.microsoft.com/office/drawing/2014/main" id="{42306BED-2C09-4FB5-8C01-E0C9082B9116}"/>
              </a:ext>
            </a:extLst>
          </p:cNvPr>
          <p:cNvSpPr>
            <a:spLocks/>
          </p:cNvSpPr>
          <p:nvPr/>
        </p:nvSpPr>
        <p:spPr bwMode="auto">
          <a:xfrm>
            <a:off x="5105401" y="2819400"/>
            <a:ext cx="3933825" cy="1819275"/>
          </a:xfrm>
          <a:custGeom>
            <a:avLst/>
            <a:gdLst>
              <a:gd name="T0" fmla="*/ 0 w 2478"/>
              <a:gd name="T1" fmla="*/ 2147483647 h 1146"/>
              <a:gd name="T2" fmla="*/ 2147483647 w 2478"/>
              <a:gd name="T3" fmla="*/ 2147483647 h 1146"/>
              <a:gd name="T4" fmla="*/ 2147483647 w 2478"/>
              <a:gd name="T5" fmla="*/ 2147483647 h 1146"/>
              <a:gd name="T6" fmla="*/ 2147483647 w 2478"/>
              <a:gd name="T7" fmla="*/ 2147483647 h 1146"/>
              <a:gd name="T8" fmla="*/ 2147483647 w 2478"/>
              <a:gd name="T9" fmla="*/ 2147483647 h 1146"/>
              <a:gd name="T10" fmla="*/ 2147483647 w 2478"/>
              <a:gd name="T11" fmla="*/ 2147483647 h 1146"/>
              <a:gd name="T12" fmla="*/ 2147483647 w 2478"/>
              <a:gd name="T13" fmla="*/ 2147483647 h 1146"/>
              <a:gd name="T14" fmla="*/ 2147483647 w 2478"/>
              <a:gd name="T15" fmla="*/ 2147483647 h 1146"/>
              <a:gd name="T16" fmla="*/ 2147483647 w 2478"/>
              <a:gd name="T17" fmla="*/ 2147483647 h 1146"/>
              <a:gd name="T18" fmla="*/ 2147483647 w 2478"/>
              <a:gd name="T19" fmla="*/ 2147483647 h 1146"/>
              <a:gd name="T20" fmla="*/ 2147483647 w 2478"/>
              <a:gd name="T21" fmla="*/ 2147483647 h 1146"/>
              <a:gd name="T22" fmla="*/ 2147483647 w 2478"/>
              <a:gd name="T23" fmla="*/ 2147483647 h 1146"/>
              <a:gd name="T24" fmla="*/ 2147483647 w 2478"/>
              <a:gd name="T25" fmla="*/ 2147483647 h 1146"/>
              <a:gd name="T26" fmla="*/ 2147483647 w 2478"/>
              <a:gd name="T27" fmla="*/ 2147483647 h 114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478"/>
              <a:gd name="T43" fmla="*/ 0 h 1146"/>
              <a:gd name="T44" fmla="*/ 2478 w 2478"/>
              <a:gd name="T45" fmla="*/ 1146 h 114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478" h="1146">
                <a:moveTo>
                  <a:pt x="0" y="1146"/>
                </a:moveTo>
                <a:cubicBezTo>
                  <a:pt x="57" y="1137"/>
                  <a:pt x="267" y="1110"/>
                  <a:pt x="356" y="1079"/>
                </a:cubicBezTo>
                <a:cubicBezTo>
                  <a:pt x="445" y="1048"/>
                  <a:pt x="477" y="1028"/>
                  <a:pt x="534" y="960"/>
                </a:cubicBezTo>
                <a:cubicBezTo>
                  <a:pt x="591" y="892"/>
                  <a:pt x="644" y="772"/>
                  <a:pt x="700" y="668"/>
                </a:cubicBezTo>
                <a:cubicBezTo>
                  <a:pt x="756" y="564"/>
                  <a:pt x="802" y="439"/>
                  <a:pt x="870" y="336"/>
                </a:cubicBezTo>
                <a:cubicBezTo>
                  <a:pt x="938" y="233"/>
                  <a:pt x="1046" y="96"/>
                  <a:pt x="1110" y="48"/>
                </a:cubicBezTo>
                <a:cubicBezTo>
                  <a:pt x="1174" y="0"/>
                  <a:pt x="1206" y="16"/>
                  <a:pt x="1254" y="48"/>
                </a:cubicBezTo>
                <a:cubicBezTo>
                  <a:pt x="1302" y="80"/>
                  <a:pt x="1350" y="152"/>
                  <a:pt x="1398" y="240"/>
                </a:cubicBezTo>
                <a:cubicBezTo>
                  <a:pt x="1446" y="328"/>
                  <a:pt x="1501" y="484"/>
                  <a:pt x="1542" y="576"/>
                </a:cubicBezTo>
                <a:cubicBezTo>
                  <a:pt x="1583" y="668"/>
                  <a:pt x="1606" y="730"/>
                  <a:pt x="1645" y="790"/>
                </a:cubicBezTo>
                <a:cubicBezTo>
                  <a:pt x="1684" y="850"/>
                  <a:pt x="1739" y="899"/>
                  <a:pt x="1778" y="935"/>
                </a:cubicBezTo>
                <a:cubicBezTo>
                  <a:pt x="1817" y="971"/>
                  <a:pt x="1837" y="980"/>
                  <a:pt x="1878" y="1008"/>
                </a:cubicBezTo>
                <a:cubicBezTo>
                  <a:pt x="1919" y="1036"/>
                  <a:pt x="1922" y="1085"/>
                  <a:pt x="2022" y="1104"/>
                </a:cubicBezTo>
                <a:cubicBezTo>
                  <a:pt x="2122" y="1123"/>
                  <a:pt x="2383" y="1120"/>
                  <a:pt x="2478" y="1124"/>
                </a:cubicBezTo>
              </a:path>
            </a:pathLst>
          </a:cu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20485" name="Line 5">
            <a:extLst>
              <a:ext uri="{FF2B5EF4-FFF2-40B4-BE49-F238E27FC236}">
                <a16:creationId xmlns:a16="http://schemas.microsoft.com/office/drawing/2014/main" id="{7BC9229C-687E-4885-9D09-5ED3E96705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1828800"/>
            <a:ext cx="0" cy="297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grpSp>
        <p:nvGrpSpPr>
          <p:cNvPr id="20486" name="Group 6">
            <a:extLst>
              <a:ext uri="{FF2B5EF4-FFF2-40B4-BE49-F238E27FC236}">
                <a16:creationId xmlns:a16="http://schemas.microsoft.com/office/drawing/2014/main" id="{AB8F62A4-CA5E-4685-9F00-1244EA7CE0F7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752599"/>
            <a:ext cx="3962400" cy="457200"/>
            <a:chOff x="576" y="1104"/>
            <a:chExt cx="2496" cy="288"/>
          </a:xfrm>
        </p:grpSpPr>
        <p:sp>
          <p:nvSpPr>
            <p:cNvPr id="20496" name="Line 7">
              <a:extLst>
                <a:ext uri="{FF2B5EF4-FFF2-40B4-BE49-F238E27FC236}">
                  <a16:creationId xmlns:a16="http://schemas.microsoft.com/office/drawing/2014/main" id="{5A528166-24D7-428C-A506-EF297579D3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1392"/>
              <a:ext cx="23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20497" name="Text Box 8">
              <a:extLst>
                <a:ext uri="{FF2B5EF4-FFF2-40B4-BE49-F238E27FC236}">
                  <a16:creationId xmlns:a16="http://schemas.microsoft.com/office/drawing/2014/main" id="{0F09025A-082A-4BB3-A21C-41DB9A9D3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104"/>
              <a:ext cx="24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s-ES" sz="2001">
                  <a:latin typeface="Comic Sans MS" panose="030F0702030302020204" pitchFamily="66" charset="0"/>
                </a:rPr>
                <a:t>Call these patients “negative”</a:t>
              </a:r>
            </a:p>
          </p:txBody>
        </p:sp>
      </p:grpSp>
      <p:grpSp>
        <p:nvGrpSpPr>
          <p:cNvPr id="20487" name="Group 9">
            <a:extLst>
              <a:ext uri="{FF2B5EF4-FFF2-40B4-BE49-F238E27FC236}">
                <a16:creationId xmlns:a16="http://schemas.microsoft.com/office/drawing/2014/main" id="{5C9767A0-A9DF-45DB-B427-76E57B66A348}"/>
              </a:ext>
            </a:extLst>
          </p:cNvPr>
          <p:cNvGrpSpPr>
            <a:grpSpLocks/>
          </p:cNvGrpSpPr>
          <p:nvPr/>
        </p:nvGrpSpPr>
        <p:grpSpPr bwMode="auto">
          <a:xfrm>
            <a:off x="6477001" y="1752599"/>
            <a:ext cx="3962400" cy="457200"/>
            <a:chOff x="3120" y="1104"/>
            <a:chExt cx="2496" cy="288"/>
          </a:xfrm>
        </p:grpSpPr>
        <p:sp>
          <p:nvSpPr>
            <p:cNvPr id="20494" name="Line 10">
              <a:extLst>
                <a:ext uri="{FF2B5EF4-FFF2-40B4-BE49-F238E27FC236}">
                  <a16:creationId xmlns:a16="http://schemas.microsoft.com/office/drawing/2014/main" id="{7BF4583C-D058-4EF1-8004-AA3216F53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392"/>
              <a:ext cx="20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20495" name="Text Box 11">
              <a:extLst>
                <a:ext uri="{FF2B5EF4-FFF2-40B4-BE49-F238E27FC236}">
                  <a16:creationId xmlns:a16="http://schemas.microsoft.com/office/drawing/2014/main" id="{8084E4B7-7FB0-49AE-8887-1AB7CAF9D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104"/>
              <a:ext cx="24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s-ES" sz="2001">
                  <a:latin typeface="Comic Sans MS" panose="030F0702030302020204" pitchFamily="66" charset="0"/>
                </a:rPr>
                <a:t>Call these patients “positive”</a:t>
              </a:r>
            </a:p>
          </p:txBody>
        </p:sp>
      </p:grpSp>
      <p:sp>
        <p:nvSpPr>
          <p:cNvPr id="20488" name="Text Box 12">
            <a:extLst>
              <a:ext uri="{FF2B5EF4-FFF2-40B4-BE49-F238E27FC236}">
                <a16:creationId xmlns:a16="http://schemas.microsoft.com/office/drawing/2014/main" id="{1474CFDD-6C26-48B5-A851-158082B04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5943602"/>
            <a:ext cx="2971800" cy="4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001" b="1">
                <a:solidFill>
                  <a:srgbClr val="D80000"/>
                </a:solidFill>
                <a:latin typeface="Comic Sans MS" panose="030F0702030302020204" pitchFamily="66" charset="0"/>
              </a:rPr>
              <a:t>without the disease</a:t>
            </a:r>
          </a:p>
        </p:txBody>
      </p:sp>
      <p:sp>
        <p:nvSpPr>
          <p:cNvPr id="20489" name="Text Box 13">
            <a:extLst>
              <a:ext uri="{FF2B5EF4-FFF2-40B4-BE49-F238E27FC236}">
                <a16:creationId xmlns:a16="http://schemas.microsoft.com/office/drawing/2014/main" id="{DB96B3B7-FE50-4829-92BB-C2B28ABED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6248402"/>
            <a:ext cx="3048000" cy="4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001" b="1">
                <a:solidFill>
                  <a:srgbClr val="0033CC"/>
                </a:solidFill>
                <a:latin typeface="Comic Sans MS" panose="030F0702030302020204" pitchFamily="66" charset="0"/>
              </a:rPr>
              <a:t>with the disease</a:t>
            </a:r>
          </a:p>
        </p:txBody>
      </p:sp>
      <p:sp>
        <p:nvSpPr>
          <p:cNvPr id="20490" name="Freeform 14">
            <a:extLst>
              <a:ext uri="{FF2B5EF4-FFF2-40B4-BE49-F238E27FC236}">
                <a16:creationId xmlns:a16="http://schemas.microsoft.com/office/drawing/2014/main" id="{08A32A01-FF3C-4283-996B-C7CC14E87ECB}"/>
              </a:ext>
            </a:extLst>
          </p:cNvPr>
          <p:cNvSpPr>
            <a:spLocks/>
          </p:cNvSpPr>
          <p:nvPr/>
        </p:nvSpPr>
        <p:spPr bwMode="auto">
          <a:xfrm>
            <a:off x="3200401" y="2819400"/>
            <a:ext cx="4454524" cy="1838325"/>
          </a:xfrm>
          <a:custGeom>
            <a:avLst/>
            <a:gdLst>
              <a:gd name="T0" fmla="*/ 0 w 2806"/>
              <a:gd name="T1" fmla="*/ 2147483647 h 1158"/>
              <a:gd name="T2" fmla="*/ 2147483647 w 2806"/>
              <a:gd name="T3" fmla="*/ 2147483647 h 1158"/>
              <a:gd name="T4" fmla="*/ 2147483647 w 2806"/>
              <a:gd name="T5" fmla="*/ 2147483647 h 1158"/>
              <a:gd name="T6" fmla="*/ 2147483647 w 2806"/>
              <a:gd name="T7" fmla="*/ 2147483647 h 1158"/>
              <a:gd name="T8" fmla="*/ 2147483647 w 2806"/>
              <a:gd name="T9" fmla="*/ 2147483647 h 1158"/>
              <a:gd name="T10" fmla="*/ 2147483647 w 2806"/>
              <a:gd name="T11" fmla="*/ 2147483647 h 1158"/>
              <a:gd name="T12" fmla="*/ 2147483647 w 2806"/>
              <a:gd name="T13" fmla="*/ 2147483647 h 1158"/>
              <a:gd name="T14" fmla="*/ 2147483647 w 2806"/>
              <a:gd name="T15" fmla="*/ 2147483647 h 1158"/>
              <a:gd name="T16" fmla="*/ 2147483647 w 2806"/>
              <a:gd name="T17" fmla="*/ 2147483647 h 1158"/>
              <a:gd name="T18" fmla="*/ 2147483647 w 2806"/>
              <a:gd name="T19" fmla="*/ 2147483647 h 1158"/>
              <a:gd name="T20" fmla="*/ 2147483647 w 2806"/>
              <a:gd name="T21" fmla="*/ 2147483647 h 1158"/>
              <a:gd name="T22" fmla="*/ 2147483647 w 2806"/>
              <a:gd name="T23" fmla="*/ 2147483647 h 1158"/>
              <a:gd name="T24" fmla="*/ 2147483647 w 2806"/>
              <a:gd name="T25" fmla="*/ 2147483647 h 1158"/>
              <a:gd name="T26" fmla="*/ 2147483647 w 2806"/>
              <a:gd name="T27" fmla="*/ 2147483647 h 1158"/>
              <a:gd name="T28" fmla="*/ 2147483647 w 2806"/>
              <a:gd name="T29" fmla="*/ 2147483647 h 1158"/>
              <a:gd name="T30" fmla="*/ 2147483647 w 2806"/>
              <a:gd name="T31" fmla="*/ 2147483647 h 1158"/>
              <a:gd name="T32" fmla="*/ 2147483647 w 2806"/>
              <a:gd name="T33" fmla="*/ 2147483647 h 1158"/>
              <a:gd name="T34" fmla="*/ 2147483647 w 2806"/>
              <a:gd name="T35" fmla="*/ 2147483647 h 1158"/>
              <a:gd name="T36" fmla="*/ 2147483647 w 2806"/>
              <a:gd name="T37" fmla="*/ 2147483647 h 1158"/>
              <a:gd name="T38" fmla="*/ 2147483647 w 2806"/>
              <a:gd name="T39" fmla="*/ 2147483647 h 1158"/>
              <a:gd name="T40" fmla="*/ 2147483647 w 2806"/>
              <a:gd name="T41" fmla="*/ 2147483647 h 115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806"/>
              <a:gd name="T64" fmla="*/ 0 h 1158"/>
              <a:gd name="T65" fmla="*/ 2806 w 2806"/>
              <a:gd name="T66" fmla="*/ 1158 h 1158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806" h="1158">
                <a:moveTo>
                  <a:pt x="0" y="1158"/>
                </a:moveTo>
                <a:cubicBezTo>
                  <a:pt x="92" y="1146"/>
                  <a:pt x="184" y="1134"/>
                  <a:pt x="240" y="1110"/>
                </a:cubicBezTo>
                <a:cubicBezTo>
                  <a:pt x="296" y="1086"/>
                  <a:pt x="288" y="1062"/>
                  <a:pt x="336" y="1014"/>
                </a:cubicBezTo>
                <a:cubicBezTo>
                  <a:pt x="384" y="966"/>
                  <a:pt x="479" y="880"/>
                  <a:pt x="528" y="822"/>
                </a:cubicBezTo>
                <a:cubicBezTo>
                  <a:pt x="577" y="764"/>
                  <a:pt x="589" y="726"/>
                  <a:pt x="628" y="663"/>
                </a:cubicBezTo>
                <a:cubicBezTo>
                  <a:pt x="667" y="600"/>
                  <a:pt x="710" y="508"/>
                  <a:pt x="762" y="441"/>
                </a:cubicBezTo>
                <a:cubicBezTo>
                  <a:pt x="814" y="374"/>
                  <a:pt x="882" y="319"/>
                  <a:pt x="939" y="263"/>
                </a:cubicBezTo>
                <a:cubicBezTo>
                  <a:pt x="996" y="207"/>
                  <a:pt x="1049" y="144"/>
                  <a:pt x="1104" y="102"/>
                </a:cubicBezTo>
                <a:cubicBezTo>
                  <a:pt x="1159" y="60"/>
                  <a:pt x="1217" y="16"/>
                  <a:pt x="1273" y="8"/>
                </a:cubicBezTo>
                <a:cubicBezTo>
                  <a:pt x="1329" y="0"/>
                  <a:pt x="1388" y="22"/>
                  <a:pt x="1440" y="54"/>
                </a:cubicBezTo>
                <a:cubicBezTo>
                  <a:pt x="1492" y="86"/>
                  <a:pt x="1545" y="147"/>
                  <a:pt x="1584" y="198"/>
                </a:cubicBezTo>
                <a:cubicBezTo>
                  <a:pt x="1623" y="249"/>
                  <a:pt x="1649" y="315"/>
                  <a:pt x="1673" y="363"/>
                </a:cubicBezTo>
                <a:cubicBezTo>
                  <a:pt x="1697" y="411"/>
                  <a:pt x="1702" y="445"/>
                  <a:pt x="1728" y="486"/>
                </a:cubicBezTo>
                <a:cubicBezTo>
                  <a:pt x="1754" y="527"/>
                  <a:pt x="1804" y="576"/>
                  <a:pt x="1828" y="608"/>
                </a:cubicBezTo>
                <a:cubicBezTo>
                  <a:pt x="1852" y="640"/>
                  <a:pt x="1849" y="650"/>
                  <a:pt x="1872" y="678"/>
                </a:cubicBezTo>
                <a:cubicBezTo>
                  <a:pt x="1895" y="706"/>
                  <a:pt x="1936" y="734"/>
                  <a:pt x="1968" y="774"/>
                </a:cubicBezTo>
                <a:cubicBezTo>
                  <a:pt x="2000" y="814"/>
                  <a:pt x="2030" y="877"/>
                  <a:pt x="2064" y="918"/>
                </a:cubicBezTo>
                <a:cubicBezTo>
                  <a:pt x="2098" y="959"/>
                  <a:pt x="2133" y="995"/>
                  <a:pt x="2173" y="1019"/>
                </a:cubicBezTo>
                <a:cubicBezTo>
                  <a:pt x="2213" y="1043"/>
                  <a:pt x="2250" y="1047"/>
                  <a:pt x="2304" y="1062"/>
                </a:cubicBezTo>
                <a:cubicBezTo>
                  <a:pt x="2358" y="1077"/>
                  <a:pt x="2411" y="1093"/>
                  <a:pt x="2495" y="1108"/>
                </a:cubicBezTo>
                <a:cubicBezTo>
                  <a:pt x="2579" y="1123"/>
                  <a:pt x="2741" y="1143"/>
                  <a:pt x="2806" y="1152"/>
                </a:cubicBezTo>
              </a:path>
            </a:pathLst>
          </a:custGeom>
          <a:noFill/>
          <a:ln w="38100" cap="flat" cmpd="sng">
            <a:solidFill>
              <a:srgbClr val="D8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20491" name="Freeform 15">
            <a:extLst>
              <a:ext uri="{FF2B5EF4-FFF2-40B4-BE49-F238E27FC236}">
                <a16:creationId xmlns:a16="http://schemas.microsoft.com/office/drawing/2014/main" id="{0EEA536F-31DF-49CE-8EED-267E3058E653}"/>
              </a:ext>
            </a:extLst>
          </p:cNvPr>
          <p:cNvSpPr>
            <a:spLocks/>
          </p:cNvSpPr>
          <p:nvPr/>
        </p:nvSpPr>
        <p:spPr bwMode="auto">
          <a:xfrm>
            <a:off x="5105402" y="3505201"/>
            <a:ext cx="1295399" cy="1143000"/>
          </a:xfrm>
          <a:custGeom>
            <a:avLst/>
            <a:gdLst>
              <a:gd name="T0" fmla="*/ 2147483647 w 816"/>
              <a:gd name="T1" fmla="*/ 0 h 720"/>
              <a:gd name="T2" fmla="*/ 2147483647 w 816"/>
              <a:gd name="T3" fmla="*/ 2147483647 h 720"/>
              <a:gd name="T4" fmla="*/ 0 w 816"/>
              <a:gd name="T5" fmla="*/ 2147483647 h 720"/>
              <a:gd name="T6" fmla="*/ 2147483647 w 816"/>
              <a:gd name="T7" fmla="*/ 2147483647 h 720"/>
              <a:gd name="T8" fmla="*/ 2147483647 w 816"/>
              <a:gd name="T9" fmla="*/ 2147483647 h 720"/>
              <a:gd name="T10" fmla="*/ 2147483647 w 816"/>
              <a:gd name="T11" fmla="*/ 2147483647 h 720"/>
              <a:gd name="T12" fmla="*/ 2147483647 w 816"/>
              <a:gd name="T13" fmla="*/ 2147483647 h 720"/>
              <a:gd name="T14" fmla="*/ 2147483647 w 816"/>
              <a:gd name="T15" fmla="*/ 2147483647 h 720"/>
              <a:gd name="T16" fmla="*/ 2147483647 w 816"/>
              <a:gd name="T17" fmla="*/ 2147483647 h 720"/>
              <a:gd name="T18" fmla="*/ 2147483647 w 816"/>
              <a:gd name="T19" fmla="*/ 2147483647 h 720"/>
              <a:gd name="T20" fmla="*/ 2147483647 w 816"/>
              <a:gd name="T21" fmla="*/ 0 h 7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6"/>
              <a:gd name="T34" fmla="*/ 0 h 720"/>
              <a:gd name="T35" fmla="*/ 816 w 816"/>
              <a:gd name="T36" fmla="*/ 720 h 72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6" h="720">
                <a:moveTo>
                  <a:pt x="816" y="0"/>
                </a:moveTo>
                <a:lnTo>
                  <a:pt x="816" y="720"/>
                </a:lnTo>
                <a:lnTo>
                  <a:pt x="0" y="720"/>
                </a:lnTo>
                <a:lnTo>
                  <a:pt x="240" y="672"/>
                </a:lnTo>
                <a:lnTo>
                  <a:pt x="432" y="624"/>
                </a:lnTo>
                <a:lnTo>
                  <a:pt x="480" y="576"/>
                </a:lnTo>
                <a:lnTo>
                  <a:pt x="528" y="528"/>
                </a:lnTo>
                <a:lnTo>
                  <a:pt x="624" y="384"/>
                </a:lnTo>
                <a:lnTo>
                  <a:pt x="672" y="288"/>
                </a:lnTo>
                <a:lnTo>
                  <a:pt x="720" y="192"/>
                </a:lnTo>
                <a:lnTo>
                  <a:pt x="816" y="0"/>
                </a:lnTo>
                <a:close/>
              </a:path>
            </a:pathLst>
          </a:custGeom>
          <a:solidFill>
            <a:srgbClr val="0000FF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20492" name="AutoShape 16">
            <a:extLst>
              <a:ext uri="{FF2B5EF4-FFF2-40B4-BE49-F238E27FC236}">
                <a16:creationId xmlns:a16="http://schemas.microsoft.com/office/drawing/2014/main" id="{8CD7EF20-0C87-4749-B5D1-3A87F3D128B1}"/>
              </a:ext>
            </a:extLst>
          </p:cNvPr>
          <p:cNvSpPr>
            <a:spLocks/>
          </p:cNvSpPr>
          <p:nvPr/>
        </p:nvSpPr>
        <p:spPr bwMode="auto">
          <a:xfrm>
            <a:off x="2209800" y="2670176"/>
            <a:ext cx="1957388" cy="830997"/>
          </a:xfrm>
          <a:prstGeom prst="borderCallout1">
            <a:avLst>
              <a:gd name="adj1" fmla="val 13690"/>
              <a:gd name="adj2" fmla="val 103894"/>
              <a:gd name="adj3" fmla="val 183079"/>
              <a:gd name="adj4" fmla="val 19391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s-ES" sz="2400" b="1">
                <a:solidFill>
                  <a:srgbClr val="000000"/>
                </a:solidFill>
                <a:latin typeface="Comic Sans MS" panose="030F0702030302020204" pitchFamily="66" charset="0"/>
              </a:rPr>
              <a:t>False negatives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6F7E90-FBF0-4F4F-99C3-5B8A98A07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ES" dirty="0"/>
              <a:t>Some definitions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4751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9F26084F-573F-4711-B15F-4A698CEE8EA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s-ES" sz="1814" dirty="0"/>
              <a:t>Terminology to measure the performance of classifiers</a:t>
            </a:r>
          </a:p>
        </p:txBody>
      </p:sp>
      <p:pic>
        <p:nvPicPr>
          <p:cNvPr id="24579" name="Picture 4">
            <a:extLst>
              <a:ext uri="{FF2B5EF4-FFF2-40B4-BE49-F238E27FC236}">
                <a16:creationId xmlns:a16="http://schemas.microsoft.com/office/drawing/2014/main" id="{6B3A73D4-303C-4B13-A893-78D061C7B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539" y="2405865"/>
            <a:ext cx="7019312" cy="3799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Text Box 5">
            <a:extLst>
              <a:ext uri="{FF2B5EF4-FFF2-40B4-BE49-F238E27FC236}">
                <a16:creationId xmlns:a16="http://schemas.microsoft.com/office/drawing/2014/main" id="{9DE1FCA7-0B91-4864-86C2-35E7AE9F8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436861"/>
            <a:ext cx="80105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dirty="0"/>
              <a:t>Different combinations of ratios have been given various names.</a:t>
            </a:r>
            <a:br>
              <a:rPr lang="en-US" altLang="es-ES" dirty="0"/>
            </a:br>
            <a:r>
              <a:rPr lang="en-US" altLang="es-ES" dirty="0"/>
              <a:t>All vary between 0 and 1.</a:t>
            </a:r>
            <a:br>
              <a:rPr lang="en-US" altLang="es-ES" dirty="0"/>
            </a:br>
            <a:r>
              <a:rPr lang="en-US" altLang="es-ES" dirty="0"/>
              <a:t>A performance curve picks one as the independent variable and looks at another as the dependent variable.</a:t>
            </a:r>
          </a:p>
        </p:txBody>
      </p:sp>
      <p:sp>
        <p:nvSpPr>
          <p:cNvPr id="24581" name="Text Box 7">
            <a:extLst>
              <a:ext uri="{FF2B5EF4-FFF2-40B4-BE49-F238E27FC236}">
                <a16:creationId xmlns:a16="http://schemas.microsoft.com/office/drawing/2014/main" id="{17D48640-BC09-4ABD-9296-D4BF51359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051" y="4614185"/>
            <a:ext cx="8147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1200" dirty="0">
                <a:solidFill>
                  <a:schemeClr val="accent2"/>
                </a:solidFill>
              </a:rPr>
              <a:t>“one minus”</a:t>
            </a:r>
          </a:p>
        </p:txBody>
      </p:sp>
      <p:sp>
        <p:nvSpPr>
          <p:cNvPr id="24582" name="Text Box 8">
            <a:extLst>
              <a:ext uri="{FF2B5EF4-FFF2-40B4-BE49-F238E27FC236}">
                <a16:creationId xmlns:a16="http://schemas.microsoft.com/office/drawing/2014/main" id="{60BFF7F6-F825-4FE8-91DB-5F0F393A7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540" y="4161242"/>
            <a:ext cx="8147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1200" dirty="0">
                <a:solidFill>
                  <a:schemeClr val="accent2"/>
                </a:solidFill>
              </a:rPr>
              <a:t>“one minus”</a:t>
            </a:r>
          </a:p>
        </p:txBody>
      </p:sp>
      <p:sp>
        <p:nvSpPr>
          <p:cNvPr id="24583" name="Text Box 6">
            <a:extLst>
              <a:ext uri="{FF2B5EF4-FFF2-40B4-BE49-F238E27FC236}">
                <a16:creationId xmlns:a16="http://schemas.microsoft.com/office/drawing/2014/main" id="{7EE3759D-A0B2-4E42-B479-7DCA63D61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1" y="6067130"/>
            <a:ext cx="57229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1400"/>
              <a:t>Dark color is numerator, dark and light color is denominator.</a:t>
            </a:r>
            <a:br>
              <a:rPr lang="en-US" altLang="es-ES" sz="1400"/>
            </a:br>
            <a:r>
              <a:rPr lang="en-US" altLang="es-ES" sz="1400"/>
              <a:t>Blue parameters: 1 is good.  Red: 0 is good.</a:t>
            </a:r>
          </a:p>
        </p:txBody>
      </p:sp>
    </p:spTree>
    <p:extLst>
      <p:ext uri="{BB962C8B-B14F-4D97-AF65-F5344CB8AC3E}">
        <p14:creationId xmlns:p14="http://schemas.microsoft.com/office/powerpoint/2010/main" val="2488454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2D349F3E-F05B-453F-8EB9-FC997FB4527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29656" y="138391"/>
            <a:ext cx="899446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s-ES" altLang="es-ES" dirty="0" err="1"/>
              <a:t>Many</a:t>
            </a:r>
            <a:r>
              <a:rPr lang="es-ES" altLang="es-ES" dirty="0"/>
              <a:t> </a:t>
            </a:r>
            <a:r>
              <a:rPr lang="es-ES" altLang="es-ES" dirty="0" err="1"/>
              <a:t>ways</a:t>
            </a:r>
            <a:r>
              <a:rPr lang="es-ES" altLang="es-ES" dirty="0"/>
              <a:t> to </a:t>
            </a:r>
            <a:r>
              <a:rPr lang="es-ES" altLang="es-ES" dirty="0" err="1"/>
              <a:t>deal</a:t>
            </a:r>
            <a:r>
              <a:rPr lang="es-ES" altLang="es-ES" dirty="0"/>
              <a:t> </a:t>
            </a:r>
            <a:r>
              <a:rPr lang="es-ES" altLang="es-ES" dirty="0" err="1"/>
              <a:t>with</a:t>
            </a:r>
            <a:r>
              <a:rPr lang="es-ES" altLang="es-ES" dirty="0"/>
              <a:t/>
            </a:r>
            <a:br>
              <a:rPr lang="es-ES" altLang="es-ES" dirty="0"/>
            </a:br>
            <a:r>
              <a:rPr lang="es-ES" altLang="es-ES" dirty="0" err="1"/>
              <a:t>this</a:t>
            </a:r>
            <a:r>
              <a:rPr lang="es-ES" altLang="es-ES" dirty="0"/>
              <a:t> </a:t>
            </a:r>
            <a:r>
              <a:rPr lang="es-ES" altLang="es-ES" dirty="0" err="1"/>
              <a:t>contingency</a:t>
            </a:r>
            <a:r>
              <a:rPr lang="es-ES" altLang="es-ES" dirty="0"/>
              <a:t> </a:t>
            </a:r>
            <a:r>
              <a:rPr lang="es-ES" altLang="es-ES" dirty="0" err="1"/>
              <a:t>table</a:t>
            </a:r>
            <a:endParaRPr lang="en-US" altLang="es-ES" dirty="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580800A-6978-485C-AEF8-F98751B8BAD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249768" y="1600776"/>
            <a:ext cx="8722213" cy="4525934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s-ES" sz="2665" dirty="0"/>
              <a:t>The performance of a classifier is a 2x2 contingency table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s-ES" sz="2284" dirty="0"/>
              <a:t>the “confusion matrix” of TP, FP, FN, TN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s-ES" sz="2665" dirty="0"/>
              <a:t>Most classifiers can be varied from “conservative” to “liberal”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s-ES" sz="2284" dirty="0"/>
              <a:t>Call a larger number of TPs at the expense of also a larger number of FPs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s-ES" sz="2284" dirty="0"/>
              <a:t>One-parameter curve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s-ES" sz="2665" dirty="0"/>
              <a:t>ROC plots TPR (y-axis) as a function of FPR (x-axis)</a:t>
            </a:r>
          </a:p>
        </p:txBody>
      </p:sp>
    </p:spTree>
    <p:extLst>
      <p:ext uri="{BB962C8B-B14F-4D97-AF65-F5344CB8AC3E}">
        <p14:creationId xmlns:p14="http://schemas.microsoft.com/office/powerpoint/2010/main" val="3785254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02ED0FE-501C-40E8-ABF6-A37D4B4A9013}"/>
              </a:ext>
            </a:extLst>
          </p:cNvPr>
          <p:cNvGrpSpPr>
            <a:grpSpLocks/>
          </p:cNvGrpSpPr>
          <p:nvPr/>
        </p:nvGrpSpPr>
        <p:grpSpPr bwMode="auto">
          <a:xfrm>
            <a:off x="2971801" y="1353367"/>
            <a:ext cx="4572000" cy="4572000"/>
            <a:chOff x="1488" y="720"/>
            <a:chExt cx="2880" cy="2880"/>
          </a:xfrm>
        </p:grpSpPr>
        <p:sp>
          <p:nvSpPr>
            <p:cNvPr id="25637" name="Line 3">
              <a:extLst>
                <a:ext uri="{FF2B5EF4-FFF2-40B4-BE49-F238E27FC236}">
                  <a16:creationId xmlns:a16="http://schemas.microsoft.com/office/drawing/2014/main" id="{7159BA52-A64F-45E5-AE00-E577ECBC49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720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25638" name="Line 4">
              <a:extLst>
                <a:ext uri="{FF2B5EF4-FFF2-40B4-BE49-F238E27FC236}">
                  <a16:creationId xmlns:a16="http://schemas.microsoft.com/office/drawing/2014/main" id="{425E9FD9-C304-41AB-98EF-1D9514BC48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720"/>
              <a:ext cx="0" cy="28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C059CCC5-DDFD-4C03-9475-59B8F7CADC0B}"/>
              </a:ext>
            </a:extLst>
          </p:cNvPr>
          <p:cNvGrpSpPr>
            <a:grpSpLocks/>
          </p:cNvGrpSpPr>
          <p:nvPr/>
        </p:nvGrpSpPr>
        <p:grpSpPr bwMode="auto">
          <a:xfrm>
            <a:off x="1905001" y="1353366"/>
            <a:ext cx="1066800" cy="4637088"/>
            <a:chOff x="816" y="720"/>
            <a:chExt cx="672" cy="2921"/>
          </a:xfrm>
        </p:grpSpPr>
        <p:sp>
          <p:nvSpPr>
            <p:cNvPr id="25633" name="Line 6">
              <a:extLst>
                <a:ext uri="{FF2B5EF4-FFF2-40B4-BE49-F238E27FC236}">
                  <a16:creationId xmlns:a16="http://schemas.microsoft.com/office/drawing/2014/main" id="{6830A124-FAE8-4E3B-8CF5-A61BDC29C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720"/>
              <a:ext cx="0" cy="28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25634" name="Text Box 7">
              <a:extLst>
                <a:ext uri="{FF2B5EF4-FFF2-40B4-BE49-F238E27FC236}">
                  <a16:creationId xmlns:a16="http://schemas.microsoft.com/office/drawing/2014/main" id="{4A886CDE-93D6-4AD5-8BF4-9B74BA426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20" y="2029"/>
              <a:ext cx="1728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s-ES" sz="2001">
                  <a:latin typeface="Comic Sans MS" panose="030F0702030302020204" pitchFamily="66" charset="0"/>
                </a:rPr>
                <a:t>True Positive Rate      (sensitivity)</a:t>
              </a:r>
            </a:p>
          </p:txBody>
        </p:sp>
        <p:sp>
          <p:nvSpPr>
            <p:cNvPr id="25635" name="Text Box 8">
              <a:extLst>
                <a:ext uri="{FF2B5EF4-FFF2-40B4-BE49-F238E27FC236}">
                  <a16:creationId xmlns:a16="http://schemas.microsoft.com/office/drawing/2014/main" id="{3FBEA5D5-ED11-4368-B4C0-7454DA8B33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408"/>
              <a:ext cx="33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s-ES" sz="1800" b="1">
                  <a:latin typeface="Comic Sans MS" panose="030F0702030302020204" pitchFamily="66" charset="0"/>
                </a:rPr>
                <a:t>0%</a:t>
              </a:r>
            </a:p>
          </p:txBody>
        </p:sp>
        <p:sp>
          <p:nvSpPr>
            <p:cNvPr id="25636" name="Text Box 9">
              <a:extLst>
                <a:ext uri="{FF2B5EF4-FFF2-40B4-BE49-F238E27FC236}">
                  <a16:creationId xmlns:a16="http://schemas.microsoft.com/office/drawing/2014/main" id="{E15A78A4-4464-404F-98A4-223AE2F4FF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768"/>
              <a:ext cx="62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s-ES" sz="1800" b="1">
                  <a:latin typeface="Comic Sans MS" panose="030F0702030302020204" pitchFamily="66" charset="0"/>
                </a:rPr>
                <a:t>100%</a:t>
              </a:r>
            </a:p>
          </p:txBody>
        </p:sp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54E725D8-A386-41F6-A5E3-A45CC7C3CF31}"/>
              </a:ext>
            </a:extLst>
          </p:cNvPr>
          <p:cNvGrpSpPr>
            <a:grpSpLocks/>
          </p:cNvGrpSpPr>
          <p:nvPr/>
        </p:nvGrpSpPr>
        <p:grpSpPr bwMode="auto">
          <a:xfrm>
            <a:off x="2819401" y="5925352"/>
            <a:ext cx="4952999" cy="1012823"/>
            <a:chOff x="1392" y="3600"/>
            <a:chExt cx="3120" cy="638"/>
          </a:xfrm>
        </p:grpSpPr>
        <p:sp>
          <p:nvSpPr>
            <p:cNvPr id="25629" name="Line 11">
              <a:extLst>
                <a:ext uri="{FF2B5EF4-FFF2-40B4-BE49-F238E27FC236}">
                  <a16:creationId xmlns:a16="http://schemas.microsoft.com/office/drawing/2014/main" id="{F9908CE5-CCFE-4370-B901-AEF00CA96A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928" y="2160"/>
              <a:ext cx="0" cy="28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25630" name="Text Box 12">
              <a:extLst>
                <a:ext uri="{FF2B5EF4-FFF2-40B4-BE49-F238E27FC236}">
                  <a16:creationId xmlns:a16="http://schemas.microsoft.com/office/drawing/2014/main" id="{C7507E7C-040A-4D3A-AF33-B078B24C6E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792"/>
              <a:ext cx="153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s-ES" sz="2001">
                  <a:latin typeface="Comic Sans MS" panose="030F0702030302020204" pitchFamily="66" charset="0"/>
                </a:rPr>
                <a:t>False Positive Rate (1-specificity)</a:t>
              </a:r>
            </a:p>
          </p:txBody>
        </p:sp>
        <p:sp>
          <p:nvSpPr>
            <p:cNvPr id="25631" name="Text Box 13">
              <a:extLst>
                <a:ext uri="{FF2B5EF4-FFF2-40B4-BE49-F238E27FC236}">
                  <a16:creationId xmlns:a16="http://schemas.microsoft.com/office/drawing/2014/main" id="{E90134C4-09FB-48AF-8E4C-CFBC5909B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696"/>
              <a:ext cx="33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s-ES" sz="1800" b="1">
                  <a:latin typeface="Comic Sans MS" panose="030F0702030302020204" pitchFamily="66" charset="0"/>
                </a:rPr>
                <a:t>0%</a:t>
              </a:r>
            </a:p>
          </p:txBody>
        </p:sp>
        <p:sp>
          <p:nvSpPr>
            <p:cNvPr id="25632" name="Text Box 14">
              <a:extLst>
                <a:ext uri="{FF2B5EF4-FFF2-40B4-BE49-F238E27FC236}">
                  <a16:creationId xmlns:a16="http://schemas.microsoft.com/office/drawing/2014/main" id="{5FCC2BC7-F7EA-4CB3-B101-EE6F28EF2E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3648"/>
              <a:ext cx="52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s-ES" sz="1800" b="1">
                  <a:latin typeface="Comic Sans MS" panose="030F0702030302020204" pitchFamily="66" charset="0"/>
                </a:rPr>
                <a:t>100%</a:t>
              </a:r>
            </a:p>
          </p:txBody>
        </p:sp>
      </p:grpSp>
      <p:sp>
        <p:nvSpPr>
          <p:cNvPr id="415759" name="Line 15">
            <a:extLst>
              <a:ext uri="{FF2B5EF4-FFF2-40B4-BE49-F238E27FC236}">
                <a16:creationId xmlns:a16="http://schemas.microsoft.com/office/drawing/2014/main" id="{363801DE-3E3D-4096-9907-D1AFA32797A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3105967"/>
            <a:ext cx="0" cy="1066800"/>
          </a:xfrm>
          <a:prstGeom prst="line">
            <a:avLst/>
          </a:prstGeom>
          <a:noFill/>
          <a:ln w="28575">
            <a:solidFill>
              <a:srgbClr val="66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FD9476E2-C432-4A5F-AE1C-65786044F7B5}"/>
              </a:ext>
            </a:extLst>
          </p:cNvPr>
          <p:cNvGrpSpPr>
            <a:grpSpLocks/>
          </p:cNvGrpSpPr>
          <p:nvPr/>
        </p:nvGrpSpPr>
        <p:grpSpPr bwMode="auto">
          <a:xfrm>
            <a:off x="6553201" y="3486967"/>
            <a:ext cx="3733800" cy="660399"/>
            <a:chOff x="3072" y="2096"/>
            <a:chExt cx="2352" cy="416"/>
          </a:xfrm>
        </p:grpSpPr>
        <p:sp>
          <p:nvSpPr>
            <p:cNvPr id="25626" name="Line 17">
              <a:extLst>
                <a:ext uri="{FF2B5EF4-FFF2-40B4-BE49-F238E27FC236}">
                  <a16:creationId xmlns:a16="http://schemas.microsoft.com/office/drawing/2014/main" id="{342380D8-E6C0-42A2-A15D-9F82110249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510"/>
              <a:ext cx="23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25627" name="Freeform 18">
              <a:extLst>
                <a:ext uri="{FF2B5EF4-FFF2-40B4-BE49-F238E27FC236}">
                  <a16:creationId xmlns:a16="http://schemas.microsoft.com/office/drawing/2014/main" id="{36AFC8C3-0C0E-4B33-9058-6A3FBF3CE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8" y="2096"/>
              <a:ext cx="1291" cy="411"/>
            </a:xfrm>
            <a:custGeom>
              <a:avLst/>
              <a:gdLst>
                <a:gd name="T0" fmla="*/ 0 w 2478"/>
                <a:gd name="T1" fmla="*/ 3 h 1146"/>
                <a:gd name="T2" fmla="*/ 7 w 2478"/>
                <a:gd name="T3" fmla="*/ 2 h 1146"/>
                <a:gd name="T4" fmla="*/ 11 w 2478"/>
                <a:gd name="T5" fmla="*/ 2 h 1146"/>
                <a:gd name="T6" fmla="*/ 14 w 2478"/>
                <a:gd name="T7" fmla="*/ 1 h 1146"/>
                <a:gd name="T8" fmla="*/ 17 w 2478"/>
                <a:gd name="T9" fmla="*/ 1 h 1146"/>
                <a:gd name="T10" fmla="*/ 22 w 2478"/>
                <a:gd name="T11" fmla="*/ 0 h 1146"/>
                <a:gd name="T12" fmla="*/ 25 w 2478"/>
                <a:gd name="T13" fmla="*/ 0 h 1146"/>
                <a:gd name="T14" fmla="*/ 28 w 2478"/>
                <a:gd name="T15" fmla="*/ 0 h 1146"/>
                <a:gd name="T16" fmla="*/ 31 w 2478"/>
                <a:gd name="T17" fmla="*/ 1 h 1146"/>
                <a:gd name="T18" fmla="*/ 33 w 2478"/>
                <a:gd name="T19" fmla="*/ 2 h 1146"/>
                <a:gd name="T20" fmla="*/ 35 w 2478"/>
                <a:gd name="T21" fmla="*/ 2 h 1146"/>
                <a:gd name="T22" fmla="*/ 38 w 2478"/>
                <a:gd name="T23" fmla="*/ 2 h 1146"/>
                <a:gd name="T24" fmla="*/ 41 w 2478"/>
                <a:gd name="T25" fmla="*/ 2 h 1146"/>
                <a:gd name="T26" fmla="*/ 49 w 2478"/>
                <a:gd name="T27" fmla="*/ 3 h 114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478"/>
                <a:gd name="T43" fmla="*/ 0 h 1146"/>
                <a:gd name="T44" fmla="*/ 2478 w 2478"/>
                <a:gd name="T45" fmla="*/ 1146 h 114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478" h="1146">
                  <a:moveTo>
                    <a:pt x="0" y="1146"/>
                  </a:moveTo>
                  <a:cubicBezTo>
                    <a:pt x="57" y="1137"/>
                    <a:pt x="267" y="1110"/>
                    <a:pt x="356" y="1079"/>
                  </a:cubicBezTo>
                  <a:cubicBezTo>
                    <a:pt x="445" y="1048"/>
                    <a:pt x="477" y="1028"/>
                    <a:pt x="534" y="960"/>
                  </a:cubicBezTo>
                  <a:cubicBezTo>
                    <a:pt x="591" y="892"/>
                    <a:pt x="644" y="772"/>
                    <a:pt x="700" y="668"/>
                  </a:cubicBezTo>
                  <a:cubicBezTo>
                    <a:pt x="756" y="564"/>
                    <a:pt x="802" y="439"/>
                    <a:pt x="870" y="336"/>
                  </a:cubicBezTo>
                  <a:cubicBezTo>
                    <a:pt x="938" y="233"/>
                    <a:pt x="1046" y="96"/>
                    <a:pt x="1110" y="48"/>
                  </a:cubicBezTo>
                  <a:cubicBezTo>
                    <a:pt x="1174" y="0"/>
                    <a:pt x="1206" y="16"/>
                    <a:pt x="1254" y="48"/>
                  </a:cubicBezTo>
                  <a:cubicBezTo>
                    <a:pt x="1302" y="80"/>
                    <a:pt x="1350" y="152"/>
                    <a:pt x="1398" y="240"/>
                  </a:cubicBezTo>
                  <a:cubicBezTo>
                    <a:pt x="1446" y="328"/>
                    <a:pt x="1501" y="484"/>
                    <a:pt x="1542" y="576"/>
                  </a:cubicBezTo>
                  <a:cubicBezTo>
                    <a:pt x="1583" y="668"/>
                    <a:pt x="1606" y="730"/>
                    <a:pt x="1645" y="790"/>
                  </a:cubicBezTo>
                  <a:cubicBezTo>
                    <a:pt x="1684" y="850"/>
                    <a:pt x="1739" y="899"/>
                    <a:pt x="1778" y="935"/>
                  </a:cubicBezTo>
                  <a:cubicBezTo>
                    <a:pt x="1817" y="971"/>
                    <a:pt x="1837" y="980"/>
                    <a:pt x="1878" y="1008"/>
                  </a:cubicBezTo>
                  <a:cubicBezTo>
                    <a:pt x="1919" y="1036"/>
                    <a:pt x="1922" y="1085"/>
                    <a:pt x="2022" y="1104"/>
                  </a:cubicBezTo>
                  <a:cubicBezTo>
                    <a:pt x="2122" y="1123"/>
                    <a:pt x="2383" y="1120"/>
                    <a:pt x="2478" y="1124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25628" name="Freeform 19">
              <a:extLst>
                <a:ext uri="{FF2B5EF4-FFF2-40B4-BE49-F238E27FC236}">
                  <a16:creationId xmlns:a16="http://schemas.microsoft.com/office/drawing/2014/main" id="{99BAF167-2570-4D3F-8935-6681AB174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2" y="2096"/>
              <a:ext cx="1463" cy="416"/>
            </a:xfrm>
            <a:custGeom>
              <a:avLst/>
              <a:gdLst>
                <a:gd name="T0" fmla="*/ 0 w 2806"/>
                <a:gd name="T1" fmla="*/ 3 h 1158"/>
                <a:gd name="T2" fmla="*/ 5 w 2806"/>
                <a:gd name="T3" fmla="*/ 2 h 1158"/>
                <a:gd name="T4" fmla="*/ 7 w 2806"/>
                <a:gd name="T5" fmla="*/ 2 h 1158"/>
                <a:gd name="T6" fmla="*/ 10 w 2806"/>
                <a:gd name="T7" fmla="*/ 2 h 1158"/>
                <a:gd name="T8" fmla="*/ 13 w 2806"/>
                <a:gd name="T9" fmla="*/ 1 h 1158"/>
                <a:gd name="T10" fmla="*/ 15 w 2806"/>
                <a:gd name="T11" fmla="*/ 1 h 1158"/>
                <a:gd name="T12" fmla="*/ 19 w 2806"/>
                <a:gd name="T13" fmla="*/ 0 h 1158"/>
                <a:gd name="T14" fmla="*/ 22 w 2806"/>
                <a:gd name="T15" fmla="*/ 0 h 1158"/>
                <a:gd name="T16" fmla="*/ 26 w 2806"/>
                <a:gd name="T17" fmla="*/ 0 h 1158"/>
                <a:gd name="T18" fmla="*/ 29 w 2806"/>
                <a:gd name="T19" fmla="*/ 0 h 1158"/>
                <a:gd name="T20" fmla="*/ 32 w 2806"/>
                <a:gd name="T21" fmla="*/ 0 h 1158"/>
                <a:gd name="T22" fmla="*/ 34 w 2806"/>
                <a:gd name="T23" fmla="*/ 1 h 1158"/>
                <a:gd name="T24" fmla="*/ 35 w 2806"/>
                <a:gd name="T25" fmla="*/ 1 h 1158"/>
                <a:gd name="T26" fmla="*/ 36 w 2806"/>
                <a:gd name="T27" fmla="*/ 1 h 1158"/>
                <a:gd name="T28" fmla="*/ 38 w 2806"/>
                <a:gd name="T29" fmla="*/ 1 h 1158"/>
                <a:gd name="T30" fmla="*/ 40 w 2806"/>
                <a:gd name="T31" fmla="*/ 2 h 1158"/>
                <a:gd name="T32" fmla="*/ 41 w 2806"/>
                <a:gd name="T33" fmla="*/ 2 h 1158"/>
                <a:gd name="T34" fmla="*/ 44 w 2806"/>
                <a:gd name="T35" fmla="*/ 2 h 1158"/>
                <a:gd name="T36" fmla="*/ 46 w 2806"/>
                <a:gd name="T37" fmla="*/ 2 h 1158"/>
                <a:gd name="T38" fmla="*/ 50 w 2806"/>
                <a:gd name="T39" fmla="*/ 2 h 1158"/>
                <a:gd name="T40" fmla="*/ 56 w 2806"/>
                <a:gd name="T41" fmla="*/ 3 h 115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806"/>
                <a:gd name="T64" fmla="*/ 0 h 1158"/>
                <a:gd name="T65" fmla="*/ 2806 w 2806"/>
                <a:gd name="T66" fmla="*/ 1158 h 115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806" h="1158">
                  <a:moveTo>
                    <a:pt x="0" y="1158"/>
                  </a:moveTo>
                  <a:cubicBezTo>
                    <a:pt x="92" y="1146"/>
                    <a:pt x="184" y="1134"/>
                    <a:pt x="240" y="1110"/>
                  </a:cubicBezTo>
                  <a:cubicBezTo>
                    <a:pt x="296" y="1086"/>
                    <a:pt x="288" y="1062"/>
                    <a:pt x="336" y="1014"/>
                  </a:cubicBezTo>
                  <a:cubicBezTo>
                    <a:pt x="384" y="966"/>
                    <a:pt x="479" y="880"/>
                    <a:pt x="528" y="822"/>
                  </a:cubicBezTo>
                  <a:cubicBezTo>
                    <a:pt x="577" y="764"/>
                    <a:pt x="589" y="726"/>
                    <a:pt x="628" y="663"/>
                  </a:cubicBezTo>
                  <a:cubicBezTo>
                    <a:pt x="667" y="600"/>
                    <a:pt x="710" y="508"/>
                    <a:pt x="762" y="441"/>
                  </a:cubicBezTo>
                  <a:cubicBezTo>
                    <a:pt x="814" y="374"/>
                    <a:pt x="882" y="319"/>
                    <a:pt x="939" y="263"/>
                  </a:cubicBezTo>
                  <a:cubicBezTo>
                    <a:pt x="996" y="207"/>
                    <a:pt x="1049" y="144"/>
                    <a:pt x="1104" y="102"/>
                  </a:cubicBezTo>
                  <a:cubicBezTo>
                    <a:pt x="1159" y="60"/>
                    <a:pt x="1217" y="16"/>
                    <a:pt x="1273" y="8"/>
                  </a:cubicBezTo>
                  <a:cubicBezTo>
                    <a:pt x="1329" y="0"/>
                    <a:pt x="1388" y="22"/>
                    <a:pt x="1440" y="54"/>
                  </a:cubicBezTo>
                  <a:cubicBezTo>
                    <a:pt x="1492" y="86"/>
                    <a:pt x="1545" y="147"/>
                    <a:pt x="1584" y="198"/>
                  </a:cubicBezTo>
                  <a:cubicBezTo>
                    <a:pt x="1623" y="249"/>
                    <a:pt x="1649" y="315"/>
                    <a:pt x="1673" y="363"/>
                  </a:cubicBezTo>
                  <a:cubicBezTo>
                    <a:pt x="1697" y="411"/>
                    <a:pt x="1702" y="445"/>
                    <a:pt x="1728" y="486"/>
                  </a:cubicBezTo>
                  <a:cubicBezTo>
                    <a:pt x="1754" y="527"/>
                    <a:pt x="1804" y="576"/>
                    <a:pt x="1828" y="608"/>
                  </a:cubicBezTo>
                  <a:cubicBezTo>
                    <a:pt x="1852" y="640"/>
                    <a:pt x="1849" y="650"/>
                    <a:pt x="1872" y="678"/>
                  </a:cubicBezTo>
                  <a:cubicBezTo>
                    <a:pt x="1895" y="706"/>
                    <a:pt x="1936" y="734"/>
                    <a:pt x="1968" y="774"/>
                  </a:cubicBezTo>
                  <a:cubicBezTo>
                    <a:pt x="2000" y="814"/>
                    <a:pt x="2030" y="877"/>
                    <a:pt x="2064" y="918"/>
                  </a:cubicBezTo>
                  <a:cubicBezTo>
                    <a:pt x="2098" y="959"/>
                    <a:pt x="2133" y="995"/>
                    <a:pt x="2173" y="1019"/>
                  </a:cubicBezTo>
                  <a:cubicBezTo>
                    <a:pt x="2213" y="1043"/>
                    <a:pt x="2250" y="1047"/>
                    <a:pt x="2304" y="1062"/>
                  </a:cubicBezTo>
                  <a:cubicBezTo>
                    <a:pt x="2358" y="1077"/>
                    <a:pt x="2411" y="1093"/>
                    <a:pt x="2495" y="1108"/>
                  </a:cubicBezTo>
                  <a:cubicBezTo>
                    <a:pt x="2579" y="1123"/>
                    <a:pt x="2741" y="1143"/>
                    <a:pt x="2806" y="1152"/>
                  </a:cubicBezTo>
                </a:path>
              </a:pathLst>
            </a:custGeom>
            <a:noFill/>
            <a:ln w="38100" cap="flat" cmpd="sng">
              <a:solidFill>
                <a:srgbClr val="FF00FF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</p:grpSp>
      <p:sp>
        <p:nvSpPr>
          <p:cNvPr id="415764" name="Line 20">
            <a:extLst>
              <a:ext uri="{FF2B5EF4-FFF2-40B4-BE49-F238E27FC236}">
                <a16:creationId xmlns:a16="http://schemas.microsoft.com/office/drawing/2014/main" id="{02D8657D-FF50-4BE5-B4A3-35459BCC7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3105967"/>
            <a:ext cx="0" cy="1066800"/>
          </a:xfrm>
          <a:prstGeom prst="line">
            <a:avLst/>
          </a:prstGeom>
          <a:noFill/>
          <a:ln w="28575">
            <a:solidFill>
              <a:srgbClr val="D8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415765" name="Line 21">
            <a:extLst>
              <a:ext uri="{FF2B5EF4-FFF2-40B4-BE49-F238E27FC236}">
                <a16:creationId xmlns:a16="http://schemas.microsoft.com/office/drawing/2014/main" id="{5F200CFC-6485-4492-8E2A-34149852A8E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3105967"/>
            <a:ext cx="0" cy="10668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415766" name="Line 22">
            <a:extLst>
              <a:ext uri="{FF2B5EF4-FFF2-40B4-BE49-F238E27FC236}">
                <a16:creationId xmlns:a16="http://schemas.microsoft.com/office/drawing/2014/main" id="{2895D7B7-34A1-4862-B525-71FE56676EC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3105967"/>
            <a:ext cx="0" cy="1066800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415767" name="Line 23">
            <a:extLst>
              <a:ext uri="{FF2B5EF4-FFF2-40B4-BE49-F238E27FC236}">
                <a16:creationId xmlns:a16="http://schemas.microsoft.com/office/drawing/2014/main" id="{BC327853-1991-4D6F-AEE8-6545FD8EDDF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105967"/>
            <a:ext cx="0" cy="10668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415768" name="Line 24">
            <a:extLst>
              <a:ext uri="{FF2B5EF4-FFF2-40B4-BE49-F238E27FC236}">
                <a16:creationId xmlns:a16="http://schemas.microsoft.com/office/drawing/2014/main" id="{DFB2FDDE-FE7C-420F-B575-FB0C48770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3105967"/>
            <a:ext cx="0" cy="10668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415769" name="Line 25">
            <a:extLst>
              <a:ext uri="{FF2B5EF4-FFF2-40B4-BE49-F238E27FC236}">
                <a16:creationId xmlns:a16="http://schemas.microsoft.com/office/drawing/2014/main" id="{682C6394-401F-49F4-A1EC-B522F58F084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3105967"/>
            <a:ext cx="0" cy="10668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415770" name="Line 26">
            <a:extLst>
              <a:ext uri="{FF2B5EF4-FFF2-40B4-BE49-F238E27FC236}">
                <a16:creationId xmlns:a16="http://schemas.microsoft.com/office/drawing/2014/main" id="{971E7235-F751-4F30-8780-5511BAF4EA0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20199" y="3105967"/>
            <a:ext cx="0" cy="10668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415771" name="Oval 27">
            <a:extLst>
              <a:ext uri="{FF2B5EF4-FFF2-40B4-BE49-F238E27FC236}">
                <a16:creationId xmlns:a16="http://schemas.microsoft.com/office/drawing/2014/main" id="{B13EE005-0EED-4A22-AA71-25D8AA1C5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1" y="1353367"/>
            <a:ext cx="76200" cy="76200"/>
          </a:xfrm>
          <a:prstGeom prst="ellipse">
            <a:avLst/>
          </a:prstGeom>
          <a:solidFill>
            <a:srgbClr val="6633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ES" altLang="es-ES"/>
          </a:p>
        </p:txBody>
      </p:sp>
      <p:sp>
        <p:nvSpPr>
          <p:cNvPr id="415772" name="Oval 28">
            <a:extLst>
              <a:ext uri="{FF2B5EF4-FFF2-40B4-BE49-F238E27FC236}">
                <a16:creationId xmlns:a16="http://schemas.microsoft.com/office/drawing/2014/main" id="{2D444A19-819F-427F-B1E0-F81E20AEC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1" y="1505767"/>
            <a:ext cx="76200" cy="76200"/>
          </a:xfrm>
          <a:prstGeom prst="ellipse">
            <a:avLst/>
          </a:prstGeom>
          <a:solidFill>
            <a:srgbClr val="D800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ES" altLang="es-ES"/>
          </a:p>
        </p:txBody>
      </p:sp>
      <p:sp>
        <p:nvSpPr>
          <p:cNvPr id="415773" name="Oval 29">
            <a:extLst>
              <a:ext uri="{FF2B5EF4-FFF2-40B4-BE49-F238E27FC236}">
                <a16:creationId xmlns:a16="http://schemas.microsoft.com/office/drawing/2014/main" id="{6B952400-BFB6-48B3-8BB8-A20743669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1734366"/>
            <a:ext cx="76200" cy="76200"/>
          </a:xfrm>
          <a:prstGeom prst="ellipse">
            <a:avLst/>
          </a:prstGeom>
          <a:solidFill>
            <a:srgbClr val="FF99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ES" altLang="es-ES"/>
          </a:p>
        </p:txBody>
      </p:sp>
      <p:sp>
        <p:nvSpPr>
          <p:cNvPr id="415774" name="Oval 30">
            <a:extLst>
              <a:ext uri="{FF2B5EF4-FFF2-40B4-BE49-F238E27FC236}">
                <a16:creationId xmlns:a16="http://schemas.microsoft.com/office/drawing/2014/main" id="{0CCB5B78-47B8-49FD-AC19-378B8920B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1" y="2267767"/>
            <a:ext cx="76200" cy="76200"/>
          </a:xfrm>
          <a:prstGeom prst="ellipse">
            <a:avLst/>
          </a:prstGeom>
          <a:solidFill>
            <a:srgbClr val="FF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ES" altLang="es-ES"/>
          </a:p>
        </p:txBody>
      </p:sp>
      <p:sp>
        <p:nvSpPr>
          <p:cNvPr id="415775" name="Oval 31">
            <a:extLst>
              <a:ext uri="{FF2B5EF4-FFF2-40B4-BE49-F238E27FC236}">
                <a16:creationId xmlns:a16="http://schemas.microsoft.com/office/drawing/2014/main" id="{3338BAF7-2312-4C12-8539-19E85D6D6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410767"/>
            <a:ext cx="76200" cy="76200"/>
          </a:xfrm>
          <a:prstGeom prst="ellipse">
            <a:avLst/>
          </a:prstGeom>
          <a:solidFill>
            <a:srgbClr val="0099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ES" altLang="es-ES"/>
          </a:p>
        </p:txBody>
      </p:sp>
      <p:sp>
        <p:nvSpPr>
          <p:cNvPr id="415776" name="Oval 32">
            <a:extLst>
              <a:ext uri="{FF2B5EF4-FFF2-40B4-BE49-F238E27FC236}">
                <a16:creationId xmlns:a16="http://schemas.microsoft.com/office/drawing/2014/main" id="{49B82DA2-06B0-460F-AA7B-F585BE98B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325167"/>
            <a:ext cx="76200" cy="76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ES" altLang="es-ES"/>
          </a:p>
        </p:txBody>
      </p:sp>
      <p:sp>
        <p:nvSpPr>
          <p:cNvPr id="415777" name="Oval 33">
            <a:extLst>
              <a:ext uri="{FF2B5EF4-FFF2-40B4-BE49-F238E27FC236}">
                <a16:creationId xmlns:a16="http://schemas.microsoft.com/office/drawing/2014/main" id="{4A8506A0-5F23-4CAC-A2FD-AA9584534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087166"/>
            <a:ext cx="76200" cy="76200"/>
          </a:xfrm>
          <a:prstGeom prst="ellipse">
            <a:avLst/>
          </a:prstGeom>
          <a:solidFill>
            <a:srgbClr val="000099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ES" altLang="es-ES"/>
          </a:p>
        </p:txBody>
      </p:sp>
      <p:sp>
        <p:nvSpPr>
          <p:cNvPr id="415778" name="Oval 34">
            <a:extLst>
              <a:ext uri="{FF2B5EF4-FFF2-40B4-BE49-F238E27FC236}">
                <a16:creationId xmlns:a16="http://schemas.microsoft.com/office/drawing/2014/main" id="{3F6269CC-47FD-4054-B532-FEE13E06C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468167"/>
            <a:ext cx="76200" cy="762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ES" altLang="es-ES"/>
          </a:p>
        </p:txBody>
      </p:sp>
      <p:sp>
        <p:nvSpPr>
          <p:cNvPr id="25622" name="Rectangle 35">
            <a:extLst>
              <a:ext uri="{FF2B5EF4-FFF2-40B4-BE49-F238E27FC236}">
                <a16:creationId xmlns:a16="http://schemas.microsoft.com/office/drawing/2014/main" id="{878BCC5B-A22D-4A86-9D9C-4CBF3DA78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s-ES" dirty="0"/>
              <a:t>ROC curve</a:t>
            </a:r>
          </a:p>
        </p:txBody>
      </p:sp>
      <p:sp>
        <p:nvSpPr>
          <p:cNvPr id="25623" name="Freeform 36">
            <a:extLst>
              <a:ext uri="{FF2B5EF4-FFF2-40B4-BE49-F238E27FC236}">
                <a16:creationId xmlns:a16="http://schemas.microsoft.com/office/drawing/2014/main" id="{8CD0EB7E-9C33-486A-9DDC-D5480F470238}"/>
              </a:ext>
            </a:extLst>
          </p:cNvPr>
          <p:cNvSpPr>
            <a:spLocks/>
          </p:cNvSpPr>
          <p:nvPr/>
        </p:nvSpPr>
        <p:spPr bwMode="auto">
          <a:xfrm>
            <a:off x="6934200" y="3486966"/>
            <a:ext cx="2362201" cy="685800"/>
          </a:xfrm>
          <a:custGeom>
            <a:avLst/>
            <a:gdLst>
              <a:gd name="T0" fmla="*/ 0 w 2806"/>
              <a:gd name="T1" fmla="*/ 2147483647 h 1158"/>
              <a:gd name="T2" fmla="*/ 2147483647 w 2806"/>
              <a:gd name="T3" fmla="*/ 2147483647 h 1158"/>
              <a:gd name="T4" fmla="*/ 2147483647 w 2806"/>
              <a:gd name="T5" fmla="*/ 2147483647 h 1158"/>
              <a:gd name="T6" fmla="*/ 2147483647 w 2806"/>
              <a:gd name="T7" fmla="*/ 2147483647 h 1158"/>
              <a:gd name="T8" fmla="*/ 2147483647 w 2806"/>
              <a:gd name="T9" fmla="*/ 2147483647 h 1158"/>
              <a:gd name="T10" fmla="*/ 2147483647 w 2806"/>
              <a:gd name="T11" fmla="*/ 2147483647 h 1158"/>
              <a:gd name="T12" fmla="*/ 2147483647 w 2806"/>
              <a:gd name="T13" fmla="*/ 2147483647 h 1158"/>
              <a:gd name="T14" fmla="*/ 2147483647 w 2806"/>
              <a:gd name="T15" fmla="*/ 2147483647 h 1158"/>
              <a:gd name="T16" fmla="*/ 2147483647 w 2806"/>
              <a:gd name="T17" fmla="*/ 2147483647 h 1158"/>
              <a:gd name="T18" fmla="*/ 2147483647 w 2806"/>
              <a:gd name="T19" fmla="*/ 2147483647 h 1158"/>
              <a:gd name="T20" fmla="*/ 2147483647 w 2806"/>
              <a:gd name="T21" fmla="*/ 2147483647 h 1158"/>
              <a:gd name="T22" fmla="*/ 2147483647 w 2806"/>
              <a:gd name="T23" fmla="*/ 2147483647 h 1158"/>
              <a:gd name="T24" fmla="*/ 2147483647 w 2806"/>
              <a:gd name="T25" fmla="*/ 2147483647 h 1158"/>
              <a:gd name="T26" fmla="*/ 2147483647 w 2806"/>
              <a:gd name="T27" fmla="*/ 2147483647 h 1158"/>
              <a:gd name="T28" fmla="*/ 2147483647 w 2806"/>
              <a:gd name="T29" fmla="*/ 2147483647 h 1158"/>
              <a:gd name="T30" fmla="*/ 2147483647 w 2806"/>
              <a:gd name="T31" fmla="*/ 2147483647 h 1158"/>
              <a:gd name="T32" fmla="*/ 2147483647 w 2806"/>
              <a:gd name="T33" fmla="*/ 2147483647 h 1158"/>
              <a:gd name="T34" fmla="*/ 2147483647 w 2806"/>
              <a:gd name="T35" fmla="*/ 2147483647 h 1158"/>
              <a:gd name="T36" fmla="*/ 2147483647 w 2806"/>
              <a:gd name="T37" fmla="*/ 2147483647 h 1158"/>
              <a:gd name="T38" fmla="*/ 2147483647 w 2806"/>
              <a:gd name="T39" fmla="*/ 2147483647 h 1158"/>
              <a:gd name="T40" fmla="*/ 2147483647 w 2806"/>
              <a:gd name="T41" fmla="*/ 2147483647 h 115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806"/>
              <a:gd name="T64" fmla="*/ 0 h 1158"/>
              <a:gd name="T65" fmla="*/ 2806 w 2806"/>
              <a:gd name="T66" fmla="*/ 1158 h 1158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806" h="1158">
                <a:moveTo>
                  <a:pt x="0" y="1158"/>
                </a:moveTo>
                <a:cubicBezTo>
                  <a:pt x="92" y="1146"/>
                  <a:pt x="184" y="1134"/>
                  <a:pt x="240" y="1110"/>
                </a:cubicBezTo>
                <a:cubicBezTo>
                  <a:pt x="296" y="1086"/>
                  <a:pt x="288" y="1062"/>
                  <a:pt x="336" y="1014"/>
                </a:cubicBezTo>
                <a:cubicBezTo>
                  <a:pt x="384" y="966"/>
                  <a:pt x="479" y="880"/>
                  <a:pt x="528" y="822"/>
                </a:cubicBezTo>
                <a:cubicBezTo>
                  <a:pt x="577" y="764"/>
                  <a:pt x="589" y="726"/>
                  <a:pt x="628" y="663"/>
                </a:cubicBezTo>
                <a:cubicBezTo>
                  <a:pt x="667" y="600"/>
                  <a:pt x="710" y="508"/>
                  <a:pt x="762" y="441"/>
                </a:cubicBezTo>
                <a:cubicBezTo>
                  <a:pt x="814" y="374"/>
                  <a:pt x="882" y="319"/>
                  <a:pt x="939" y="263"/>
                </a:cubicBezTo>
                <a:cubicBezTo>
                  <a:pt x="996" y="207"/>
                  <a:pt x="1049" y="144"/>
                  <a:pt x="1104" y="102"/>
                </a:cubicBezTo>
                <a:cubicBezTo>
                  <a:pt x="1159" y="60"/>
                  <a:pt x="1217" y="16"/>
                  <a:pt x="1273" y="8"/>
                </a:cubicBezTo>
                <a:cubicBezTo>
                  <a:pt x="1329" y="0"/>
                  <a:pt x="1388" y="22"/>
                  <a:pt x="1440" y="54"/>
                </a:cubicBezTo>
                <a:cubicBezTo>
                  <a:pt x="1492" y="86"/>
                  <a:pt x="1545" y="147"/>
                  <a:pt x="1584" y="198"/>
                </a:cubicBezTo>
                <a:cubicBezTo>
                  <a:pt x="1623" y="249"/>
                  <a:pt x="1649" y="315"/>
                  <a:pt x="1673" y="363"/>
                </a:cubicBezTo>
                <a:cubicBezTo>
                  <a:pt x="1697" y="411"/>
                  <a:pt x="1702" y="445"/>
                  <a:pt x="1728" y="486"/>
                </a:cubicBezTo>
                <a:cubicBezTo>
                  <a:pt x="1754" y="527"/>
                  <a:pt x="1804" y="576"/>
                  <a:pt x="1828" y="608"/>
                </a:cubicBezTo>
                <a:cubicBezTo>
                  <a:pt x="1852" y="640"/>
                  <a:pt x="1849" y="650"/>
                  <a:pt x="1872" y="678"/>
                </a:cubicBezTo>
                <a:cubicBezTo>
                  <a:pt x="1895" y="706"/>
                  <a:pt x="1936" y="734"/>
                  <a:pt x="1968" y="774"/>
                </a:cubicBezTo>
                <a:cubicBezTo>
                  <a:pt x="2000" y="814"/>
                  <a:pt x="2030" y="877"/>
                  <a:pt x="2064" y="918"/>
                </a:cubicBezTo>
                <a:cubicBezTo>
                  <a:pt x="2098" y="959"/>
                  <a:pt x="2133" y="995"/>
                  <a:pt x="2173" y="1019"/>
                </a:cubicBezTo>
                <a:cubicBezTo>
                  <a:pt x="2213" y="1043"/>
                  <a:pt x="2250" y="1047"/>
                  <a:pt x="2304" y="1062"/>
                </a:cubicBezTo>
                <a:cubicBezTo>
                  <a:pt x="2358" y="1077"/>
                  <a:pt x="2411" y="1093"/>
                  <a:pt x="2495" y="1108"/>
                </a:cubicBezTo>
                <a:cubicBezTo>
                  <a:pt x="2579" y="1123"/>
                  <a:pt x="2741" y="1143"/>
                  <a:pt x="2806" y="1152"/>
                </a:cubicBezTo>
              </a:path>
            </a:pathLst>
          </a:custGeom>
          <a:noFill/>
          <a:ln w="57150" cap="flat" cmpd="sng">
            <a:solidFill>
              <a:srgbClr val="D8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25624" name="Freeform 37">
            <a:extLst>
              <a:ext uri="{FF2B5EF4-FFF2-40B4-BE49-F238E27FC236}">
                <a16:creationId xmlns:a16="http://schemas.microsoft.com/office/drawing/2014/main" id="{71552AAA-0DEA-495B-9A57-6DAC5348D0AB}"/>
              </a:ext>
            </a:extLst>
          </p:cNvPr>
          <p:cNvSpPr>
            <a:spLocks/>
          </p:cNvSpPr>
          <p:nvPr/>
        </p:nvSpPr>
        <p:spPr bwMode="auto">
          <a:xfrm>
            <a:off x="7924800" y="3486966"/>
            <a:ext cx="2133600" cy="685800"/>
          </a:xfrm>
          <a:custGeom>
            <a:avLst/>
            <a:gdLst>
              <a:gd name="T0" fmla="*/ 0 w 2478"/>
              <a:gd name="T1" fmla="*/ 2147483647 h 1146"/>
              <a:gd name="T2" fmla="*/ 2147483647 w 2478"/>
              <a:gd name="T3" fmla="*/ 2147483647 h 1146"/>
              <a:gd name="T4" fmla="*/ 2147483647 w 2478"/>
              <a:gd name="T5" fmla="*/ 2147483647 h 1146"/>
              <a:gd name="T6" fmla="*/ 2147483647 w 2478"/>
              <a:gd name="T7" fmla="*/ 2147483647 h 1146"/>
              <a:gd name="T8" fmla="*/ 2147483647 w 2478"/>
              <a:gd name="T9" fmla="*/ 2147483647 h 1146"/>
              <a:gd name="T10" fmla="*/ 2147483647 w 2478"/>
              <a:gd name="T11" fmla="*/ 2147483647 h 1146"/>
              <a:gd name="T12" fmla="*/ 2147483647 w 2478"/>
              <a:gd name="T13" fmla="*/ 2147483647 h 1146"/>
              <a:gd name="T14" fmla="*/ 2147483647 w 2478"/>
              <a:gd name="T15" fmla="*/ 2147483647 h 1146"/>
              <a:gd name="T16" fmla="*/ 2147483647 w 2478"/>
              <a:gd name="T17" fmla="*/ 2147483647 h 1146"/>
              <a:gd name="T18" fmla="*/ 2147483647 w 2478"/>
              <a:gd name="T19" fmla="*/ 2147483647 h 1146"/>
              <a:gd name="T20" fmla="*/ 2147483647 w 2478"/>
              <a:gd name="T21" fmla="*/ 2147483647 h 1146"/>
              <a:gd name="T22" fmla="*/ 2147483647 w 2478"/>
              <a:gd name="T23" fmla="*/ 2147483647 h 1146"/>
              <a:gd name="T24" fmla="*/ 2147483647 w 2478"/>
              <a:gd name="T25" fmla="*/ 2147483647 h 1146"/>
              <a:gd name="T26" fmla="*/ 2147483647 w 2478"/>
              <a:gd name="T27" fmla="*/ 2147483647 h 114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478"/>
              <a:gd name="T43" fmla="*/ 0 h 1146"/>
              <a:gd name="T44" fmla="*/ 2478 w 2478"/>
              <a:gd name="T45" fmla="*/ 1146 h 114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478" h="1146">
                <a:moveTo>
                  <a:pt x="0" y="1146"/>
                </a:moveTo>
                <a:cubicBezTo>
                  <a:pt x="57" y="1137"/>
                  <a:pt x="267" y="1110"/>
                  <a:pt x="356" y="1079"/>
                </a:cubicBezTo>
                <a:cubicBezTo>
                  <a:pt x="445" y="1048"/>
                  <a:pt x="477" y="1028"/>
                  <a:pt x="534" y="960"/>
                </a:cubicBezTo>
                <a:cubicBezTo>
                  <a:pt x="591" y="892"/>
                  <a:pt x="644" y="772"/>
                  <a:pt x="700" y="668"/>
                </a:cubicBezTo>
                <a:cubicBezTo>
                  <a:pt x="756" y="564"/>
                  <a:pt x="802" y="439"/>
                  <a:pt x="870" y="336"/>
                </a:cubicBezTo>
                <a:cubicBezTo>
                  <a:pt x="938" y="233"/>
                  <a:pt x="1046" y="96"/>
                  <a:pt x="1110" y="48"/>
                </a:cubicBezTo>
                <a:cubicBezTo>
                  <a:pt x="1174" y="0"/>
                  <a:pt x="1206" y="16"/>
                  <a:pt x="1254" y="48"/>
                </a:cubicBezTo>
                <a:cubicBezTo>
                  <a:pt x="1302" y="80"/>
                  <a:pt x="1350" y="152"/>
                  <a:pt x="1398" y="240"/>
                </a:cubicBezTo>
                <a:cubicBezTo>
                  <a:pt x="1446" y="328"/>
                  <a:pt x="1501" y="484"/>
                  <a:pt x="1542" y="576"/>
                </a:cubicBezTo>
                <a:cubicBezTo>
                  <a:pt x="1583" y="668"/>
                  <a:pt x="1606" y="730"/>
                  <a:pt x="1645" y="790"/>
                </a:cubicBezTo>
                <a:cubicBezTo>
                  <a:pt x="1684" y="850"/>
                  <a:pt x="1739" y="899"/>
                  <a:pt x="1778" y="935"/>
                </a:cubicBezTo>
                <a:cubicBezTo>
                  <a:pt x="1817" y="971"/>
                  <a:pt x="1837" y="980"/>
                  <a:pt x="1878" y="1008"/>
                </a:cubicBezTo>
                <a:cubicBezTo>
                  <a:pt x="1919" y="1036"/>
                  <a:pt x="1922" y="1085"/>
                  <a:pt x="2022" y="1104"/>
                </a:cubicBezTo>
                <a:cubicBezTo>
                  <a:pt x="2122" y="1123"/>
                  <a:pt x="2383" y="1120"/>
                  <a:pt x="2478" y="1124"/>
                </a:cubicBezTo>
              </a:path>
            </a:pathLst>
          </a:custGeom>
          <a:noFill/>
          <a:ln w="571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415782" name="Freeform 38">
            <a:extLst>
              <a:ext uri="{FF2B5EF4-FFF2-40B4-BE49-F238E27FC236}">
                <a16:creationId xmlns:a16="http://schemas.microsoft.com/office/drawing/2014/main" id="{523ADB14-B24D-4AEA-9A65-C732C4B9EACE}"/>
              </a:ext>
            </a:extLst>
          </p:cNvPr>
          <p:cNvSpPr>
            <a:spLocks/>
          </p:cNvSpPr>
          <p:nvPr/>
        </p:nvSpPr>
        <p:spPr bwMode="auto">
          <a:xfrm>
            <a:off x="2971801" y="1327966"/>
            <a:ext cx="4584700" cy="4597400"/>
          </a:xfrm>
          <a:custGeom>
            <a:avLst/>
            <a:gdLst>
              <a:gd name="T0" fmla="*/ 2147483647 w 2888"/>
              <a:gd name="T1" fmla="*/ 2147483647 h 2896"/>
              <a:gd name="T2" fmla="*/ 2147483647 w 2888"/>
              <a:gd name="T3" fmla="*/ 2147483647 h 2896"/>
              <a:gd name="T4" fmla="*/ 2147483647 w 2888"/>
              <a:gd name="T5" fmla="*/ 2147483647 h 2896"/>
              <a:gd name="T6" fmla="*/ 2147483647 w 2888"/>
              <a:gd name="T7" fmla="*/ 2147483647 h 2896"/>
              <a:gd name="T8" fmla="*/ 2147483647 w 2888"/>
              <a:gd name="T9" fmla="*/ 2147483647 h 2896"/>
              <a:gd name="T10" fmla="*/ 2147483647 w 2888"/>
              <a:gd name="T11" fmla="*/ 2147483647 h 2896"/>
              <a:gd name="T12" fmla="*/ 2147483647 w 2888"/>
              <a:gd name="T13" fmla="*/ 2147483647 h 2896"/>
              <a:gd name="T14" fmla="*/ 2147483647 w 2888"/>
              <a:gd name="T15" fmla="*/ 2147483647 h 2896"/>
              <a:gd name="T16" fmla="*/ 2147483647 w 2888"/>
              <a:gd name="T17" fmla="*/ 2147483647 h 289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888"/>
              <a:gd name="T28" fmla="*/ 0 h 2896"/>
              <a:gd name="T29" fmla="*/ 2888 w 2888"/>
              <a:gd name="T30" fmla="*/ 2896 h 289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888" h="2896">
                <a:moveTo>
                  <a:pt x="2888" y="16"/>
                </a:moveTo>
                <a:cubicBezTo>
                  <a:pt x="2312" y="8"/>
                  <a:pt x="1736" y="0"/>
                  <a:pt x="1400" y="16"/>
                </a:cubicBezTo>
                <a:cubicBezTo>
                  <a:pt x="1064" y="32"/>
                  <a:pt x="1024" y="64"/>
                  <a:pt x="872" y="112"/>
                </a:cubicBezTo>
                <a:cubicBezTo>
                  <a:pt x="720" y="160"/>
                  <a:pt x="592" y="216"/>
                  <a:pt x="488" y="304"/>
                </a:cubicBezTo>
                <a:cubicBezTo>
                  <a:pt x="384" y="392"/>
                  <a:pt x="312" y="464"/>
                  <a:pt x="248" y="640"/>
                </a:cubicBezTo>
                <a:cubicBezTo>
                  <a:pt x="184" y="816"/>
                  <a:pt x="136" y="1144"/>
                  <a:pt x="104" y="1360"/>
                </a:cubicBezTo>
                <a:cubicBezTo>
                  <a:pt x="72" y="1576"/>
                  <a:pt x="72" y="1760"/>
                  <a:pt x="56" y="1936"/>
                </a:cubicBezTo>
                <a:cubicBezTo>
                  <a:pt x="40" y="2112"/>
                  <a:pt x="16" y="2256"/>
                  <a:pt x="8" y="2416"/>
                </a:cubicBezTo>
                <a:cubicBezTo>
                  <a:pt x="0" y="2576"/>
                  <a:pt x="8" y="2816"/>
                  <a:pt x="8" y="2896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</p:spTree>
    <p:extLst>
      <p:ext uri="{BB962C8B-B14F-4D97-AF65-F5344CB8AC3E}">
        <p14:creationId xmlns:p14="http://schemas.microsoft.com/office/powerpoint/2010/main" val="174208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15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15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71" grpId="0" animBg="1"/>
      <p:bldP spid="415772" grpId="0" animBg="1"/>
      <p:bldP spid="415773" grpId="0" animBg="1"/>
      <p:bldP spid="415774" grpId="0" animBg="1"/>
      <p:bldP spid="415775" grpId="0" animBg="1"/>
      <p:bldP spid="415776" grpId="0" animBg="1"/>
      <p:bldP spid="415777" grpId="0" animBg="1"/>
      <p:bldP spid="41577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595E3256-71D1-4D13-85EC-220C0DF53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5175" y="1521960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Best Test:</a:t>
            </a:r>
          </a:p>
        </p:txBody>
      </p:sp>
      <p:sp>
        <p:nvSpPr>
          <p:cNvPr id="27651" name="Text Box 3">
            <a:extLst>
              <a:ext uri="{FF2B5EF4-FFF2-40B4-BE49-F238E27FC236}">
                <a16:creationId xmlns:a16="http://schemas.microsoft.com/office/drawing/2014/main" id="{0E54F9FD-0666-4DBB-9162-70586FF50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1" y="1521959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Worst test:</a:t>
            </a:r>
          </a:p>
        </p:txBody>
      </p:sp>
      <p:grpSp>
        <p:nvGrpSpPr>
          <p:cNvPr id="27652" name="Group 4">
            <a:extLst>
              <a:ext uri="{FF2B5EF4-FFF2-40B4-BE49-F238E27FC236}">
                <a16:creationId xmlns:a16="http://schemas.microsoft.com/office/drawing/2014/main" id="{5954582C-50FD-4460-B537-CC44CA971296}"/>
              </a:ext>
            </a:extLst>
          </p:cNvPr>
          <p:cNvGrpSpPr>
            <a:grpSpLocks/>
          </p:cNvGrpSpPr>
          <p:nvPr/>
        </p:nvGrpSpPr>
        <p:grpSpPr bwMode="auto">
          <a:xfrm>
            <a:off x="2514601" y="2286001"/>
            <a:ext cx="3200400" cy="3039497"/>
            <a:chOff x="240" y="768"/>
            <a:chExt cx="3696" cy="3622"/>
          </a:xfrm>
        </p:grpSpPr>
        <p:grpSp>
          <p:nvGrpSpPr>
            <p:cNvPr id="27674" name="Group 5">
              <a:extLst>
                <a:ext uri="{FF2B5EF4-FFF2-40B4-BE49-F238E27FC236}">
                  <a16:creationId xmlns:a16="http://schemas.microsoft.com/office/drawing/2014/main" id="{62B5AB5C-1262-4FBD-BA2B-F586562B36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768"/>
              <a:ext cx="2880" cy="2880"/>
              <a:chOff x="1488" y="720"/>
              <a:chExt cx="2880" cy="2880"/>
            </a:xfrm>
          </p:grpSpPr>
          <p:sp>
            <p:nvSpPr>
              <p:cNvPr id="27685" name="Line 6">
                <a:extLst>
                  <a:ext uri="{FF2B5EF4-FFF2-40B4-BE49-F238E27FC236}">
                    <a16:creationId xmlns:a16="http://schemas.microsoft.com/office/drawing/2014/main" id="{D6466C49-CC6B-4038-BB96-CD68B34948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720"/>
                <a:ext cx="28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7686" name="Line 7">
                <a:extLst>
                  <a:ext uri="{FF2B5EF4-FFF2-40B4-BE49-F238E27FC236}">
                    <a16:creationId xmlns:a16="http://schemas.microsoft.com/office/drawing/2014/main" id="{94C70262-BF59-419D-9648-928AC3604D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720"/>
                <a:ext cx="0" cy="28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</p:grpSp>
        <p:grpSp>
          <p:nvGrpSpPr>
            <p:cNvPr id="27675" name="Group 8">
              <a:extLst>
                <a:ext uri="{FF2B5EF4-FFF2-40B4-BE49-F238E27FC236}">
                  <a16:creationId xmlns:a16="http://schemas.microsoft.com/office/drawing/2014/main" id="{2A33C3DF-A845-46DF-A5DB-13A23FDD22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768"/>
              <a:ext cx="672" cy="3126"/>
              <a:chOff x="816" y="720"/>
              <a:chExt cx="672" cy="3126"/>
            </a:xfrm>
          </p:grpSpPr>
          <p:sp>
            <p:nvSpPr>
              <p:cNvPr id="27681" name="Line 9">
                <a:extLst>
                  <a:ext uri="{FF2B5EF4-FFF2-40B4-BE49-F238E27FC236}">
                    <a16:creationId xmlns:a16="http://schemas.microsoft.com/office/drawing/2014/main" id="{D5F413BB-1CDF-4ED1-A6A9-96FC119F5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8" y="720"/>
                <a:ext cx="0" cy="28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7682" name="Text Box 10">
                <a:extLst>
                  <a:ext uri="{FF2B5EF4-FFF2-40B4-BE49-F238E27FC236}">
                    <a16:creationId xmlns:a16="http://schemas.microsoft.com/office/drawing/2014/main" id="{2EB0A393-C039-41B9-92C5-A1F771C2C6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159" y="2087"/>
                <a:ext cx="1727" cy="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200"/>
                  <a:t>True Positive Rate</a:t>
                </a:r>
              </a:p>
            </p:txBody>
          </p:sp>
          <p:sp>
            <p:nvSpPr>
              <p:cNvPr id="27683" name="Text Box 11">
                <a:extLst>
                  <a:ext uri="{FF2B5EF4-FFF2-40B4-BE49-F238E27FC236}">
                    <a16:creationId xmlns:a16="http://schemas.microsoft.com/office/drawing/2014/main" id="{CD3D6BB8-B837-47F8-A899-2C5C0AA4DC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3406"/>
                <a:ext cx="337" cy="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900"/>
                  <a:t>0%</a:t>
                </a:r>
              </a:p>
            </p:txBody>
          </p:sp>
          <p:sp>
            <p:nvSpPr>
              <p:cNvPr id="27684" name="Text Box 12">
                <a:extLst>
                  <a:ext uri="{FF2B5EF4-FFF2-40B4-BE49-F238E27FC236}">
                    <a16:creationId xmlns:a16="http://schemas.microsoft.com/office/drawing/2014/main" id="{43D6B664-5DE4-4EB3-AC12-80611AD188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767"/>
                <a:ext cx="625" cy="2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/>
                  <a:t>100%</a:t>
                </a:r>
              </a:p>
            </p:txBody>
          </p:sp>
        </p:grpSp>
        <p:grpSp>
          <p:nvGrpSpPr>
            <p:cNvPr id="27676" name="Group 13">
              <a:extLst>
                <a:ext uri="{FF2B5EF4-FFF2-40B4-BE49-F238E27FC236}">
                  <a16:creationId xmlns:a16="http://schemas.microsoft.com/office/drawing/2014/main" id="{13E2BAC5-3564-4CEF-8286-F2C8DA5187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8" y="3648"/>
              <a:ext cx="3118" cy="742"/>
              <a:chOff x="1394" y="3600"/>
              <a:chExt cx="3118" cy="742"/>
            </a:xfrm>
          </p:grpSpPr>
          <p:sp>
            <p:nvSpPr>
              <p:cNvPr id="27677" name="Line 14">
                <a:extLst>
                  <a:ext uri="{FF2B5EF4-FFF2-40B4-BE49-F238E27FC236}">
                    <a16:creationId xmlns:a16="http://schemas.microsoft.com/office/drawing/2014/main" id="{534DFCE2-BCC7-4F50-BD1D-6917C00693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2928" y="2160"/>
                <a:ext cx="0" cy="28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7678" name="Text Box 15">
                <a:extLst>
                  <a:ext uri="{FF2B5EF4-FFF2-40B4-BE49-F238E27FC236}">
                    <a16:creationId xmlns:a16="http://schemas.microsoft.com/office/drawing/2014/main" id="{61E719E5-476D-40F5-9A7C-46F2BD4714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5" y="3792"/>
                <a:ext cx="1536" cy="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200"/>
                  <a:t>False Positive Rate</a:t>
                </a:r>
              </a:p>
            </p:txBody>
          </p:sp>
          <p:sp>
            <p:nvSpPr>
              <p:cNvPr id="27679" name="Text Box 16">
                <a:extLst>
                  <a:ext uri="{FF2B5EF4-FFF2-40B4-BE49-F238E27FC236}">
                    <a16:creationId xmlns:a16="http://schemas.microsoft.com/office/drawing/2014/main" id="{9E031017-8658-46EF-B54E-AA2BACFF84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4" y="3694"/>
                <a:ext cx="335" cy="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/>
                  <a:t>0%</a:t>
                </a:r>
              </a:p>
            </p:txBody>
          </p:sp>
          <p:sp>
            <p:nvSpPr>
              <p:cNvPr id="27680" name="Text Box 17">
                <a:extLst>
                  <a:ext uri="{FF2B5EF4-FFF2-40B4-BE49-F238E27FC236}">
                    <a16:creationId xmlns:a16="http://schemas.microsoft.com/office/drawing/2014/main" id="{260EA64C-8C69-49C5-AA11-1DAF4E3EE8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3646"/>
                <a:ext cx="528" cy="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/>
                  <a:t>100%</a:t>
                </a:r>
              </a:p>
            </p:txBody>
          </p:sp>
        </p:grpSp>
      </p:grpSp>
      <p:grpSp>
        <p:nvGrpSpPr>
          <p:cNvPr id="27653" name="Group 18">
            <a:extLst>
              <a:ext uri="{FF2B5EF4-FFF2-40B4-BE49-F238E27FC236}">
                <a16:creationId xmlns:a16="http://schemas.microsoft.com/office/drawing/2014/main" id="{67D1AA85-0878-475E-A16A-B33775BCF83C}"/>
              </a:ext>
            </a:extLst>
          </p:cNvPr>
          <p:cNvGrpSpPr>
            <a:grpSpLocks/>
          </p:cNvGrpSpPr>
          <p:nvPr/>
        </p:nvGrpSpPr>
        <p:grpSpPr bwMode="auto">
          <a:xfrm>
            <a:off x="6629401" y="2286001"/>
            <a:ext cx="3124199" cy="2943308"/>
            <a:chOff x="240" y="768"/>
            <a:chExt cx="3696" cy="3644"/>
          </a:xfrm>
        </p:grpSpPr>
        <p:grpSp>
          <p:nvGrpSpPr>
            <p:cNvPr id="27661" name="Group 19">
              <a:extLst>
                <a:ext uri="{FF2B5EF4-FFF2-40B4-BE49-F238E27FC236}">
                  <a16:creationId xmlns:a16="http://schemas.microsoft.com/office/drawing/2014/main" id="{9DC445FC-6689-4C35-B892-90106197F2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768"/>
              <a:ext cx="2880" cy="2880"/>
              <a:chOff x="1488" y="720"/>
              <a:chExt cx="2880" cy="2880"/>
            </a:xfrm>
          </p:grpSpPr>
          <p:sp>
            <p:nvSpPr>
              <p:cNvPr id="27672" name="Line 20">
                <a:extLst>
                  <a:ext uri="{FF2B5EF4-FFF2-40B4-BE49-F238E27FC236}">
                    <a16:creationId xmlns:a16="http://schemas.microsoft.com/office/drawing/2014/main" id="{CA41B95A-A58B-4B08-B654-0ACA04B777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720"/>
                <a:ext cx="28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7673" name="Line 21">
                <a:extLst>
                  <a:ext uri="{FF2B5EF4-FFF2-40B4-BE49-F238E27FC236}">
                    <a16:creationId xmlns:a16="http://schemas.microsoft.com/office/drawing/2014/main" id="{9B0F277E-0C09-471E-94C9-9FB19509D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720"/>
                <a:ext cx="0" cy="28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</p:grpSp>
        <p:grpSp>
          <p:nvGrpSpPr>
            <p:cNvPr id="27662" name="Group 22">
              <a:extLst>
                <a:ext uri="{FF2B5EF4-FFF2-40B4-BE49-F238E27FC236}">
                  <a16:creationId xmlns:a16="http://schemas.microsoft.com/office/drawing/2014/main" id="{7B786200-3613-4126-BDB6-01FE453201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768"/>
              <a:ext cx="672" cy="3144"/>
              <a:chOff x="816" y="720"/>
              <a:chExt cx="672" cy="3144"/>
            </a:xfrm>
          </p:grpSpPr>
          <p:sp>
            <p:nvSpPr>
              <p:cNvPr id="27668" name="Line 23">
                <a:extLst>
                  <a:ext uri="{FF2B5EF4-FFF2-40B4-BE49-F238E27FC236}">
                    <a16:creationId xmlns:a16="http://schemas.microsoft.com/office/drawing/2014/main" id="{2904FD23-CEBA-4F45-B1B4-18D8836208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8" y="720"/>
                <a:ext cx="0" cy="28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7669" name="Text Box 24">
                <a:extLst>
                  <a:ext uri="{FF2B5EF4-FFF2-40B4-BE49-F238E27FC236}">
                    <a16:creationId xmlns:a16="http://schemas.microsoft.com/office/drawing/2014/main" id="{DEAEDFFF-545D-4614-AC72-6850ECE9EA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270" y="1977"/>
                <a:ext cx="1728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200"/>
                  <a:t>True Positive Rate</a:t>
                </a:r>
              </a:p>
            </p:txBody>
          </p:sp>
          <p:sp>
            <p:nvSpPr>
              <p:cNvPr id="27670" name="Text Box 25">
                <a:extLst>
                  <a:ext uri="{FF2B5EF4-FFF2-40B4-BE49-F238E27FC236}">
                    <a16:creationId xmlns:a16="http://schemas.microsoft.com/office/drawing/2014/main" id="{E4805BA8-752E-4FC3-AAA9-28D3CF924A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3" y="3407"/>
                <a:ext cx="337" cy="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900"/>
                  <a:t>0%</a:t>
                </a:r>
              </a:p>
            </p:txBody>
          </p:sp>
          <p:sp>
            <p:nvSpPr>
              <p:cNvPr id="27671" name="Text Box 26">
                <a:extLst>
                  <a:ext uri="{FF2B5EF4-FFF2-40B4-BE49-F238E27FC236}">
                    <a16:creationId xmlns:a16="http://schemas.microsoft.com/office/drawing/2014/main" id="{D2762FB2-5619-4E64-9767-0A067A4446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767"/>
                <a:ext cx="624" cy="3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/>
                  <a:t>100%</a:t>
                </a:r>
              </a:p>
            </p:txBody>
          </p:sp>
        </p:grpSp>
        <p:grpSp>
          <p:nvGrpSpPr>
            <p:cNvPr id="27663" name="Group 27">
              <a:extLst>
                <a:ext uri="{FF2B5EF4-FFF2-40B4-BE49-F238E27FC236}">
                  <a16:creationId xmlns:a16="http://schemas.microsoft.com/office/drawing/2014/main" id="{3A5AEA9B-53D8-4A1E-B052-07C9CB5B66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7" y="3648"/>
              <a:ext cx="3119" cy="764"/>
              <a:chOff x="1393" y="3600"/>
              <a:chExt cx="3119" cy="764"/>
            </a:xfrm>
          </p:grpSpPr>
          <p:sp>
            <p:nvSpPr>
              <p:cNvPr id="27664" name="Line 28">
                <a:extLst>
                  <a:ext uri="{FF2B5EF4-FFF2-40B4-BE49-F238E27FC236}">
                    <a16:creationId xmlns:a16="http://schemas.microsoft.com/office/drawing/2014/main" id="{19D96D50-7E43-4F2E-B8A7-F691E6537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2928" y="2160"/>
                <a:ext cx="0" cy="28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7665" name="Text Box 29">
                <a:extLst>
                  <a:ext uri="{FF2B5EF4-FFF2-40B4-BE49-F238E27FC236}">
                    <a16:creationId xmlns:a16="http://schemas.microsoft.com/office/drawing/2014/main" id="{55777D58-2D20-401D-9194-AD387505AC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5" y="3792"/>
                <a:ext cx="1535" cy="5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200"/>
                  <a:t>False Positive Rate</a:t>
                </a:r>
              </a:p>
            </p:txBody>
          </p:sp>
          <p:sp>
            <p:nvSpPr>
              <p:cNvPr id="27666" name="Text Box 30">
                <a:extLst>
                  <a:ext uri="{FF2B5EF4-FFF2-40B4-BE49-F238E27FC236}">
                    <a16:creationId xmlns:a16="http://schemas.microsoft.com/office/drawing/2014/main" id="{A548C2AD-AE9E-439B-B521-E9BF8E7C81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3" y="3696"/>
                <a:ext cx="336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/>
                  <a:t>0%</a:t>
                </a:r>
              </a:p>
            </p:txBody>
          </p:sp>
          <p:sp>
            <p:nvSpPr>
              <p:cNvPr id="27667" name="Text Box 31">
                <a:extLst>
                  <a:ext uri="{FF2B5EF4-FFF2-40B4-BE49-F238E27FC236}">
                    <a16:creationId xmlns:a16="http://schemas.microsoft.com/office/drawing/2014/main" id="{E3DF7A87-CFDA-4A31-ABF1-280B05CA1B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3647"/>
                <a:ext cx="528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/>
                  <a:t>100%</a:t>
                </a:r>
              </a:p>
            </p:txBody>
          </p:sp>
        </p:grpSp>
      </p:grpSp>
      <p:grpSp>
        <p:nvGrpSpPr>
          <p:cNvPr id="27654" name="Group 32">
            <a:extLst>
              <a:ext uri="{FF2B5EF4-FFF2-40B4-BE49-F238E27FC236}">
                <a16:creationId xmlns:a16="http://schemas.microsoft.com/office/drawing/2014/main" id="{12160928-6610-43D1-8A9C-D66C9048D007}"/>
              </a:ext>
            </a:extLst>
          </p:cNvPr>
          <p:cNvGrpSpPr>
            <a:grpSpLocks/>
          </p:cNvGrpSpPr>
          <p:nvPr/>
        </p:nvGrpSpPr>
        <p:grpSpPr bwMode="auto">
          <a:xfrm>
            <a:off x="3124201" y="2286000"/>
            <a:ext cx="2438400" cy="2362201"/>
            <a:chOff x="1008" y="912"/>
            <a:chExt cx="1536" cy="1488"/>
          </a:xfrm>
        </p:grpSpPr>
        <p:sp>
          <p:nvSpPr>
            <p:cNvPr id="27659" name="Line 33">
              <a:extLst>
                <a:ext uri="{FF2B5EF4-FFF2-40B4-BE49-F238E27FC236}">
                  <a16:creationId xmlns:a16="http://schemas.microsoft.com/office/drawing/2014/main" id="{9E3D1DF0-6996-4C60-9537-E0067C7810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912"/>
              <a:ext cx="1536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27660" name="Line 34">
              <a:extLst>
                <a:ext uri="{FF2B5EF4-FFF2-40B4-BE49-F238E27FC236}">
                  <a16:creationId xmlns:a16="http://schemas.microsoft.com/office/drawing/2014/main" id="{DB9A16F2-1E00-4780-A204-B1F1140997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64" y="1656"/>
              <a:ext cx="1488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</p:grpSp>
      <p:sp>
        <p:nvSpPr>
          <p:cNvPr id="27655" name="Line 35">
            <a:extLst>
              <a:ext uri="{FF2B5EF4-FFF2-40B4-BE49-F238E27FC236}">
                <a16:creationId xmlns:a16="http://schemas.microsoft.com/office/drawing/2014/main" id="{5100EE16-BBF9-4B7F-B320-D56D337E30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2286000"/>
            <a:ext cx="2362201" cy="22860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sp>
        <p:nvSpPr>
          <p:cNvPr id="27656" name="Text Box 36">
            <a:extLst>
              <a:ext uri="{FF2B5EF4-FFF2-40B4-BE49-F238E27FC236}">
                <a16:creationId xmlns:a16="http://schemas.microsoft.com/office/drawing/2014/main" id="{41CB0D21-163C-4DD5-9059-D2B723023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1" y="5486401"/>
            <a:ext cx="2895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400">
                <a:latin typeface="Comic Sans MS" panose="030F0702030302020204" pitchFamily="66" charset="0"/>
              </a:rPr>
              <a:t>The distributions don’t overlap at all</a:t>
            </a:r>
          </a:p>
        </p:txBody>
      </p:sp>
      <p:sp>
        <p:nvSpPr>
          <p:cNvPr id="27657" name="Text Box 37">
            <a:extLst>
              <a:ext uri="{FF2B5EF4-FFF2-40B4-BE49-F238E27FC236}">
                <a16:creationId xmlns:a16="http://schemas.microsoft.com/office/drawing/2014/main" id="{33D2F091-819D-4381-8BA9-E9391F972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1" y="5486401"/>
            <a:ext cx="31241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400">
                <a:latin typeface="Comic Sans MS" panose="030F0702030302020204" pitchFamily="66" charset="0"/>
              </a:rPr>
              <a:t>The distributions overlap completely</a:t>
            </a:r>
          </a:p>
        </p:txBody>
      </p:sp>
      <p:sp>
        <p:nvSpPr>
          <p:cNvPr id="27658" name="Rectangle 38">
            <a:extLst>
              <a:ext uri="{FF2B5EF4-FFF2-40B4-BE49-F238E27FC236}">
                <a16:creationId xmlns:a16="http://schemas.microsoft.com/office/drawing/2014/main" id="{8E0A7DEF-DC47-4536-824F-3799A8E682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s-ES" sz="2902" dirty="0"/>
              <a:t>ROC curve extremes</a:t>
            </a:r>
          </a:p>
        </p:txBody>
      </p:sp>
    </p:spTree>
    <p:extLst>
      <p:ext uri="{BB962C8B-B14F-4D97-AF65-F5344CB8AC3E}">
        <p14:creationId xmlns:p14="http://schemas.microsoft.com/office/powerpoint/2010/main" val="3023293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>
            <a:extLst>
              <a:ext uri="{FF2B5EF4-FFF2-40B4-BE49-F238E27FC236}">
                <a16:creationId xmlns:a16="http://schemas.microsoft.com/office/drawing/2014/main" id="{CA9B0FDE-9F2A-4B18-B000-089557A8AA20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2671765"/>
            <a:ext cx="3657600" cy="3198460"/>
            <a:chOff x="240" y="768"/>
            <a:chExt cx="3696" cy="3401"/>
          </a:xfrm>
        </p:grpSpPr>
        <p:grpSp>
          <p:nvGrpSpPr>
            <p:cNvPr id="26653" name="Group 3">
              <a:extLst>
                <a:ext uri="{FF2B5EF4-FFF2-40B4-BE49-F238E27FC236}">
                  <a16:creationId xmlns:a16="http://schemas.microsoft.com/office/drawing/2014/main" id="{E657F55A-46BC-4E4C-8543-E335AF3752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768"/>
              <a:ext cx="2880" cy="2880"/>
              <a:chOff x="1488" y="720"/>
              <a:chExt cx="2880" cy="2880"/>
            </a:xfrm>
          </p:grpSpPr>
          <p:sp>
            <p:nvSpPr>
              <p:cNvPr id="26673" name="Line 4">
                <a:extLst>
                  <a:ext uri="{FF2B5EF4-FFF2-40B4-BE49-F238E27FC236}">
                    <a16:creationId xmlns:a16="http://schemas.microsoft.com/office/drawing/2014/main" id="{7BDB3F43-38BA-48B5-8A18-C0BCFC397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720"/>
                <a:ext cx="28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6674" name="Line 5">
                <a:extLst>
                  <a:ext uri="{FF2B5EF4-FFF2-40B4-BE49-F238E27FC236}">
                    <a16:creationId xmlns:a16="http://schemas.microsoft.com/office/drawing/2014/main" id="{078E6CB6-8439-46E6-8F95-78C968CDB8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720"/>
                <a:ext cx="0" cy="28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</p:grpSp>
        <p:grpSp>
          <p:nvGrpSpPr>
            <p:cNvPr id="26654" name="Group 6">
              <a:extLst>
                <a:ext uri="{FF2B5EF4-FFF2-40B4-BE49-F238E27FC236}">
                  <a16:creationId xmlns:a16="http://schemas.microsoft.com/office/drawing/2014/main" id="{E7BC1620-57D4-447A-931D-A579267585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768"/>
              <a:ext cx="672" cy="3080"/>
              <a:chOff x="816" y="720"/>
              <a:chExt cx="672" cy="3080"/>
            </a:xfrm>
          </p:grpSpPr>
          <p:sp>
            <p:nvSpPr>
              <p:cNvPr id="26669" name="Line 7">
                <a:extLst>
                  <a:ext uri="{FF2B5EF4-FFF2-40B4-BE49-F238E27FC236}">
                    <a16:creationId xmlns:a16="http://schemas.microsoft.com/office/drawing/2014/main" id="{1555C34F-0242-4922-9C11-B9D1D611DB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8" y="720"/>
                <a:ext cx="0" cy="28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6670" name="Text Box 8">
                <a:extLst>
                  <a:ext uri="{FF2B5EF4-FFF2-40B4-BE49-F238E27FC236}">
                    <a16:creationId xmlns:a16="http://schemas.microsoft.com/office/drawing/2014/main" id="{86505E7B-D735-4CDF-881C-89E98974EA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139" y="2111"/>
                <a:ext cx="172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200"/>
                  <a:t>True Positive Rate</a:t>
                </a:r>
              </a:p>
            </p:txBody>
          </p:sp>
          <p:sp>
            <p:nvSpPr>
              <p:cNvPr id="26671" name="Text Box 9">
                <a:extLst>
                  <a:ext uri="{FF2B5EF4-FFF2-40B4-BE49-F238E27FC236}">
                    <a16:creationId xmlns:a16="http://schemas.microsoft.com/office/drawing/2014/main" id="{1E94466A-96E8-428A-B5D5-6CA8BCD3B3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5" y="3407"/>
                <a:ext cx="335" cy="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900"/>
                  <a:t>0%</a:t>
                </a:r>
              </a:p>
            </p:txBody>
          </p:sp>
          <p:sp>
            <p:nvSpPr>
              <p:cNvPr id="26672" name="Text Box 10">
                <a:extLst>
                  <a:ext uri="{FF2B5EF4-FFF2-40B4-BE49-F238E27FC236}">
                    <a16:creationId xmlns:a16="http://schemas.microsoft.com/office/drawing/2014/main" id="{DD47632D-511C-4B72-A8A7-95192A0BC0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767"/>
                <a:ext cx="624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/>
                  <a:t>100%</a:t>
                </a:r>
              </a:p>
            </p:txBody>
          </p:sp>
        </p:grpSp>
        <p:grpSp>
          <p:nvGrpSpPr>
            <p:cNvPr id="26655" name="Group 11">
              <a:extLst>
                <a:ext uri="{FF2B5EF4-FFF2-40B4-BE49-F238E27FC236}">
                  <a16:creationId xmlns:a16="http://schemas.microsoft.com/office/drawing/2014/main" id="{E26D21E8-ED5C-4F0B-8220-76E9379120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3648"/>
              <a:ext cx="3120" cy="521"/>
              <a:chOff x="1392" y="3600"/>
              <a:chExt cx="3120" cy="521"/>
            </a:xfrm>
          </p:grpSpPr>
          <p:sp>
            <p:nvSpPr>
              <p:cNvPr id="26665" name="Line 12">
                <a:extLst>
                  <a:ext uri="{FF2B5EF4-FFF2-40B4-BE49-F238E27FC236}">
                    <a16:creationId xmlns:a16="http://schemas.microsoft.com/office/drawing/2014/main" id="{04410F95-F912-4543-9C3E-F6BB785227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2928" y="2160"/>
                <a:ext cx="0" cy="28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6666" name="Text Box 13">
                <a:extLst>
                  <a:ext uri="{FF2B5EF4-FFF2-40B4-BE49-F238E27FC236}">
                    <a16:creationId xmlns:a16="http://schemas.microsoft.com/office/drawing/2014/main" id="{637F8BE7-24A1-40E6-9A24-9EC05CB734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5" y="3792"/>
                <a:ext cx="1535" cy="2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200"/>
                  <a:t>False Positive Rate</a:t>
                </a:r>
              </a:p>
            </p:txBody>
          </p:sp>
          <p:sp>
            <p:nvSpPr>
              <p:cNvPr id="26667" name="Text Box 14">
                <a:extLst>
                  <a:ext uri="{FF2B5EF4-FFF2-40B4-BE49-F238E27FC236}">
                    <a16:creationId xmlns:a16="http://schemas.microsoft.com/office/drawing/2014/main" id="{C1A5BE6D-A36D-4C14-A030-9D799D9271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3696"/>
                <a:ext cx="335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/>
                  <a:t>0%</a:t>
                </a:r>
              </a:p>
            </p:txBody>
          </p:sp>
          <p:sp>
            <p:nvSpPr>
              <p:cNvPr id="26668" name="Text Box 15">
                <a:extLst>
                  <a:ext uri="{FF2B5EF4-FFF2-40B4-BE49-F238E27FC236}">
                    <a16:creationId xmlns:a16="http://schemas.microsoft.com/office/drawing/2014/main" id="{C844FD85-ED05-42EE-A3E5-9E2575E387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3647"/>
                <a:ext cx="528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/>
                  <a:t>100%</a:t>
                </a:r>
              </a:p>
            </p:txBody>
          </p:sp>
        </p:grpSp>
        <p:sp>
          <p:nvSpPr>
            <p:cNvPr id="26656" name="Oval 16">
              <a:extLst>
                <a:ext uri="{FF2B5EF4-FFF2-40B4-BE49-F238E27FC236}">
                  <a16:creationId xmlns:a16="http://schemas.microsoft.com/office/drawing/2014/main" id="{570AF2B4-B5D5-458E-A4F6-D93FEB850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6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6657" name="Oval 17">
              <a:extLst>
                <a:ext uri="{FF2B5EF4-FFF2-40B4-BE49-F238E27FC236}">
                  <a16:creationId xmlns:a16="http://schemas.microsoft.com/office/drawing/2014/main" id="{C62709C3-F72F-40C3-AC3C-C768F1EF3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86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6658" name="Oval 18">
              <a:extLst>
                <a:ext uri="{FF2B5EF4-FFF2-40B4-BE49-F238E27FC236}">
                  <a16:creationId xmlns:a16="http://schemas.microsoft.com/office/drawing/2014/main" id="{C295A519-51E7-4AB5-A243-1AB037DF1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00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6659" name="Oval 19">
              <a:extLst>
                <a:ext uri="{FF2B5EF4-FFF2-40B4-BE49-F238E27FC236}">
                  <a16:creationId xmlns:a16="http://schemas.microsoft.com/office/drawing/2014/main" id="{4E1FF1F5-0266-4ADB-807E-8B0197621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48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6660" name="Oval 20">
              <a:extLst>
                <a:ext uri="{FF2B5EF4-FFF2-40B4-BE49-F238E27FC236}">
                  <a16:creationId xmlns:a16="http://schemas.microsoft.com/office/drawing/2014/main" id="{62974F9B-783D-42E6-8B0A-736FE6207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920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6661" name="Oval 21">
              <a:extLst>
                <a:ext uri="{FF2B5EF4-FFF2-40B4-BE49-F238E27FC236}">
                  <a16:creationId xmlns:a16="http://schemas.microsoft.com/office/drawing/2014/main" id="{2ACE8C9B-2400-41C2-A3A7-871C63EB4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35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6662" name="Oval 22">
              <a:extLst>
                <a:ext uri="{FF2B5EF4-FFF2-40B4-BE49-F238E27FC236}">
                  <a16:creationId xmlns:a16="http://schemas.microsoft.com/office/drawing/2014/main" id="{D3B3F55E-950F-44D6-BA09-BF02F54F0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880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6663" name="Oval 23">
              <a:extLst>
                <a:ext uri="{FF2B5EF4-FFF2-40B4-BE49-F238E27FC236}">
                  <a16:creationId xmlns:a16="http://schemas.microsoft.com/office/drawing/2014/main" id="{E25FB148-49AD-4A44-BF02-1448FD06C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45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6664" name="Freeform 24">
              <a:extLst>
                <a:ext uri="{FF2B5EF4-FFF2-40B4-BE49-F238E27FC236}">
                  <a16:creationId xmlns:a16="http://schemas.microsoft.com/office/drawing/2014/main" id="{65F6D6DB-CBE9-4C8C-910A-D904ADECA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768"/>
              <a:ext cx="2880" cy="2880"/>
            </a:xfrm>
            <a:custGeom>
              <a:avLst/>
              <a:gdLst>
                <a:gd name="T0" fmla="*/ 2880 w 2880"/>
                <a:gd name="T1" fmla="*/ 0 h 2880"/>
                <a:gd name="T2" fmla="*/ 2304 w 2880"/>
                <a:gd name="T3" fmla="*/ 48 h 2880"/>
                <a:gd name="T4" fmla="*/ 1920 w 2880"/>
                <a:gd name="T5" fmla="*/ 144 h 2880"/>
                <a:gd name="T6" fmla="*/ 1440 w 2880"/>
                <a:gd name="T7" fmla="*/ 432 h 2880"/>
                <a:gd name="T8" fmla="*/ 1104 w 2880"/>
                <a:gd name="T9" fmla="*/ 768 h 2880"/>
                <a:gd name="T10" fmla="*/ 766 w 2880"/>
                <a:gd name="T11" fmla="*/ 1176 h 2880"/>
                <a:gd name="T12" fmla="*/ 480 w 2880"/>
                <a:gd name="T13" fmla="*/ 1584 h 2880"/>
                <a:gd name="T14" fmla="*/ 240 w 2880"/>
                <a:gd name="T15" fmla="*/ 2112 h 2880"/>
                <a:gd name="T16" fmla="*/ 48 w 2880"/>
                <a:gd name="T17" fmla="*/ 2736 h 2880"/>
                <a:gd name="T18" fmla="*/ 0 w 2880"/>
                <a:gd name="T19" fmla="*/ 2880 h 28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80"/>
                <a:gd name="T31" fmla="*/ 0 h 2880"/>
                <a:gd name="T32" fmla="*/ 2880 w 2880"/>
                <a:gd name="T33" fmla="*/ 2880 h 28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80" h="2880">
                  <a:moveTo>
                    <a:pt x="2880" y="0"/>
                  </a:moveTo>
                  <a:cubicBezTo>
                    <a:pt x="2672" y="12"/>
                    <a:pt x="2464" y="24"/>
                    <a:pt x="2304" y="48"/>
                  </a:cubicBezTo>
                  <a:cubicBezTo>
                    <a:pt x="2144" y="72"/>
                    <a:pt x="2064" y="80"/>
                    <a:pt x="1920" y="144"/>
                  </a:cubicBezTo>
                  <a:cubicBezTo>
                    <a:pt x="1776" y="208"/>
                    <a:pt x="1576" y="328"/>
                    <a:pt x="1440" y="432"/>
                  </a:cubicBezTo>
                  <a:cubicBezTo>
                    <a:pt x="1304" y="536"/>
                    <a:pt x="1216" y="644"/>
                    <a:pt x="1104" y="768"/>
                  </a:cubicBezTo>
                  <a:cubicBezTo>
                    <a:pt x="992" y="892"/>
                    <a:pt x="870" y="1040"/>
                    <a:pt x="766" y="1176"/>
                  </a:cubicBezTo>
                  <a:cubicBezTo>
                    <a:pt x="662" y="1312"/>
                    <a:pt x="568" y="1428"/>
                    <a:pt x="480" y="1584"/>
                  </a:cubicBezTo>
                  <a:cubicBezTo>
                    <a:pt x="392" y="1740"/>
                    <a:pt x="312" y="1920"/>
                    <a:pt x="240" y="2112"/>
                  </a:cubicBezTo>
                  <a:cubicBezTo>
                    <a:pt x="168" y="2304"/>
                    <a:pt x="88" y="2608"/>
                    <a:pt x="48" y="2736"/>
                  </a:cubicBezTo>
                  <a:cubicBezTo>
                    <a:pt x="8" y="2864"/>
                    <a:pt x="8" y="2856"/>
                    <a:pt x="0" y="2880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</p:grpSp>
      <p:grpSp>
        <p:nvGrpSpPr>
          <p:cNvPr id="26627" name="Group 25">
            <a:extLst>
              <a:ext uri="{FF2B5EF4-FFF2-40B4-BE49-F238E27FC236}">
                <a16:creationId xmlns:a16="http://schemas.microsoft.com/office/drawing/2014/main" id="{E001C656-9EA9-4AD2-B224-E1B7B87C04B5}"/>
              </a:ext>
            </a:extLst>
          </p:cNvPr>
          <p:cNvGrpSpPr>
            <a:grpSpLocks/>
          </p:cNvGrpSpPr>
          <p:nvPr/>
        </p:nvGrpSpPr>
        <p:grpSpPr bwMode="auto">
          <a:xfrm>
            <a:off x="2057401" y="2590801"/>
            <a:ext cx="3733800" cy="3238173"/>
            <a:chOff x="1488" y="896"/>
            <a:chExt cx="3696" cy="3411"/>
          </a:xfrm>
        </p:grpSpPr>
        <p:grpSp>
          <p:nvGrpSpPr>
            <p:cNvPr id="26631" name="Group 26">
              <a:extLst>
                <a:ext uri="{FF2B5EF4-FFF2-40B4-BE49-F238E27FC236}">
                  <a16:creationId xmlns:a16="http://schemas.microsoft.com/office/drawing/2014/main" id="{3F851CE2-1683-498E-B54A-1B1126A245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912"/>
              <a:ext cx="2880" cy="2880"/>
              <a:chOff x="1488" y="720"/>
              <a:chExt cx="2880" cy="2880"/>
            </a:xfrm>
          </p:grpSpPr>
          <p:sp>
            <p:nvSpPr>
              <p:cNvPr id="26651" name="Line 27">
                <a:extLst>
                  <a:ext uri="{FF2B5EF4-FFF2-40B4-BE49-F238E27FC236}">
                    <a16:creationId xmlns:a16="http://schemas.microsoft.com/office/drawing/2014/main" id="{29089013-9DD7-481C-8191-298AFA1E7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720"/>
                <a:ext cx="28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6652" name="Line 28">
                <a:extLst>
                  <a:ext uri="{FF2B5EF4-FFF2-40B4-BE49-F238E27FC236}">
                    <a16:creationId xmlns:a16="http://schemas.microsoft.com/office/drawing/2014/main" id="{C6EFC0A4-FB4B-410F-A454-A973E003F1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720"/>
                <a:ext cx="0" cy="28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</p:grpSp>
        <p:grpSp>
          <p:nvGrpSpPr>
            <p:cNvPr id="26632" name="Group 29">
              <a:extLst>
                <a:ext uri="{FF2B5EF4-FFF2-40B4-BE49-F238E27FC236}">
                  <a16:creationId xmlns:a16="http://schemas.microsoft.com/office/drawing/2014/main" id="{FF30902E-DAEE-47F4-B35F-07371B530C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912"/>
              <a:ext cx="672" cy="3077"/>
              <a:chOff x="816" y="720"/>
              <a:chExt cx="672" cy="3077"/>
            </a:xfrm>
          </p:grpSpPr>
          <p:sp>
            <p:nvSpPr>
              <p:cNvPr id="26647" name="Line 30">
                <a:extLst>
                  <a:ext uri="{FF2B5EF4-FFF2-40B4-BE49-F238E27FC236}">
                    <a16:creationId xmlns:a16="http://schemas.microsoft.com/office/drawing/2014/main" id="{74A72849-9D8C-45FC-8350-5FCEDD7424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8" y="720"/>
                <a:ext cx="0" cy="28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6648" name="Text Box 31">
                <a:extLst>
                  <a:ext uri="{FF2B5EF4-FFF2-40B4-BE49-F238E27FC236}">
                    <a16:creationId xmlns:a16="http://schemas.microsoft.com/office/drawing/2014/main" id="{469D501C-E72C-4A6B-877D-489EDA65F8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135" y="2104"/>
                <a:ext cx="1726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200"/>
                  <a:t>True Positive Rate</a:t>
                </a:r>
              </a:p>
            </p:txBody>
          </p:sp>
          <p:sp>
            <p:nvSpPr>
              <p:cNvPr id="26649" name="Text Box 32">
                <a:extLst>
                  <a:ext uri="{FF2B5EF4-FFF2-40B4-BE49-F238E27FC236}">
                    <a16:creationId xmlns:a16="http://schemas.microsoft.com/office/drawing/2014/main" id="{C17E3660-FCC3-4276-A6FD-606EC19A19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5" y="3408"/>
                <a:ext cx="335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900"/>
                  <a:t>0%</a:t>
                </a:r>
              </a:p>
            </p:txBody>
          </p:sp>
          <p:sp>
            <p:nvSpPr>
              <p:cNvPr id="26650" name="Text Box 33">
                <a:extLst>
                  <a:ext uri="{FF2B5EF4-FFF2-40B4-BE49-F238E27FC236}">
                    <a16:creationId xmlns:a16="http://schemas.microsoft.com/office/drawing/2014/main" id="{0AD73539-57E7-4377-B29D-E3D297A04F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769"/>
                <a:ext cx="624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/>
                  <a:t>100%</a:t>
                </a:r>
              </a:p>
            </p:txBody>
          </p:sp>
        </p:grpSp>
        <p:grpSp>
          <p:nvGrpSpPr>
            <p:cNvPr id="26633" name="Group 34">
              <a:extLst>
                <a:ext uri="{FF2B5EF4-FFF2-40B4-BE49-F238E27FC236}">
                  <a16:creationId xmlns:a16="http://schemas.microsoft.com/office/drawing/2014/main" id="{C6E8797E-CED2-441F-B535-F5F52F6DD7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2" y="3792"/>
              <a:ext cx="3122" cy="515"/>
              <a:chOff x="1390" y="3600"/>
              <a:chExt cx="3122" cy="515"/>
            </a:xfrm>
          </p:grpSpPr>
          <p:sp>
            <p:nvSpPr>
              <p:cNvPr id="26643" name="Line 35">
                <a:extLst>
                  <a:ext uri="{FF2B5EF4-FFF2-40B4-BE49-F238E27FC236}">
                    <a16:creationId xmlns:a16="http://schemas.microsoft.com/office/drawing/2014/main" id="{262E77C9-0B02-4B11-AE55-CC464EACBE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2928" y="2160"/>
                <a:ext cx="0" cy="28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6644" name="Text Box 36">
                <a:extLst>
                  <a:ext uri="{FF2B5EF4-FFF2-40B4-BE49-F238E27FC236}">
                    <a16:creationId xmlns:a16="http://schemas.microsoft.com/office/drawing/2014/main" id="{BD006A23-9FC6-4EB0-98A9-3ED6623D86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1" y="3793"/>
                <a:ext cx="1540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200"/>
                  <a:t>False Positive Rate</a:t>
                </a:r>
              </a:p>
            </p:txBody>
          </p:sp>
          <p:sp>
            <p:nvSpPr>
              <p:cNvPr id="26645" name="Text Box 37">
                <a:extLst>
                  <a:ext uri="{FF2B5EF4-FFF2-40B4-BE49-F238E27FC236}">
                    <a16:creationId xmlns:a16="http://schemas.microsoft.com/office/drawing/2014/main" id="{57584BA8-0F15-4D4B-8965-DC58F0435A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0" y="3694"/>
                <a:ext cx="336" cy="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/>
                  <a:t>0%</a:t>
                </a:r>
              </a:p>
            </p:txBody>
          </p:sp>
          <p:sp>
            <p:nvSpPr>
              <p:cNvPr id="26646" name="Text Box 38">
                <a:extLst>
                  <a:ext uri="{FF2B5EF4-FFF2-40B4-BE49-F238E27FC236}">
                    <a16:creationId xmlns:a16="http://schemas.microsoft.com/office/drawing/2014/main" id="{743EC51F-65FE-4915-A2F2-C23121C2ED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3647"/>
                <a:ext cx="528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/>
                  <a:t>100%</a:t>
                </a:r>
              </a:p>
            </p:txBody>
          </p:sp>
        </p:grpSp>
        <p:sp>
          <p:nvSpPr>
            <p:cNvPr id="26634" name="Oval 39">
              <a:extLst>
                <a:ext uri="{FF2B5EF4-FFF2-40B4-BE49-F238E27FC236}">
                  <a16:creationId xmlns:a16="http://schemas.microsoft.com/office/drawing/2014/main" id="{B2153A9E-A637-4C6E-84BD-F855793F3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91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6635" name="Oval 40">
              <a:extLst>
                <a:ext uri="{FF2B5EF4-FFF2-40B4-BE49-F238E27FC236}">
                  <a16:creationId xmlns:a16="http://schemas.microsoft.com/office/drawing/2014/main" id="{B4358136-20D0-494D-B5DF-472554773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0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6636" name="Oval 41">
              <a:extLst>
                <a:ext uri="{FF2B5EF4-FFF2-40B4-BE49-F238E27FC236}">
                  <a16:creationId xmlns:a16="http://schemas.microsoft.com/office/drawing/2014/main" id="{F272549B-B50F-444F-B1C2-ECA88F7A9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15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6637" name="Oval 42">
              <a:extLst>
                <a:ext uri="{FF2B5EF4-FFF2-40B4-BE49-F238E27FC236}">
                  <a16:creationId xmlns:a16="http://schemas.microsoft.com/office/drawing/2014/main" id="{5735D685-EE9D-4F0F-8F12-C1C2BC2CB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48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6638" name="Oval 43">
              <a:extLst>
                <a:ext uri="{FF2B5EF4-FFF2-40B4-BE49-F238E27FC236}">
                  <a16:creationId xmlns:a16="http://schemas.microsoft.com/office/drawing/2014/main" id="{F759FA5C-6E98-4E4D-BBE0-917A1398A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20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6639" name="Oval 44">
              <a:extLst>
                <a:ext uri="{FF2B5EF4-FFF2-40B4-BE49-F238E27FC236}">
                  <a16:creationId xmlns:a16="http://schemas.microsoft.com/office/drawing/2014/main" id="{25FCF03E-98FD-4900-9CD6-6F4A84FAD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78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6640" name="Oval 45">
              <a:extLst>
                <a:ext uri="{FF2B5EF4-FFF2-40B4-BE49-F238E27FC236}">
                  <a16:creationId xmlns:a16="http://schemas.microsoft.com/office/drawing/2014/main" id="{2110DE7D-B5A0-4D19-B139-DF45B6462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6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6641" name="Oval 46">
              <a:extLst>
                <a:ext uri="{FF2B5EF4-FFF2-40B4-BE49-F238E27FC236}">
                  <a16:creationId xmlns:a16="http://schemas.microsoft.com/office/drawing/2014/main" id="{11F5B21C-73D5-4F10-9AF6-365E25DFD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50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6642" name="Freeform 47">
              <a:extLst>
                <a:ext uri="{FF2B5EF4-FFF2-40B4-BE49-F238E27FC236}">
                  <a16:creationId xmlns:a16="http://schemas.microsoft.com/office/drawing/2014/main" id="{8FEACAFA-9EFE-440B-B4B0-AC2852F3B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896"/>
              <a:ext cx="2888" cy="2896"/>
            </a:xfrm>
            <a:custGeom>
              <a:avLst/>
              <a:gdLst>
                <a:gd name="T0" fmla="*/ 2888 w 2888"/>
                <a:gd name="T1" fmla="*/ 16 h 2896"/>
                <a:gd name="T2" fmla="*/ 1400 w 2888"/>
                <a:gd name="T3" fmla="*/ 16 h 2896"/>
                <a:gd name="T4" fmla="*/ 872 w 2888"/>
                <a:gd name="T5" fmla="*/ 112 h 2896"/>
                <a:gd name="T6" fmla="*/ 488 w 2888"/>
                <a:gd name="T7" fmla="*/ 304 h 2896"/>
                <a:gd name="T8" fmla="*/ 248 w 2888"/>
                <a:gd name="T9" fmla="*/ 640 h 2896"/>
                <a:gd name="T10" fmla="*/ 104 w 2888"/>
                <a:gd name="T11" fmla="*/ 1360 h 2896"/>
                <a:gd name="T12" fmla="*/ 56 w 2888"/>
                <a:gd name="T13" fmla="*/ 1936 h 2896"/>
                <a:gd name="T14" fmla="*/ 8 w 2888"/>
                <a:gd name="T15" fmla="*/ 2416 h 2896"/>
                <a:gd name="T16" fmla="*/ 8 w 2888"/>
                <a:gd name="T17" fmla="*/ 2896 h 289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888"/>
                <a:gd name="T28" fmla="*/ 0 h 2896"/>
                <a:gd name="T29" fmla="*/ 2888 w 2888"/>
                <a:gd name="T30" fmla="*/ 2896 h 289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888" h="2896">
                  <a:moveTo>
                    <a:pt x="2888" y="16"/>
                  </a:moveTo>
                  <a:cubicBezTo>
                    <a:pt x="2312" y="8"/>
                    <a:pt x="1736" y="0"/>
                    <a:pt x="1400" y="16"/>
                  </a:cubicBezTo>
                  <a:cubicBezTo>
                    <a:pt x="1064" y="32"/>
                    <a:pt x="1024" y="64"/>
                    <a:pt x="872" y="112"/>
                  </a:cubicBezTo>
                  <a:cubicBezTo>
                    <a:pt x="720" y="160"/>
                    <a:pt x="592" y="216"/>
                    <a:pt x="488" y="304"/>
                  </a:cubicBezTo>
                  <a:cubicBezTo>
                    <a:pt x="384" y="392"/>
                    <a:pt x="312" y="464"/>
                    <a:pt x="248" y="640"/>
                  </a:cubicBezTo>
                  <a:cubicBezTo>
                    <a:pt x="184" y="816"/>
                    <a:pt x="136" y="1144"/>
                    <a:pt x="104" y="1360"/>
                  </a:cubicBezTo>
                  <a:cubicBezTo>
                    <a:pt x="72" y="1576"/>
                    <a:pt x="72" y="1760"/>
                    <a:pt x="56" y="1936"/>
                  </a:cubicBezTo>
                  <a:cubicBezTo>
                    <a:pt x="40" y="2112"/>
                    <a:pt x="16" y="2256"/>
                    <a:pt x="8" y="2416"/>
                  </a:cubicBezTo>
                  <a:cubicBezTo>
                    <a:pt x="0" y="2576"/>
                    <a:pt x="8" y="2816"/>
                    <a:pt x="8" y="2896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</p:grpSp>
      <p:sp>
        <p:nvSpPr>
          <p:cNvPr id="26628" name="Text Box 48">
            <a:extLst>
              <a:ext uri="{FF2B5EF4-FFF2-40B4-BE49-F238E27FC236}">
                <a16:creationId xmlns:a16="http://schemas.microsoft.com/office/drawing/2014/main" id="{D116DE31-B1E5-41D1-8BFE-B768266C6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1" y="1752602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400">
                <a:solidFill>
                  <a:srgbClr val="000000"/>
                </a:solidFill>
                <a:latin typeface="Comic Sans MS" panose="030F0702030302020204" pitchFamily="66" charset="0"/>
              </a:rPr>
              <a:t>A good test:</a:t>
            </a:r>
          </a:p>
        </p:txBody>
      </p:sp>
      <p:sp>
        <p:nvSpPr>
          <p:cNvPr id="26629" name="Text Box 49">
            <a:extLst>
              <a:ext uri="{FF2B5EF4-FFF2-40B4-BE49-F238E27FC236}">
                <a16:creationId xmlns:a16="http://schemas.microsoft.com/office/drawing/2014/main" id="{ACB88E62-1C8A-4EA4-B100-31D6DBA7F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1" y="1676402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400">
                <a:solidFill>
                  <a:srgbClr val="000000"/>
                </a:solidFill>
                <a:latin typeface="Comic Sans MS" panose="030F0702030302020204" pitchFamily="66" charset="0"/>
              </a:rPr>
              <a:t>A poor test:</a:t>
            </a:r>
          </a:p>
        </p:txBody>
      </p:sp>
      <p:sp>
        <p:nvSpPr>
          <p:cNvPr id="26630" name="Rectangle 51">
            <a:extLst>
              <a:ext uri="{FF2B5EF4-FFF2-40B4-BE49-F238E27FC236}">
                <a16:creationId xmlns:a16="http://schemas.microsoft.com/office/drawing/2014/main" id="{90F4FDE3-2F1A-4877-A319-0B4E40D339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s-ES" sz="2902" dirty="0"/>
              <a:t>ROC curve comparison</a:t>
            </a:r>
          </a:p>
        </p:txBody>
      </p:sp>
    </p:spTree>
    <p:extLst>
      <p:ext uri="{BB962C8B-B14F-4D97-AF65-F5344CB8AC3E}">
        <p14:creationId xmlns:p14="http://schemas.microsoft.com/office/powerpoint/2010/main" val="2707247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>
            <a:extLst>
              <a:ext uri="{FF2B5EF4-FFF2-40B4-BE49-F238E27FC236}">
                <a16:creationId xmlns:a16="http://schemas.microsoft.com/office/drawing/2014/main" id="{6C26ABC9-AADC-4877-8CDF-4DC51A7F1E72}"/>
              </a:ext>
            </a:extLst>
          </p:cNvPr>
          <p:cNvGrpSpPr>
            <a:grpSpLocks/>
          </p:cNvGrpSpPr>
          <p:nvPr/>
        </p:nvGrpSpPr>
        <p:grpSpPr bwMode="auto">
          <a:xfrm>
            <a:off x="2606540" y="1304615"/>
            <a:ext cx="3359490" cy="2743201"/>
            <a:chOff x="624" y="912"/>
            <a:chExt cx="2067" cy="1728"/>
          </a:xfrm>
        </p:grpSpPr>
        <p:grpSp>
          <p:nvGrpSpPr>
            <p:cNvPr id="29770" name="Group 3">
              <a:extLst>
                <a:ext uri="{FF2B5EF4-FFF2-40B4-BE49-F238E27FC236}">
                  <a16:creationId xmlns:a16="http://schemas.microsoft.com/office/drawing/2014/main" id="{E4BA1577-51A3-4B54-83D5-F951F36EB7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912"/>
              <a:ext cx="2067" cy="1728"/>
              <a:chOff x="240" y="768"/>
              <a:chExt cx="3789" cy="3267"/>
            </a:xfrm>
          </p:grpSpPr>
          <p:grpSp>
            <p:nvGrpSpPr>
              <p:cNvPr id="29774" name="Group 4">
                <a:extLst>
                  <a:ext uri="{FF2B5EF4-FFF2-40B4-BE49-F238E27FC236}">
                    <a16:creationId xmlns:a16="http://schemas.microsoft.com/office/drawing/2014/main" id="{0301B0DC-BA92-4253-B35E-0E7C276B58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768"/>
                <a:ext cx="2880" cy="2880"/>
                <a:chOff x="1488" y="720"/>
                <a:chExt cx="2880" cy="2880"/>
              </a:xfrm>
            </p:grpSpPr>
            <p:sp>
              <p:nvSpPr>
                <p:cNvPr id="29785" name="Line 5">
                  <a:extLst>
                    <a:ext uri="{FF2B5EF4-FFF2-40B4-BE49-F238E27FC236}">
                      <a16:creationId xmlns:a16="http://schemas.microsoft.com/office/drawing/2014/main" id="{53DF2E58-ED1C-4173-BCDD-9CA7BB8685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720"/>
                  <a:ext cx="28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 sz="2101"/>
                </a:p>
              </p:txBody>
            </p:sp>
            <p:sp>
              <p:nvSpPr>
                <p:cNvPr id="29786" name="Line 6">
                  <a:extLst>
                    <a:ext uri="{FF2B5EF4-FFF2-40B4-BE49-F238E27FC236}">
                      <a16:creationId xmlns:a16="http://schemas.microsoft.com/office/drawing/2014/main" id="{84D29E80-1543-4417-86C2-EAC968B5DD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8" y="720"/>
                  <a:ext cx="0" cy="288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 sz="2101"/>
                </a:p>
              </p:txBody>
            </p:sp>
          </p:grpSp>
          <p:grpSp>
            <p:nvGrpSpPr>
              <p:cNvPr id="29775" name="Group 7">
                <a:extLst>
                  <a:ext uri="{FF2B5EF4-FFF2-40B4-BE49-F238E27FC236}">
                    <a16:creationId xmlns:a16="http://schemas.microsoft.com/office/drawing/2014/main" id="{A91D7DB7-9224-4E8E-B4BE-67B998C02C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768"/>
                <a:ext cx="704" cy="2961"/>
                <a:chOff x="816" y="720"/>
                <a:chExt cx="704" cy="2961"/>
              </a:xfrm>
            </p:grpSpPr>
            <p:sp>
              <p:nvSpPr>
                <p:cNvPr id="29781" name="Line 8">
                  <a:extLst>
                    <a:ext uri="{FF2B5EF4-FFF2-40B4-BE49-F238E27FC236}">
                      <a16:creationId xmlns:a16="http://schemas.microsoft.com/office/drawing/2014/main" id="{3093E504-C111-4E4A-B135-B2641B3397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488" y="720"/>
                  <a:ext cx="0" cy="288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 sz="2101"/>
                </a:p>
              </p:txBody>
            </p:sp>
            <p:sp>
              <p:nvSpPr>
                <p:cNvPr id="29782" name="Text Box 9">
                  <a:extLst>
                    <a:ext uri="{FF2B5EF4-FFF2-40B4-BE49-F238E27FC236}">
                      <a16:creationId xmlns:a16="http://schemas.microsoft.com/office/drawing/2014/main" id="{1EC697DA-40EE-434F-B25E-C1F1B80B05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155" y="2087"/>
                  <a:ext cx="1727" cy="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es-ES" sz="1200"/>
                    <a:t>True Positive Rate</a:t>
                  </a:r>
                </a:p>
              </p:txBody>
            </p:sp>
            <p:sp>
              <p:nvSpPr>
                <p:cNvPr id="29783" name="Text Box 10">
                  <a:extLst>
                    <a:ext uri="{FF2B5EF4-FFF2-40B4-BE49-F238E27FC236}">
                      <a16:creationId xmlns:a16="http://schemas.microsoft.com/office/drawing/2014/main" id="{F1A464C1-D9E7-42C3-8A35-4C9D2907C6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4" y="3406"/>
                  <a:ext cx="416" cy="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es-ES" sz="900" dirty="0"/>
                    <a:t>0%</a:t>
                  </a:r>
                </a:p>
              </p:txBody>
            </p:sp>
            <p:sp>
              <p:nvSpPr>
                <p:cNvPr id="29784" name="Text Box 11">
                  <a:extLst>
                    <a:ext uri="{FF2B5EF4-FFF2-40B4-BE49-F238E27FC236}">
                      <a16:creationId xmlns:a16="http://schemas.microsoft.com/office/drawing/2014/main" id="{61689B86-2077-47E5-90C4-BF320C8A88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16" y="767"/>
                  <a:ext cx="625" cy="2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es-ES" sz="1000"/>
                    <a:t>100%</a:t>
                  </a:r>
                </a:p>
              </p:txBody>
            </p:sp>
          </p:grpSp>
          <p:grpSp>
            <p:nvGrpSpPr>
              <p:cNvPr id="29776" name="Group 12">
                <a:extLst>
                  <a:ext uri="{FF2B5EF4-FFF2-40B4-BE49-F238E27FC236}">
                    <a16:creationId xmlns:a16="http://schemas.microsoft.com/office/drawing/2014/main" id="{C77199CE-8819-4393-A899-75EC8CDACB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8" y="3626"/>
                <a:ext cx="3211" cy="409"/>
                <a:chOff x="1394" y="3578"/>
                <a:chExt cx="3211" cy="409"/>
              </a:xfrm>
            </p:grpSpPr>
            <p:sp>
              <p:nvSpPr>
                <p:cNvPr id="29777" name="Line 13">
                  <a:extLst>
                    <a:ext uri="{FF2B5EF4-FFF2-40B4-BE49-F238E27FC236}">
                      <a16:creationId xmlns:a16="http://schemas.microsoft.com/office/drawing/2014/main" id="{0F0EB18E-91D1-4E4B-8611-5A8DC02CFB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2928" y="2160"/>
                  <a:ext cx="0" cy="288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 sz="2101"/>
                </a:p>
              </p:txBody>
            </p:sp>
            <p:sp>
              <p:nvSpPr>
                <p:cNvPr id="29778" name="Text Box 14">
                  <a:extLst>
                    <a:ext uri="{FF2B5EF4-FFF2-40B4-BE49-F238E27FC236}">
                      <a16:creationId xmlns:a16="http://schemas.microsoft.com/office/drawing/2014/main" id="{4FC04BE7-102F-404A-8DA9-98866ADE77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57" y="3578"/>
                  <a:ext cx="191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es-ES" sz="1200" dirty="0"/>
                    <a:t>False Positive Rate</a:t>
                  </a:r>
                </a:p>
              </p:txBody>
            </p:sp>
            <p:sp>
              <p:nvSpPr>
                <p:cNvPr id="29779" name="Text Box 15">
                  <a:extLst>
                    <a:ext uri="{FF2B5EF4-FFF2-40B4-BE49-F238E27FC236}">
                      <a16:creationId xmlns:a16="http://schemas.microsoft.com/office/drawing/2014/main" id="{EA116AD4-FE4D-4707-B053-ABCA2B51FB3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94" y="3694"/>
                  <a:ext cx="463" cy="2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es-ES" sz="1000" dirty="0"/>
                    <a:t>0%</a:t>
                  </a:r>
                </a:p>
              </p:txBody>
            </p:sp>
            <p:sp>
              <p:nvSpPr>
                <p:cNvPr id="29780" name="Text Box 16">
                  <a:extLst>
                    <a:ext uri="{FF2B5EF4-FFF2-40B4-BE49-F238E27FC236}">
                      <a16:creationId xmlns:a16="http://schemas.microsoft.com/office/drawing/2014/main" id="{ABBCD6EF-859A-491D-943F-5BC74119C8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3645"/>
                  <a:ext cx="621" cy="2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es-ES" sz="1000"/>
                    <a:t>100%</a:t>
                  </a:r>
                </a:p>
              </p:txBody>
            </p:sp>
          </p:grpSp>
        </p:grpSp>
        <p:grpSp>
          <p:nvGrpSpPr>
            <p:cNvPr id="29771" name="Group 17">
              <a:extLst>
                <a:ext uri="{FF2B5EF4-FFF2-40B4-BE49-F238E27FC236}">
                  <a16:creationId xmlns:a16="http://schemas.microsoft.com/office/drawing/2014/main" id="{CBCC3D09-79C6-4FF7-9E7A-7DEBC12348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912"/>
              <a:ext cx="1536" cy="1488"/>
              <a:chOff x="1008" y="912"/>
              <a:chExt cx="1536" cy="1488"/>
            </a:xfrm>
          </p:grpSpPr>
          <p:sp>
            <p:nvSpPr>
              <p:cNvPr id="29772" name="Line 18">
                <a:extLst>
                  <a:ext uri="{FF2B5EF4-FFF2-40B4-BE49-F238E27FC236}">
                    <a16:creationId xmlns:a16="http://schemas.microsoft.com/office/drawing/2014/main" id="{620D39BD-6D05-463D-B55A-7F908EBDD9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08" y="912"/>
                <a:ext cx="1536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9773" name="Line 19">
                <a:extLst>
                  <a:ext uri="{FF2B5EF4-FFF2-40B4-BE49-F238E27FC236}">
                    <a16:creationId xmlns:a16="http://schemas.microsoft.com/office/drawing/2014/main" id="{6E1FA6E9-AF16-4A15-8AEC-0CE0BAA81E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>
                <a:off x="264" y="1656"/>
                <a:ext cx="148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</p:grpSp>
      </p:grpSp>
      <p:grpSp>
        <p:nvGrpSpPr>
          <p:cNvPr id="29699" name="Group 20">
            <a:extLst>
              <a:ext uri="{FF2B5EF4-FFF2-40B4-BE49-F238E27FC236}">
                <a16:creationId xmlns:a16="http://schemas.microsoft.com/office/drawing/2014/main" id="{F85614D0-BB1E-4165-A367-9BB4C99BE71C}"/>
              </a:ext>
            </a:extLst>
          </p:cNvPr>
          <p:cNvGrpSpPr>
            <a:grpSpLocks/>
          </p:cNvGrpSpPr>
          <p:nvPr/>
        </p:nvGrpSpPr>
        <p:grpSpPr bwMode="auto">
          <a:xfrm>
            <a:off x="6645138" y="1373712"/>
            <a:ext cx="3346528" cy="2651127"/>
            <a:chOff x="3216" y="912"/>
            <a:chExt cx="2010" cy="1670"/>
          </a:xfrm>
        </p:grpSpPr>
        <p:grpSp>
          <p:nvGrpSpPr>
            <p:cNvPr id="29755" name="Group 21">
              <a:extLst>
                <a:ext uri="{FF2B5EF4-FFF2-40B4-BE49-F238E27FC236}">
                  <a16:creationId xmlns:a16="http://schemas.microsoft.com/office/drawing/2014/main" id="{89967426-30CF-44B1-BDE3-01C08AFF8F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912"/>
              <a:ext cx="2010" cy="1670"/>
              <a:chOff x="240" y="768"/>
              <a:chExt cx="3774" cy="3281"/>
            </a:xfrm>
          </p:grpSpPr>
          <p:grpSp>
            <p:nvGrpSpPr>
              <p:cNvPr id="29757" name="Group 22">
                <a:extLst>
                  <a:ext uri="{FF2B5EF4-FFF2-40B4-BE49-F238E27FC236}">
                    <a16:creationId xmlns:a16="http://schemas.microsoft.com/office/drawing/2014/main" id="{5FC4B703-6CDC-4D59-AA6C-566D204533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768"/>
                <a:ext cx="2880" cy="2880"/>
                <a:chOff x="1488" y="720"/>
                <a:chExt cx="2880" cy="2880"/>
              </a:xfrm>
            </p:grpSpPr>
            <p:sp>
              <p:nvSpPr>
                <p:cNvPr id="29768" name="Line 23">
                  <a:extLst>
                    <a:ext uri="{FF2B5EF4-FFF2-40B4-BE49-F238E27FC236}">
                      <a16:creationId xmlns:a16="http://schemas.microsoft.com/office/drawing/2014/main" id="{93F89E3A-A616-41F0-8EDA-AB936DD748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720"/>
                  <a:ext cx="28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 sz="2101"/>
                </a:p>
              </p:txBody>
            </p:sp>
            <p:sp>
              <p:nvSpPr>
                <p:cNvPr id="29769" name="Line 24">
                  <a:extLst>
                    <a:ext uri="{FF2B5EF4-FFF2-40B4-BE49-F238E27FC236}">
                      <a16:creationId xmlns:a16="http://schemas.microsoft.com/office/drawing/2014/main" id="{CB17159E-8E50-4FD2-AB9E-CCF4A9193A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8" y="720"/>
                  <a:ext cx="0" cy="288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 sz="2101"/>
                </a:p>
              </p:txBody>
            </p:sp>
          </p:grpSp>
          <p:grpSp>
            <p:nvGrpSpPr>
              <p:cNvPr id="29758" name="Group 25">
                <a:extLst>
                  <a:ext uri="{FF2B5EF4-FFF2-40B4-BE49-F238E27FC236}">
                    <a16:creationId xmlns:a16="http://schemas.microsoft.com/office/drawing/2014/main" id="{B6911970-6817-421D-A60A-4CF0C13557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768"/>
                <a:ext cx="672" cy="3144"/>
                <a:chOff x="816" y="720"/>
                <a:chExt cx="672" cy="3144"/>
              </a:xfrm>
            </p:grpSpPr>
            <p:sp>
              <p:nvSpPr>
                <p:cNvPr id="29764" name="Line 26">
                  <a:extLst>
                    <a:ext uri="{FF2B5EF4-FFF2-40B4-BE49-F238E27FC236}">
                      <a16:creationId xmlns:a16="http://schemas.microsoft.com/office/drawing/2014/main" id="{A97C5770-3651-44CC-8785-8606CAE437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488" y="720"/>
                  <a:ext cx="0" cy="288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 sz="2101"/>
                </a:p>
              </p:txBody>
            </p:sp>
            <p:sp>
              <p:nvSpPr>
                <p:cNvPr id="29765" name="Text Box 27">
                  <a:extLst>
                    <a:ext uri="{FF2B5EF4-FFF2-40B4-BE49-F238E27FC236}">
                      <a16:creationId xmlns:a16="http://schemas.microsoft.com/office/drawing/2014/main" id="{97321ABE-FBF0-4B75-B2EE-27A7569209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55" y="1987"/>
                  <a:ext cx="1728" cy="5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es-ES" sz="1200"/>
                    <a:t>True Positive Rate</a:t>
                  </a:r>
                </a:p>
              </p:txBody>
            </p:sp>
            <p:sp>
              <p:nvSpPr>
                <p:cNvPr id="29766" name="Text Box 28">
                  <a:extLst>
                    <a:ext uri="{FF2B5EF4-FFF2-40B4-BE49-F238E27FC236}">
                      <a16:creationId xmlns:a16="http://schemas.microsoft.com/office/drawing/2014/main" id="{A45604A2-51F9-4D88-9D3E-2F1E9E1619D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3" y="3407"/>
                  <a:ext cx="385" cy="4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es-ES" sz="900"/>
                    <a:t>0%</a:t>
                  </a:r>
                </a:p>
              </p:txBody>
            </p:sp>
            <p:sp>
              <p:nvSpPr>
                <p:cNvPr id="29767" name="Text Box 29">
                  <a:extLst>
                    <a:ext uri="{FF2B5EF4-FFF2-40B4-BE49-F238E27FC236}">
                      <a16:creationId xmlns:a16="http://schemas.microsoft.com/office/drawing/2014/main" id="{99581AFC-43FB-41EF-B156-0CD2823A34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16" y="767"/>
                  <a:ext cx="624" cy="3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es-ES" sz="1000"/>
                    <a:t>100%</a:t>
                  </a:r>
                </a:p>
              </p:txBody>
            </p:sp>
          </p:grpSp>
          <p:grpSp>
            <p:nvGrpSpPr>
              <p:cNvPr id="29759" name="Group 30">
                <a:extLst>
                  <a:ext uri="{FF2B5EF4-FFF2-40B4-BE49-F238E27FC236}">
                    <a16:creationId xmlns:a16="http://schemas.microsoft.com/office/drawing/2014/main" id="{9405CB25-E255-4195-9513-6EBEFD9319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7" y="3648"/>
                <a:ext cx="3197" cy="401"/>
                <a:chOff x="1393" y="3600"/>
                <a:chExt cx="3197" cy="401"/>
              </a:xfrm>
            </p:grpSpPr>
            <p:sp>
              <p:nvSpPr>
                <p:cNvPr id="29760" name="Line 31">
                  <a:extLst>
                    <a:ext uri="{FF2B5EF4-FFF2-40B4-BE49-F238E27FC236}">
                      <a16:creationId xmlns:a16="http://schemas.microsoft.com/office/drawing/2014/main" id="{ECA6D502-A22C-409B-B465-5603BE1FAA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2928" y="2160"/>
                  <a:ext cx="0" cy="288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s-ES" sz="2101"/>
                </a:p>
              </p:txBody>
            </p:sp>
            <p:sp>
              <p:nvSpPr>
                <p:cNvPr id="29761" name="Text Box 32">
                  <a:extLst>
                    <a:ext uri="{FF2B5EF4-FFF2-40B4-BE49-F238E27FC236}">
                      <a16:creationId xmlns:a16="http://schemas.microsoft.com/office/drawing/2014/main" id="{302162D8-4B26-4D34-BD2F-6FBB08DDC7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61" y="3630"/>
                  <a:ext cx="2121" cy="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es-ES" sz="1200" dirty="0"/>
                    <a:t>False Positive Rate</a:t>
                  </a:r>
                </a:p>
              </p:txBody>
            </p:sp>
            <p:sp>
              <p:nvSpPr>
                <p:cNvPr id="29762" name="Text Box 33">
                  <a:extLst>
                    <a:ext uri="{FF2B5EF4-FFF2-40B4-BE49-F238E27FC236}">
                      <a16:creationId xmlns:a16="http://schemas.microsoft.com/office/drawing/2014/main" id="{69A11668-9FFF-48D8-AFBC-BFFDF61898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93" y="3696"/>
                  <a:ext cx="468" cy="3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es-ES" sz="1000"/>
                    <a:t>0%</a:t>
                  </a:r>
                </a:p>
              </p:txBody>
            </p:sp>
            <p:sp>
              <p:nvSpPr>
                <p:cNvPr id="29763" name="Text Box 34">
                  <a:extLst>
                    <a:ext uri="{FF2B5EF4-FFF2-40B4-BE49-F238E27FC236}">
                      <a16:creationId xmlns:a16="http://schemas.microsoft.com/office/drawing/2014/main" id="{5C48868B-9B17-4896-A06E-3170213F01F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3647"/>
                  <a:ext cx="606" cy="3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es-ES" sz="1000" dirty="0"/>
                    <a:t>100%</a:t>
                  </a:r>
                </a:p>
              </p:txBody>
            </p:sp>
          </p:grpSp>
        </p:grpSp>
        <p:sp>
          <p:nvSpPr>
            <p:cNvPr id="29756" name="Line 35">
              <a:extLst>
                <a:ext uri="{FF2B5EF4-FFF2-40B4-BE49-F238E27FC236}">
                  <a16:creationId xmlns:a16="http://schemas.microsoft.com/office/drawing/2014/main" id="{045F2AF9-4BA1-4C9E-888E-04E7FB8A21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912"/>
              <a:ext cx="1488" cy="14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</p:grpSp>
      <p:grpSp>
        <p:nvGrpSpPr>
          <p:cNvPr id="29700" name="Group 36">
            <a:extLst>
              <a:ext uri="{FF2B5EF4-FFF2-40B4-BE49-F238E27FC236}">
                <a16:creationId xmlns:a16="http://schemas.microsoft.com/office/drawing/2014/main" id="{198DDED1-7FB6-4DF3-95BE-B26043F74F47}"/>
              </a:ext>
            </a:extLst>
          </p:cNvPr>
          <p:cNvGrpSpPr>
            <a:grpSpLocks/>
          </p:cNvGrpSpPr>
          <p:nvPr/>
        </p:nvGrpSpPr>
        <p:grpSpPr bwMode="auto">
          <a:xfrm>
            <a:off x="6645139" y="4195608"/>
            <a:ext cx="3345749" cy="2556168"/>
            <a:chOff x="240" y="768"/>
            <a:chExt cx="3774" cy="3239"/>
          </a:xfrm>
        </p:grpSpPr>
        <p:grpSp>
          <p:nvGrpSpPr>
            <p:cNvPr id="29733" name="Group 37">
              <a:extLst>
                <a:ext uri="{FF2B5EF4-FFF2-40B4-BE49-F238E27FC236}">
                  <a16:creationId xmlns:a16="http://schemas.microsoft.com/office/drawing/2014/main" id="{DEC49020-7E45-4379-A2FF-05066EB89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768"/>
              <a:ext cx="2880" cy="2880"/>
              <a:chOff x="1488" y="720"/>
              <a:chExt cx="2880" cy="2880"/>
            </a:xfrm>
          </p:grpSpPr>
          <p:sp>
            <p:nvSpPr>
              <p:cNvPr id="29753" name="Line 38">
                <a:extLst>
                  <a:ext uri="{FF2B5EF4-FFF2-40B4-BE49-F238E27FC236}">
                    <a16:creationId xmlns:a16="http://schemas.microsoft.com/office/drawing/2014/main" id="{20D0F234-2763-42A3-B4F1-C991E4C4E6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720"/>
                <a:ext cx="28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9754" name="Line 39">
                <a:extLst>
                  <a:ext uri="{FF2B5EF4-FFF2-40B4-BE49-F238E27FC236}">
                    <a16:creationId xmlns:a16="http://schemas.microsoft.com/office/drawing/2014/main" id="{67E0568E-5C91-4184-97C9-CF44745C10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720"/>
                <a:ext cx="0" cy="28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</p:grpSp>
        <p:grpSp>
          <p:nvGrpSpPr>
            <p:cNvPr id="29734" name="Group 40">
              <a:extLst>
                <a:ext uri="{FF2B5EF4-FFF2-40B4-BE49-F238E27FC236}">
                  <a16:creationId xmlns:a16="http://schemas.microsoft.com/office/drawing/2014/main" id="{061F6B32-87CE-4E57-A206-815E73B510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768"/>
              <a:ext cx="672" cy="3153"/>
              <a:chOff x="816" y="720"/>
              <a:chExt cx="672" cy="3153"/>
            </a:xfrm>
          </p:grpSpPr>
          <p:sp>
            <p:nvSpPr>
              <p:cNvPr id="29749" name="Line 41">
                <a:extLst>
                  <a:ext uri="{FF2B5EF4-FFF2-40B4-BE49-F238E27FC236}">
                    <a16:creationId xmlns:a16="http://schemas.microsoft.com/office/drawing/2014/main" id="{E9F4BE22-4F8C-46AD-A6AB-0D4239B011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8" y="720"/>
                <a:ext cx="0" cy="28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9750" name="Text Box 42">
                <a:extLst>
                  <a:ext uri="{FF2B5EF4-FFF2-40B4-BE49-F238E27FC236}">
                    <a16:creationId xmlns:a16="http://schemas.microsoft.com/office/drawing/2014/main" id="{8FE86722-9CFC-4696-B5C4-816C010D27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257" y="1988"/>
                <a:ext cx="1730" cy="5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200"/>
                  <a:t>True Positive Rate</a:t>
                </a:r>
              </a:p>
            </p:txBody>
          </p:sp>
          <p:sp>
            <p:nvSpPr>
              <p:cNvPr id="29751" name="Text Box 43">
                <a:extLst>
                  <a:ext uri="{FF2B5EF4-FFF2-40B4-BE49-F238E27FC236}">
                    <a16:creationId xmlns:a16="http://schemas.microsoft.com/office/drawing/2014/main" id="{18EE1931-9E7A-468C-B1B8-A525142CA3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3405"/>
                <a:ext cx="384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900" dirty="0"/>
                  <a:t>0%</a:t>
                </a:r>
              </a:p>
            </p:txBody>
          </p:sp>
          <p:sp>
            <p:nvSpPr>
              <p:cNvPr id="29752" name="Text Box 44">
                <a:extLst>
                  <a:ext uri="{FF2B5EF4-FFF2-40B4-BE49-F238E27FC236}">
                    <a16:creationId xmlns:a16="http://schemas.microsoft.com/office/drawing/2014/main" id="{C7EF792F-D14B-4507-B887-154B32F705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768"/>
                <a:ext cx="623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/>
                  <a:t>100%</a:t>
                </a:r>
              </a:p>
            </p:txBody>
          </p:sp>
        </p:grpSp>
        <p:grpSp>
          <p:nvGrpSpPr>
            <p:cNvPr id="29735" name="Group 45">
              <a:extLst>
                <a:ext uri="{FF2B5EF4-FFF2-40B4-BE49-F238E27FC236}">
                  <a16:creationId xmlns:a16="http://schemas.microsoft.com/office/drawing/2014/main" id="{D036F162-48AE-4A56-91F0-13B2F93275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7" y="3302"/>
              <a:ext cx="3197" cy="705"/>
              <a:chOff x="1393" y="3254"/>
              <a:chExt cx="3197" cy="705"/>
            </a:xfrm>
          </p:grpSpPr>
          <p:sp>
            <p:nvSpPr>
              <p:cNvPr id="29745" name="Line 46">
                <a:extLst>
                  <a:ext uri="{FF2B5EF4-FFF2-40B4-BE49-F238E27FC236}">
                    <a16:creationId xmlns:a16="http://schemas.microsoft.com/office/drawing/2014/main" id="{0C564203-8B2D-40EB-BD0E-791B8EC630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2928" y="2160"/>
                <a:ext cx="0" cy="28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9746" name="Text Box 47">
                <a:extLst>
                  <a:ext uri="{FF2B5EF4-FFF2-40B4-BE49-F238E27FC236}">
                    <a16:creationId xmlns:a16="http://schemas.microsoft.com/office/drawing/2014/main" id="{3A9F9B1D-C157-4A23-B3C3-6C82F1D3D7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1" y="3254"/>
                <a:ext cx="1679" cy="5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200" dirty="0"/>
                  <a:t>False Positive Rate</a:t>
                </a:r>
              </a:p>
            </p:txBody>
          </p:sp>
          <p:sp>
            <p:nvSpPr>
              <p:cNvPr id="29747" name="Text Box 48">
                <a:extLst>
                  <a:ext uri="{FF2B5EF4-FFF2-40B4-BE49-F238E27FC236}">
                    <a16:creationId xmlns:a16="http://schemas.microsoft.com/office/drawing/2014/main" id="{E7BBFDC8-AEA5-4306-91E2-081046619C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3" y="3597"/>
                <a:ext cx="468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 dirty="0"/>
                  <a:t>0%</a:t>
                </a:r>
              </a:p>
            </p:txBody>
          </p:sp>
          <p:sp>
            <p:nvSpPr>
              <p:cNvPr id="29748" name="Text Box 49">
                <a:extLst>
                  <a:ext uri="{FF2B5EF4-FFF2-40B4-BE49-F238E27FC236}">
                    <a16:creationId xmlns:a16="http://schemas.microsoft.com/office/drawing/2014/main" id="{AE24083C-39F6-4B4D-AFD3-0EDE8235EC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3647"/>
                <a:ext cx="606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 dirty="0"/>
                  <a:t>100%</a:t>
                </a:r>
              </a:p>
            </p:txBody>
          </p:sp>
        </p:grpSp>
        <p:sp>
          <p:nvSpPr>
            <p:cNvPr id="29736" name="Oval 50">
              <a:extLst>
                <a:ext uri="{FF2B5EF4-FFF2-40B4-BE49-F238E27FC236}">
                  <a16:creationId xmlns:a16="http://schemas.microsoft.com/office/drawing/2014/main" id="{51BE2DF4-1196-4995-9F5E-9C3AA61FF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6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9737" name="Oval 51">
              <a:extLst>
                <a:ext uri="{FF2B5EF4-FFF2-40B4-BE49-F238E27FC236}">
                  <a16:creationId xmlns:a16="http://schemas.microsoft.com/office/drawing/2014/main" id="{FEE1EF8F-BF2A-4ED0-B52F-C21BD615D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86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9738" name="Oval 52">
              <a:extLst>
                <a:ext uri="{FF2B5EF4-FFF2-40B4-BE49-F238E27FC236}">
                  <a16:creationId xmlns:a16="http://schemas.microsoft.com/office/drawing/2014/main" id="{5F032113-6313-4ED1-B678-151C58DCA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00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9739" name="Oval 53">
              <a:extLst>
                <a:ext uri="{FF2B5EF4-FFF2-40B4-BE49-F238E27FC236}">
                  <a16:creationId xmlns:a16="http://schemas.microsoft.com/office/drawing/2014/main" id="{485B66B1-2776-4612-A98A-585E3B669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48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9740" name="Oval 54">
              <a:extLst>
                <a:ext uri="{FF2B5EF4-FFF2-40B4-BE49-F238E27FC236}">
                  <a16:creationId xmlns:a16="http://schemas.microsoft.com/office/drawing/2014/main" id="{EAC12294-71D3-4156-8556-91CF32F79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920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9741" name="Oval 55">
              <a:extLst>
                <a:ext uri="{FF2B5EF4-FFF2-40B4-BE49-F238E27FC236}">
                  <a16:creationId xmlns:a16="http://schemas.microsoft.com/office/drawing/2014/main" id="{65D37B94-969D-4186-B3D1-EB610B7B5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35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9742" name="Oval 56">
              <a:extLst>
                <a:ext uri="{FF2B5EF4-FFF2-40B4-BE49-F238E27FC236}">
                  <a16:creationId xmlns:a16="http://schemas.microsoft.com/office/drawing/2014/main" id="{EEB2FBDD-BB62-4307-A257-1B4318633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880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9743" name="Oval 57">
              <a:extLst>
                <a:ext uri="{FF2B5EF4-FFF2-40B4-BE49-F238E27FC236}">
                  <a16:creationId xmlns:a16="http://schemas.microsoft.com/office/drawing/2014/main" id="{371B5836-1EFA-48FE-AD3D-55F56E597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45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9744" name="Freeform 58">
              <a:extLst>
                <a:ext uri="{FF2B5EF4-FFF2-40B4-BE49-F238E27FC236}">
                  <a16:creationId xmlns:a16="http://schemas.microsoft.com/office/drawing/2014/main" id="{8C2257C4-13BF-424C-BD4C-495D1A720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768"/>
              <a:ext cx="2880" cy="2880"/>
            </a:xfrm>
            <a:custGeom>
              <a:avLst/>
              <a:gdLst>
                <a:gd name="T0" fmla="*/ 2880 w 2880"/>
                <a:gd name="T1" fmla="*/ 0 h 2880"/>
                <a:gd name="T2" fmla="*/ 2304 w 2880"/>
                <a:gd name="T3" fmla="*/ 48 h 2880"/>
                <a:gd name="T4" fmla="*/ 1920 w 2880"/>
                <a:gd name="T5" fmla="*/ 144 h 2880"/>
                <a:gd name="T6" fmla="*/ 1440 w 2880"/>
                <a:gd name="T7" fmla="*/ 432 h 2880"/>
                <a:gd name="T8" fmla="*/ 1104 w 2880"/>
                <a:gd name="T9" fmla="*/ 768 h 2880"/>
                <a:gd name="T10" fmla="*/ 766 w 2880"/>
                <a:gd name="T11" fmla="*/ 1176 h 2880"/>
                <a:gd name="T12" fmla="*/ 480 w 2880"/>
                <a:gd name="T13" fmla="*/ 1584 h 2880"/>
                <a:gd name="T14" fmla="*/ 240 w 2880"/>
                <a:gd name="T15" fmla="*/ 2112 h 2880"/>
                <a:gd name="T16" fmla="*/ 48 w 2880"/>
                <a:gd name="T17" fmla="*/ 2736 h 2880"/>
                <a:gd name="T18" fmla="*/ 0 w 2880"/>
                <a:gd name="T19" fmla="*/ 2880 h 28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80"/>
                <a:gd name="T31" fmla="*/ 0 h 2880"/>
                <a:gd name="T32" fmla="*/ 2880 w 2880"/>
                <a:gd name="T33" fmla="*/ 2880 h 28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80" h="2880">
                  <a:moveTo>
                    <a:pt x="2880" y="0"/>
                  </a:moveTo>
                  <a:cubicBezTo>
                    <a:pt x="2672" y="12"/>
                    <a:pt x="2464" y="24"/>
                    <a:pt x="2304" y="48"/>
                  </a:cubicBezTo>
                  <a:cubicBezTo>
                    <a:pt x="2144" y="72"/>
                    <a:pt x="2064" y="80"/>
                    <a:pt x="1920" y="144"/>
                  </a:cubicBezTo>
                  <a:cubicBezTo>
                    <a:pt x="1776" y="208"/>
                    <a:pt x="1576" y="328"/>
                    <a:pt x="1440" y="432"/>
                  </a:cubicBezTo>
                  <a:cubicBezTo>
                    <a:pt x="1304" y="536"/>
                    <a:pt x="1216" y="644"/>
                    <a:pt x="1104" y="768"/>
                  </a:cubicBezTo>
                  <a:cubicBezTo>
                    <a:pt x="992" y="892"/>
                    <a:pt x="870" y="1040"/>
                    <a:pt x="766" y="1176"/>
                  </a:cubicBezTo>
                  <a:cubicBezTo>
                    <a:pt x="662" y="1312"/>
                    <a:pt x="568" y="1428"/>
                    <a:pt x="480" y="1584"/>
                  </a:cubicBezTo>
                  <a:cubicBezTo>
                    <a:pt x="392" y="1740"/>
                    <a:pt x="312" y="1920"/>
                    <a:pt x="240" y="2112"/>
                  </a:cubicBezTo>
                  <a:cubicBezTo>
                    <a:pt x="168" y="2304"/>
                    <a:pt x="88" y="2608"/>
                    <a:pt x="48" y="2736"/>
                  </a:cubicBezTo>
                  <a:cubicBezTo>
                    <a:pt x="8" y="2864"/>
                    <a:pt x="8" y="2856"/>
                    <a:pt x="0" y="2880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</p:grpSp>
      <p:sp>
        <p:nvSpPr>
          <p:cNvPr id="29701" name="Text Box 82">
            <a:extLst>
              <a:ext uri="{FF2B5EF4-FFF2-40B4-BE49-F238E27FC236}">
                <a16:creationId xmlns:a16="http://schemas.microsoft.com/office/drawing/2014/main" id="{0A691302-3163-4A31-A604-6B257629A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0539" y="3126312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400">
                <a:latin typeface="Comic Sans MS" panose="030F0702030302020204" pitchFamily="66" charset="0"/>
              </a:rPr>
              <a:t>AUC = 50%</a:t>
            </a:r>
          </a:p>
        </p:txBody>
      </p:sp>
      <p:sp>
        <p:nvSpPr>
          <p:cNvPr id="29702" name="Text Box 83">
            <a:extLst>
              <a:ext uri="{FF2B5EF4-FFF2-40B4-BE49-F238E27FC236}">
                <a16:creationId xmlns:a16="http://schemas.microsoft.com/office/drawing/2014/main" id="{9008F424-79DD-42CD-B840-6190ECE57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3339" y="4805208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400">
                <a:latin typeface="Comic Sans MS" panose="030F0702030302020204" pitchFamily="66" charset="0"/>
              </a:rPr>
              <a:t>AUC = 90%</a:t>
            </a:r>
          </a:p>
        </p:txBody>
      </p:sp>
      <p:sp>
        <p:nvSpPr>
          <p:cNvPr id="29703" name="Text Box 84">
            <a:extLst>
              <a:ext uri="{FF2B5EF4-FFF2-40B4-BE49-F238E27FC236}">
                <a16:creationId xmlns:a16="http://schemas.microsoft.com/office/drawing/2014/main" id="{502B5AB3-BA06-4643-A754-F3CD84A2A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0540" y="5338608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400">
                <a:latin typeface="Comic Sans MS" panose="030F0702030302020204" pitchFamily="66" charset="0"/>
              </a:rPr>
              <a:t>AUC = 65%</a:t>
            </a:r>
          </a:p>
        </p:txBody>
      </p:sp>
      <p:sp>
        <p:nvSpPr>
          <p:cNvPr id="29704" name="Text Box 85">
            <a:extLst>
              <a:ext uri="{FF2B5EF4-FFF2-40B4-BE49-F238E27FC236}">
                <a16:creationId xmlns:a16="http://schemas.microsoft.com/office/drawing/2014/main" id="{4FBA542A-9B62-48B1-AB77-4FBA3BB31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739" y="1914214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s-ES" sz="2400">
                <a:latin typeface="Comic Sans MS" panose="030F0702030302020204" pitchFamily="66" charset="0"/>
              </a:rPr>
              <a:t>AUC = 100%</a:t>
            </a:r>
          </a:p>
        </p:txBody>
      </p:sp>
      <p:grpSp>
        <p:nvGrpSpPr>
          <p:cNvPr id="29705" name="Group 100">
            <a:extLst>
              <a:ext uri="{FF2B5EF4-FFF2-40B4-BE49-F238E27FC236}">
                <a16:creationId xmlns:a16="http://schemas.microsoft.com/office/drawing/2014/main" id="{333D2256-66D6-4977-AFEE-B1FF8A7BE983}"/>
              </a:ext>
            </a:extLst>
          </p:cNvPr>
          <p:cNvGrpSpPr>
            <a:grpSpLocks/>
          </p:cNvGrpSpPr>
          <p:nvPr/>
        </p:nvGrpSpPr>
        <p:grpSpPr bwMode="auto">
          <a:xfrm>
            <a:off x="3216139" y="1304613"/>
            <a:ext cx="2514600" cy="2362201"/>
            <a:chOff x="1008" y="912"/>
            <a:chExt cx="1536" cy="1488"/>
          </a:xfrm>
        </p:grpSpPr>
        <p:sp>
          <p:nvSpPr>
            <p:cNvPr id="29731" name="Line 101">
              <a:extLst>
                <a:ext uri="{FF2B5EF4-FFF2-40B4-BE49-F238E27FC236}">
                  <a16:creationId xmlns:a16="http://schemas.microsoft.com/office/drawing/2014/main" id="{13E4429A-ADAB-4DAE-A44D-B943A54864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912"/>
              <a:ext cx="1536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  <p:sp>
          <p:nvSpPr>
            <p:cNvPr id="29732" name="Line 102">
              <a:extLst>
                <a:ext uri="{FF2B5EF4-FFF2-40B4-BE49-F238E27FC236}">
                  <a16:creationId xmlns:a16="http://schemas.microsoft.com/office/drawing/2014/main" id="{1AEE7593-38FA-4918-844B-5055882CF0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64" y="1656"/>
              <a:ext cx="1488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</p:grpSp>
      <p:sp>
        <p:nvSpPr>
          <p:cNvPr id="29706" name="Line 103">
            <a:extLst>
              <a:ext uri="{FF2B5EF4-FFF2-40B4-BE49-F238E27FC236}">
                <a16:creationId xmlns:a16="http://schemas.microsoft.com/office/drawing/2014/main" id="{B2D69C69-5F50-4208-BA2E-A9EF61D52DAF}"/>
              </a:ext>
            </a:extLst>
          </p:cNvPr>
          <p:cNvSpPr>
            <a:spLocks noChangeShapeType="1"/>
          </p:cNvSpPr>
          <p:nvPr/>
        </p:nvSpPr>
        <p:spPr bwMode="auto">
          <a:xfrm rot="56398" flipH="1">
            <a:off x="7330939" y="1373711"/>
            <a:ext cx="2362201" cy="22860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 sz="2101"/>
          </a:p>
        </p:txBody>
      </p:sp>
      <p:grpSp>
        <p:nvGrpSpPr>
          <p:cNvPr id="29707" name="Group 104">
            <a:extLst>
              <a:ext uri="{FF2B5EF4-FFF2-40B4-BE49-F238E27FC236}">
                <a16:creationId xmlns:a16="http://schemas.microsoft.com/office/drawing/2014/main" id="{9E2ABDFF-1160-4DFA-BC08-DF9494BB2E76}"/>
              </a:ext>
            </a:extLst>
          </p:cNvPr>
          <p:cNvGrpSpPr>
            <a:grpSpLocks/>
          </p:cNvGrpSpPr>
          <p:nvPr/>
        </p:nvGrpSpPr>
        <p:grpSpPr bwMode="auto">
          <a:xfrm>
            <a:off x="2606539" y="4195607"/>
            <a:ext cx="3359047" cy="2488613"/>
            <a:chOff x="1488" y="896"/>
            <a:chExt cx="3789" cy="3230"/>
          </a:xfrm>
        </p:grpSpPr>
        <p:grpSp>
          <p:nvGrpSpPr>
            <p:cNvPr id="29709" name="Group 105">
              <a:extLst>
                <a:ext uri="{FF2B5EF4-FFF2-40B4-BE49-F238E27FC236}">
                  <a16:creationId xmlns:a16="http://schemas.microsoft.com/office/drawing/2014/main" id="{935B776A-9E33-4D68-8DFD-9E28284C2D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912"/>
              <a:ext cx="2880" cy="2880"/>
              <a:chOff x="1488" y="720"/>
              <a:chExt cx="2880" cy="2880"/>
            </a:xfrm>
          </p:grpSpPr>
          <p:sp>
            <p:nvSpPr>
              <p:cNvPr id="29729" name="Line 106">
                <a:extLst>
                  <a:ext uri="{FF2B5EF4-FFF2-40B4-BE49-F238E27FC236}">
                    <a16:creationId xmlns:a16="http://schemas.microsoft.com/office/drawing/2014/main" id="{9DD010B8-A2B8-470C-995B-3DA864995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720"/>
                <a:ext cx="28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9730" name="Line 107">
                <a:extLst>
                  <a:ext uri="{FF2B5EF4-FFF2-40B4-BE49-F238E27FC236}">
                    <a16:creationId xmlns:a16="http://schemas.microsoft.com/office/drawing/2014/main" id="{0E09715E-A825-4476-A53B-79EDD99EFA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720"/>
                <a:ext cx="0" cy="28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</p:grpSp>
        <p:grpSp>
          <p:nvGrpSpPr>
            <p:cNvPr id="29710" name="Group 108">
              <a:extLst>
                <a:ext uri="{FF2B5EF4-FFF2-40B4-BE49-F238E27FC236}">
                  <a16:creationId xmlns:a16="http://schemas.microsoft.com/office/drawing/2014/main" id="{7FDFBB37-9E7A-4C9C-8EBF-A730BAD4F1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912"/>
              <a:ext cx="720" cy="2987"/>
              <a:chOff x="816" y="720"/>
              <a:chExt cx="720" cy="2987"/>
            </a:xfrm>
          </p:grpSpPr>
          <p:sp>
            <p:nvSpPr>
              <p:cNvPr id="29725" name="Line 109">
                <a:extLst>
                  <a:ext uri="{FF2B5EF4-FFF2-40B4-BE49-F238E27FC236}">
                    <a16:creationId xmlns:a16="http://schemas.microsoft.com/office/drawing/2014/main" id="{047E046E-6074-4BC7-8156-D040BDAEC7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8" y="720"/>
                <a:ext cx="0" cy="28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9726" name="Text Box 110">
                <a:extLst>
                  <a:ext uri="{FF2B5EF4-FFF2-40B4-BE49-F238E27FC236}">
                    <a16:creationId xmlns:a16="http://schemas.microsoft.com/office/drawing/2014/main" id="{3562129B-B0C3-4018-8D12-2D40E4C1CE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258" y="1979"/>
                <a:ext cx="1726" cy="5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200"/>
                  <a:t>True Positive Rate</a:t>
                </a:r>
              </a:p>
            </p:txBody>
          </p:sp>
          <p:sp>
            <p:nvSpPr>
              <p:cNvPr id="29727" name="Text Box 111">
                <a:extLst>
                  <a:ext uri="{FF2B5EF4-FFF2-40B4-BE49-F238E27FC236}">
                    <a16:creationId xmlns:a16="http://schemas.microsoft.com/office/drawing/2014/main" id="{01F5BE39-D269-4E6B-99B8-6BC8724B9E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3407"/>
                <a:ext cx="432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900" dirty="0"/>
                  <a:t>0%</a:t>
                </a:r>
              </a:p>
            </p:txBody>
          </p:sp>
          <p:sp>
            <p:nvSpPr>
              <p:cNvPr id="29728" name="Text Box 112">
                <a:extLst>
                  <a:ext uri="{FF2B5EF4-FFF2-40B4-BE49-F238E27FC236}">
                    <a16:creationId xmlns:a16="http://schemas.microsoft.com/office/drawing/2014/main" id="{D54DA80C-0516-4163-A3C0-8A688F6932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770"/>
                <a:ext cx="623" cy="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/>
                  <a:t>100%</a:t>
                </a:r>
              </a:p>
            </p:txBody>
          </p:sp>
        </p:grpSp>
        <p:grpSp>
          <p:nvGrpSpPr>
            <p:cNvPr id="29711" name="Group 113">
              <a:extLst>
                <a:ext uri="{FF2B5EF4-FFF2-40B4-BE49-F238E27FC236}">
                  <a16:creationId xmlns:a16="http://schemas.microsoft.com/office/drawing/2014/main" id="{C261969A-C087-4164-90FD-91285A249D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3" y="3425"/>
              <a:ext cx="3214" cy="701"/>
              <a:chOff x="1391" y="3233"/>
              <a:chExt cx="3214" cy="701"/>
            </a:xfrm>
          </p:grpSpPr>
          <p:sp>
            <p:nvSpPr>
              <p:cNvPr id="29721" name="Line 114">
                <a:extLst>
                  <a:ext uri="{FF2B5EF4-FFF2-40B4-BE49-F238E27FC236}">
                    <a16:creationId xmlns:a16="http://schemas.microsoft.com/office/drawing/2014/main" id="{3F429094-5DE6-4953-9912-5826B1628B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2928" y="2160"/>
                <a:ext cx="0" cy="28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s-ES" sz="2101"/>
              </a:p>
            </p:txBody>
          </p:sp>
          <p:sp>
            <p:nvSpPr>
              <p:cNvPr id="29722" name="Text Box 115">
                <a:extLst>
                  <a:ext uri="{FF2B5EF4-FFF2-40B4-BE49-F238E27FC236}">
                    <a16:creationId xmlns:a16="http://schemas.microsoft.com/office/drawing/2014/main" id="{E7C12002-10CF-4398-90F4-C26CC599A8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8" y="3233"/>
                <a:ext cx="1684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200" dirty="0"/>
                  <a:t>False Positive Rate</a:t>
                </a:r>
              </a:p>
            </p:txBody>
          </p:sp>
          <p:sp>
            <p:nvSpPr>
              <p:cNvPr id="29723" name="Text Box 116">
                <a:extLst>
                  <a:ext uri="{FF2B5EF4-FFF2-40B4-BE49-F238E27FC236}">
                    <a16:creationId xmlns:a16="http://schemas.microsoft.com/office/drawing/2014/main" id="{CA9BE8F6-BC9D-4793-856F-56D1B6BDDA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1" y="3614"/>
                <a:ext cx="466" cy="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 dirty="0"/>
                  <a:t>0%</a:t>
                </a:r>
              </a:p>
            </p:txBody>
          </p:sp>
          <p:sp>
            <p:nvSpPr>
              <p:cNvPr id="29724" name="Text Box 117">
                <a:extLst>
                  <a:ext uri="{FF2B5EF4-FFF2-40B4-BE49-F238E27FC236}">
                    <a16:creationId xmlns:a16="http://schemas.microsoft.com/office/drawing/2014/main" id="{59C0E700-D350-4BBB-A556-4F94D5EAD6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3" y="3581"/>
                <a:ext cx="622" cy="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s-ES" sz="1000" dirty="0"/>
                  <a:t>100%</a:t>
                </a:r>
              </a:p>
            </p:txBody>
          </p:sp>
        </p:grpSp>
        <p:sp>
          <p:nvSpPr>
            <p:cNvPr id="29712" name="Oval 118">
              <a:extLst>
                <a:ext uri="{FF2B5EF4-FFF2-40B4-BE49-F238E27FC236}">
                  <a16:creationId xmlns:a16="http://schemas.microsoft.com/office/drawing/2014/main" id="{2E68115C-0009-4917-8073-7EB486BF0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91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9713" name="Oval 119">
              <a:extLst>
                <a:ext uri="{FF2B5EF4-FFF2-40B4-BE49-F238E27FC236}">
                  <a16:creationId xmlns:a16="http://schemas.microsoft.com/office/drawing/2014/main" id="{5AF76B94-24DD-4F8E-988A-7F32E3BF8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0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9714" name="Oval 120">
              <a:extLst>
                <a:ext uri="{FF2B5EF4-FFF2-40B4-BE49-F238E27FC236}">
                  <a16:creationId xmlns:a16="http://schemas.microsoft.com/office/drawing/2014/main" id="{F5655C20-D82B-4DD7-8738-42B4B5EA7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15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9715" name="Oval 121">
              <a:extLst>
                <a:ext uri="{FF2B5EF4-FFF2-40B4-BE49-F238E27FC236}">
                  <a16:creationId xmlns:a16="http://schemas.microsoft.com/office/drawing/2014/main" id="{60B5AA6D-D737-4A97-8AA9-1CEEF6AE3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48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9716" name="Oval 122">
              <a:extLst>
                <a:ext uri="{FF2B5EF4-FFF2-40B4-BE49-F238E27FC236}">
                  <a16:creationId xmlns:a16="http://schemas.microsoft.com/office/drawing/2014/main" id="{69745E5B-E9CE-42F7-9C91-80E057149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20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9717" name="Oval 123">
              <a:extLst>
                <a:ext uri="{FF2B5EF4-FFF2-40B4-BE49-F238E27FC236}">
                  <a16:creationId xmlns:a16="http://schemas.microsoft.com/office/drawing/2014/main" id="{F16EE62C-6144-478B-92F4-81E19A6F5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78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9718" name="Oval 124">
              <a:extLst>
                <a:ext uri="{FF2B5EF4-FFF2-40B4-BE49-F238E27FC236}">
                  <a16:creationId xmlns:a16="http://schemas.microsoft.com/office/drawing/2014/main" id="{2202C5B2-A8B8-4B7C-B165-1C143E0A0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6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9719" name="Oval 125">
              <a:extLst>
                <a:ext uri="{FF2B5EF4-FFF2-40B4-BE49-F238E27FC236}">
                  <a16:creationId xmlns:a16="http://schemas.microsoft.com/office/drawing/2014/main" id="{D97BFFB3-CD06-4598-973F-717729E11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50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9720" name="Freeform 126">
              <a:extLst>
                <a:ext uri="{FF2B5EF4-FFF2-40B4-BE49-F238E27FC236}">
                  <a16:creationId xmlns:a16="http://schemas.microsoft.com/office/drawing/2014/main" id="{EC073C88-2F5D-44F4-BB8B-9D59EF697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896"/>
              <a:ext cx="2888" cy="2896"/>
            </a:xfrm>
            <a:custGeom>
              <a:avLst/>
              <a:gdLst>
                <a:gd name="T0" fmla="*/ 2888 w 2888"/>
                <a:gd name="T1" fmla="*/ 16 h 2896"/>
                <a:gd name="T2" fmla="*/ 1400 w 2888"/>
                <a:gd name="T3" fmla="*/ 16 h 2896"/>
                <a:gd name="T4" fmla="*/ 872 w 2888"/>
                <a:gd name="T5" fmla="*/ 112 h 2896"/>
                <a:gd name="T6" fmla="*/ 488 w 2888"/>
                <a:gd name="T7" fmla="*/ 304 h 2896"/>
                <a:gd name="T8" fmla="*/ 248 w 2888"/>
                <a:gd name="T9" fmla="*/ 640 h 2896"/>
                <a:gd name="T10" fmla="*/ 104 w 2888"/>
                <a:gd name="T11" fmla="*/ 1360 h 2896"/>
                <a:gd name="T12" fmla="*/ 56 w 2888"/>
                <a:gd name="T13" fmla="*/ 1936 h 2896"/>
                <a:gd name="T14" fmla="*/ 8 w 2888"/>
                <a:gd name="T15" fmla="*/ 2416 h 2896"/>
                <a:gd name="T16" fmla="*/ 8 w 2888"/>
                <a:gd name="T17" fmla="*/ 2896 h 289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888"/>
                <a:gd name="T28" fmla="*/ 0 h 2896"/>
                <a:gd name="T29" fmla="*/ 2888 w 2888"/>
                <a:gd name="T30" fmla="*/ 2896 h 289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888" h="2896">
                  <a:moveTo>
                    <a:pt x="2888" y="16"/>
                  </a:moveTo>
                  <a:cubicBezTo>
                    <a:pt x="2312" y="8"/>
                    <a:pt x="1736" y="0"/>
                    <a:pt x="1400" y="16"/>
                  </a:cubicBezTo>
                  <a:cubicBezTo>
                    <a:pt x="1064" y="32"/>
                    <a:pt x="1024" y="64"/>
                    <a:pt x="872" y="112"/>
                  </a:cubicBezTo>
                  <a:cubicBezTo>
                    <a:pt x="720" y="160"/>
                    <a:pt x="592" y="216"/>
                    <a:pt x="488" y="304"/>
                  </a:cubicBezTo>
                  <a:cubicBezTo>
                    <a:pt x="384" y="392"/>
                    <a:pt x="312" y="464"/>
                    <a:pt x="248" y="640"/>
                  </a:cubicBezTo>
                  <a:cubicBezTo>
                    <a:pt x="184" y="816"/>
                    <a:pt x="136" y="1144"/>
                    <a:pt x="104" y="1360"/>
                  </a:cubicBezTo>
                  <a:cubicBezTo>
                    <a:pt x="72" y="1576"/>
                    <a:pt x="72" y="1760"/>
                    <a:pt x="56" y="1936"/>
                  </a:cubicBezTo>
                  <a:cubicBezTo>
                    <a:pt x="40" y="2112"/>
                    <a:pt x="16" y="2256"/>
                    <a:pt x="8" y="2416"/>
                  </a:cubicBezTo>
                  <a:cubicBezTo>
                    <a:pt x="0" y="2576"/>
                    <a:pt x="8" y="2816"/>
                    <a:pt x="8" y="2896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s-ES" sz="2101"/>
            </a:p>
          </p:txBody>
        </p:sp>
      </p:grpSp>
      <p:sp>
        <p:nvSpPr>
          <p:cNvPr id="29708" name="Rectangle 127">
            <a:extLst>
              <a:ext uri="{FF2B5EF4-FFF2-40B4-BE49-F238E27FC236}">
                <a16:creationId xmlns:a16="http://schemas.microsoft.com/office/drawing/2014/main" id="{B3F67B6D-EB70-4DCA-9BD8-740549DDB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s-ES" dirty="0"/>
              <a:t>AUC for ROC curves</a:t>
            </a:r>
          </a:p>
        </p:txBody>
      </p:sp>
    </p:spTree>
    <p:extLst>
      <p:ext uri="{BB962C8B-B14F-4D97-AF65-F5344CB8AC3E}">
        <p14:creationId xmlns:p14="http://schemas.microsoft.com/office/powerpoint/2010/main" val="12930370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</Words>
  <Application>Microsoft Office PowerPoint</Application>
  <PresentationFormat>Panorámica</PresentationFormat>
  <Paragraphs>131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Comic Sans MS</vt:lpstr>
      <vt:lpstr>Tema de Office</vt:lpstr>
      <vt:lpstr>Performance assessment</vt:lpstr>
      <vt:lpstr>ROC curves:  Simplest case</vt:lpstr>
      <vt:lpstr>Specific Example</vt:lpstr>
      <vt:lpstr>Threshold</vt:lpstr>
      <vt:lpstr>Some definitions</vt:lpstr>
      <vt:lpstr>Some definitions</vt:lpstr>
      <vt:lpstr>Some definitions</vt:lpstr>
      <vt:lpstr>Some definitions</vt:lpstr>
      <vt:lpstr>Terminology to measure the performance of classifiers</vt:lpstr>
      <vt:lpstr>Many ways to deal with this contingency table</vt:lpstr>
      <vt:lpstr>ROC curve</vt:lpstr>
      <vt:lpstr>ROC curve extremes</vt:lpstr>
      <vt:lpstr>ROC curve comparison</vt:lpstr>
      <vt:lpstr>AUC for ROC curves</vt:lpstr>
    </vt:vector>
  </TitlesOfParts>
  <Company>CAF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assessment</dc:title>
  <dc:creator>Ander Aramburu Siso</dc:creator>
  <cp:lastModifiedBy>Ander Aramburu Siso</cp:lastModifiedBy>
  <cp:revision>1</cp:revision>
  <dcterms:created xsi:type="dcterms:W3CDTF">2025-10-21T06:09:47Z</dcterms:created>
  <dcterms:modified xsi:type="dcterms:W3CDTF">2025-10-21T06:10:17Z</dcterms:modified>
</cp:coreProperties>
</file>