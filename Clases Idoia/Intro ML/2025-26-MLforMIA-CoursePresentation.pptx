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483" r:id="rId3"/>
    <p:sldId id="407" r:id="rId4"/>
    <p:sldId id="432" r:id="rId5"/>
    <p:sldId id="433" r:id="rId6"/>
    <p:sldId id="484" r:id="rId7"/>
    <p:sldId id="480" r:id="rId8"/>
    <p:sldId id="469" r:id="rId9"/>
    <p:sldId id="408" r:id="rId10"/>
    <p:sldId id="482" r:id="rId11"/>
    <p:sldId id="476" r:id="rId12"/>
    <p:sldId id="4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FEA5C-8858-3E60-2706-6A2426EA34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9A803-9E6C-3D6B-1FA9-C8360C7FD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873AE-30CC-FB06-7995-6258B737A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A469C-CE0D-E27C-C18F-2D463CBF3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50A25-3E74-7486-B239-CF902F1E4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36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BF67-110B-4AC0-E9A1-F5506AF0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98D2F-1595-8015-9137-199BACD76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72DDF-908D-8947-23E4-FBA6E8BE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FD804-7176-57BE-28C2-DFBC5EE24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1F768-D719-EB85-3EB0-2717E60F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660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F34A-73E8-107A-7643-C54088E97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606B7-6648-8E58-2D4E-578CFDC0A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C89EA-72FF-BB82-6A63-DE2FA4A28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593CC-D550-DE4C-7E1B-0F190DA15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432B5-EF7A-44D7-03E6-3E04E69B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69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D754-2F3B-9120-A2DE-9004B8AF0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D1545-9548-F92F-213F-DFDCA410E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FF69E-68CD-6DB9-AF9A-846E1C2AB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DA6E0-EA3D-B479-73B1-4F764DBF3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241B1A-D039-1F6A-AA0D-B6203B771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CC69A-BB57-3360-B10E-33C489C0D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039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1EACC-6520-A774-CFD7-DDE632BFE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1E948-D706-2D71-7E93-3332C5789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4DC17-AB2F-0388-2E16-B976A74AE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5BDD57-86E2-5D19-4703-DD91C5C2A0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04B9E-442F-EEEF-138A-5A4F8016B5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CD2F4-3D45-E3F0-DBD4-099F567DC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2084A-B264-FC2B-AA6C-D6C89DB91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04160-6FB7-1FA1-6B54-BEA0694A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27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473A-7FC7-6A8D-3593-71A51EDD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D13F7-4319-A110-0752-174C0714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C5FB3-E836-B044-5DE9-685E5BD4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173CB-9E16-643E-FC5A-310D297E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32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8B90E7-6E94-D168-B7A6-3E938F5E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E0F4C-6E71-18C6-77C3-F7346308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68063-AFCD-9AF0-4BA5-2B7EF3DAB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68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D9C7-6968-2574-662F-40FE5C389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383B4-18E7-81FB-F772-961FD83E2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C14B0-1477-B7D3-E1D6-C72C31575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6C3EBF-4020-85FC-EC36-A2E2C6B6F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A23EC-7287-97E1-CCBB-0B57E58A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40F1D-BCED-9C9E-B86B-13E72882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8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BA0AD-7F80-86B7-C574-62CBAD460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FFA9A8-B71A-23A0-CB1C-EE81A4495F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C7372-14AA-35DC-A4FE-991247CE1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EF20A-E68C-F01D-9064-3598761A6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B63CF-605C-2EAC-84D5-B8E8FB2A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4B959-C4EA-C6DD-00B4-E6349134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6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B559-C3AA-83DA-97D1-A0A365A74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E32C6-701B-614B-FCF9-FC9AB8EB0B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2DC47-25BB-739D-3C18-9688D154E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DE1A7-FDFD-FCC2-1EBD-43254F1B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DA942-6E61-4E87-2BE7-7447060A7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17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A4F93-3570-0FDD-CDB6-C0FCC2FF7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0AEB9-2875-D993-077F-15355EABB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89278-1CDC-CEA3-CBC8-CAE879436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9270B0-DA2B-3322-AA1D-1E5B7B573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D23D0-FA04-C522-A0A6-86C83A053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597123-190D-3A17-AF19-6161C4538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A1383-8C13-0CDC-589A-E9695E513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481D3-25F9-E6D2-03D1-541586923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355C6-E165-C34D-AB0B-002D4C8E4A43}" type="datetimeFigureOut">
              <a:rPr lang="en-US" smtClean="0"/>
              <a:t>10/13/25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251D7-F8B1-B2AE-6150-8F91F68F4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D9EB2-7A6D-C115-445D-A5C947749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A7CD7-28E1-D445-8272-815669634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7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owledgeisle.com/wp-content/uploads/2019/12/2-Aur%C3%A9lien-G%C3%A9ron-Hands-On-Machine-Learning-with-Scikit-Learn-Keras-and-Tensorflow_-Concepts-Tools-and-Techniques-to-Build-Intelligent-Systems-O%E2%80%99Reilly-Media-2019.pdf" TargetMode="External"/><Relationship Id="rId2" Type="http://schemas.openxmlformats.org/officeDocument/2006/relationships/hyperlink" Target="https://www.amazon.es/Hands-Machine-Learning-Scikit-Learn-TensorFlow-ebook/dp/B07XGF2G8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me.unicamp.br/~dias/Intoduction%20to%20Statistical%20Learning.pdf" TargetMode="External"/><Relationship Id="rId5" Type="http://schemas.openxmlformats.org/officeDocument/2006/relationships/hyperlink" Target="https://www.statlearning.com/" TargetMode="External"/><Relationship Id="rId4" Type="http://schemas.openxmlformats.org/officeDocument/2006/relationships/hyperlink" Target="https://cs229.stanford.edu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F493C-DC82-A84D-8AEC-8E21AE52C1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525C1-EBA9-2949-A04D-0533DF151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908"/>
            <a:ext cx="9144000" cy="1655762"/>
          </a:xfrm>
        </p:spPr>
        <p:txBody>
          <a:bodyPr>
            <a:normAutofit/>
          </a:bodyPr>
          <a:lstStyle/>
          <a:p>
            <a:r>
              <a:rPr lang="en-US"/>
              <a:t>Course 2025/26</a:t>
            </a:r>
            <a:endParaRPr lang="en-US" dirty="0"/>
          </a:p>
          <a:p>
            <a:r>
              <a:rPr lang="en-US" dirty="0"/>
              <a:t>TECNUN – University of Navarra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Idoia Ochoa</a:t>
            </a:r>
          </a:p>
        </p:txBody>
      </p:sp>
    </p:spTree>
    <p:extLst>
      <p:ext uri="{BB962C8B-B14F-4D97-AF65-F5344CB8AC3E}">
        <p14:creationId xmlns:p14="http://schemas.microsoft.com/office/powerpoint/2010/main" val="2207332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147060-434C-5644-B0B1-6A09745F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Course Syllabus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3D68AC-65B3-A69B-FB63-8BA6A3230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105593"/>
              </p:ext>
            </p:extLst>
          </p:nvPr>
        </p:nvGraphicFramePr>
        <p:xfrm>
          <a:off x="838200" y="1690688"/>
          <a:ext cx="9349409" cy="3543512"/>
        </p:xfrm>
        <a:graphic>
          <a:graphicData uri="http://schemas.openxmlformats.org/drawingml/2006/table">
            <a:tbl>
              <a:tblPr/>
              <a:tblGrid>
                <a:gridCol w="1782176">
                  <a:extLst>
                    <a:ext uri="{9D8B030D-6E8A-4147-A177-3AD203B41FA5}">
                      <a16:colId xmlns:a16="http://schemas.microsoft.com/office/drawing/2014/main" val="2273357160"/>
                    </a:ext>
                  </a:extLst>
                </a:gridCol>
                <a:gridCol w="915646">
                  <a:extLst>
                    <a:ext uri="{9D8B030D-6E8A-4147-A177-3AD203B41FA5}">
                      <a16:colId xmlns:a16="http://schemas.microsoft.com/office/drawing/2014/main" val="2336875493"/>
                    </a:ext>
                  </a:extLst>
                </a:gridCol>
                <a:gridCol w="1810242">
                  <a:extLst>
                    <a:ext uri="{9D8B030D-6E8A-4147-A177-3AD203B41FA5}">
                      <a16:colId xmlns:a16="http://schemas.microsoft.com/office/drawing/2014/main" val="3294788656"/>
                    </a:ext>
                  </a:extLst>
                </a:gridCol>
                <a:gridCol w="4841345">
                  <a:extLst>
                    <a:ext uri="{9D8B030D-6E8A-4147-A177-3AD203B41FA5}">
                      <a16:colId xmlns:a16="http://schemas.microsoft.com/office/drawing/2014/main" val="1979297694"/>
                    </a:ext>
                  </a:extLst>
                </a:gridCol>
              </a:tblGrid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Session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Instructor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Material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0430510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Martes 14 Octubre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Idoia Ochoa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Intro to ML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68464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Miercoles 15 Octubre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Francis Planes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Unsupervised learning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333779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Jueves 16 Octubre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Idoia Ochoa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Supervised learning: linear and logistic regression and GD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895094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Lunes 20 Octubre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Ander Aramburu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Sesion 1: Contextualización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904892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Martes 21 Octubre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Ander Aramburu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Sesion 2: Metodología dato continuo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582100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Miercoles 22 Octubre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Francis Planes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Supervised learning: SVM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896605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Jueves 23 Octubre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Idoia Ochoa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Feature selection and feature engineering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888777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Lunes 27 Octubre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Ander Aramburu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Sesion 3: Metodología datos de interés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420226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Martes 28 Octubre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Ander Aramburu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Sesion 4: Modelos predictivos y final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119880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Viernes 31 Octubre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Idoia Ochoa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Supervised learning: kNN and ensemble methods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16376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751507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presentation (via video)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596220"/>
                  </a:ext>
                </a:extLst>
              </a:tr>
              <a:tr h="2531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Jueves 6 </a:t>
                      </a:r>
                      <a:r>
                        <a:rPr lang="en-US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Noviembre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10am-1pm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EXAM (no computers)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528" marR="10528" marT="1052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76827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33B6C1-15F6-367E-4EF9-7CB97E14F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06277"/>
            <a:ext cx="10515600" cy="86470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Programming languages</a:t>
            </a:r>
          </a:p>
          <a:p>
            <a:pPr lvl="1"/>
            <a:r>
              <a:rPr lang="en-US" dirty="0"/>
              <a:t>Python (Francis Planes and Idoia Ochoa)</a:t>
            </a:r>
          </a:p>
          <a:p>
            <a:pPr lvl="1"/>
            <a:r>
              <a:rPr lang="en-US" dirty="0"/>
              <a:t>R (Ander </a:t>
            </a:r>
            <a:r>
              <a:rPr lang="en-US" dirty="0" err="1"/>
              <a:t>Aramburu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40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C1D9-4C61-5840-973A-451A6D64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grade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72009-4E46-9649-817C-BBCEB2A7D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30%: Individual assignments</a:t>
            </a:r>
          </a:p>
          <a:p>
            <a:pPr lvl="1"/>
            <a:r>
              <a:rPr lang="en-US" dirty="0"/>
              <a:t>11% Idoia Ochoa</a:t>
            </a:r>
          </a:p>
          <a:p>
            <a:pPr lvl="1"/>
            <a:r>
              <a:rPr lang="en-US" dirty="0"/>
              <a:t>8% Francis Planes</a:t>
            </a:r>
          </a:p>
          <a:p>
            <a:pPr lvl="1"/>
            <a:r>
              <a:rPr lang="en-US" dirty="0"/>
              <a:t>11% Ander Aramburu</a:t>
            </a:r>
          </a:p>
          <a:p>
            <a:pPr lvl="1"/>
            <a:r>
              <a:rPr lang="en-US" dirty="0"/>
              <a:t>Extra optional assignments may be suggested to increase the final grade (max. 1 point out of 10).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40%: Course project</a:t>
            </a:r>
          </a:p>
          <a:p>
            <a:pPr lvl="1"/>
            <a:r>
              <a:rPr lang="en-US" dirty="0"/>
              <a:t>In pairs</a:t>
            </a:r>
          </a:p>
          <a:p>
            <a:pPr lvl="1"/>
            <a:r>
              <a:rPr lang="en-US" dirty="0"/>
              <a:t>Apply ML to a prediction task</a:t>
            </a:r>
          </a:p>
          <a:p>
            <a:pPr lvl="1"/>
            <a:r>
              <a:rPr lang="en-US" dirty="0"/>
              <a:t>Presentation: via video (more details to come)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30% Exam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Thursday November 6, 10am-1pm</a:t>
            </a:r>
          </a:p>
          <a:p>
            <a:pPr lvl="1"/>
            <a:r>
              <a:rPr lang="en-US" dirty="0"/>
              <a:t>No computers</a:t>
            </a:r>
          </a:p>
        </p:txBody>
      </p:sp>
    </p:spTree>
    <p:extLst>
      <p:ext uri="{BB962C8B-B14F-4D97-AF65-F5344CB8AC3E}">
        <p14:creationId xmlns:p14="http://schemas.microsoft.com/office/powerpoint/2010/main" val="462563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ECCC8-FF85-CF8B-843C-2B61B9755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DF454-970A-13DE-0CCD-E8F4B2EB4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 pairs</a:t>
            </a:r>
          </a:p>
          <a:p>
            <a:r>
              <a:rPr lang="en-US" dirty="0"/>
              <a:t>Apply ”traditional” ML to solve a supervised learning problem</a:t>
            </a:r>
          </a:p>
          <a:p>
            <a:pPr lvl="1"/>
            <a:r>
              <a:rPr lang="en-US" b="1" dirty="0"/>
              <a:t>Dataset will be provided</a:t>
            </a:r>
          </a:p>
          <a:p>
            <a:r>
              <a:rPr lang="en-US" dirty="0"/>
              <a:t>Programming language: Python (recommended) or R</a:t>
            </a:r>
          </a:p>
          <a:p>
            <a:r>
              <a:rPr lang="en-US" dirty="0"/>
              <a:t>Deliverables (due: </a:t>
            </a:r>
            <a:r>
              <a:rPr lang="en-US" dirty="0">
                <a:highlight>
                  <a:srgbClr val="FFFF00"/>
                </a:highlight>
              </a:rPr>
              <a:t>Monday November 10</a:t>
            </a:r>
            <a:r>
              <a:rPr lang="en-US" baseline="30000" dirty="0">
                <a:highlight>
                  <a:srgbClr val="FFFF00"/>
                </a:highlight>
              </a:rPr>
              <a:t>th</a:t>
            </a:r>
            <a:r>
              <a:rPr lang="en-US" dirty="0">
                <a:highlight>
                  <a:srgbClr val="FFFF00"/>
                </a:highlight>
              </a:rPr>
              <a:t> at 11.59pm</a:t>
            </a:r>
            <a:r>
              <a:rPr lang="en-US" dirty="0"/>
              <a:t>)</a:t>
            </a:r>
          </a:p>
          <a:p>
            <a:pPr lvl="1"/>
            <a:r>
              <a:rPr lang="en-US" u="sng" dirty="0"/>
              <a:t>Code</a:t>
            </a:r>
            <a:r>
              <a:rPr lang="en-US" dirty="0"/>
              <a:t> used in the project and instructions on how to run the code (e.g., the code could be deposited in GitHub or send as a zip folder with a README file).</a:t>
            </a:r>
          </a:p>
          <a:p>
            <a:pPr lvl="1"/>
            <a:r>
              <a:rPr lang="en-US" u="sng" dirty="0"/>
              <a:t>Report</a:t>
            </a:r>
            <a:r>
              <a:rPr lang="en-US" dirty="0"/>
              <a:t>: problem statement, information about the datasets, employed methodology, results, and conclusions/discussions. Either a PDF (around 2 pages) or embedded within a </a:t>
            </a:r>
            <a:r>
              <a:rPr lang="en-US" dirty="0" err="1"/>
              <a:t>Jupyter</a:t>
            </a:r>
            <a:r>
              <a:rPr lang="en-US" dirty="0"/>
              <a:t> Notebook.</a:t>
            </a:r>
          </a:p>
          <a:p>
            <a:pPr lvl="1"/>
            <a:r>
              <a:rPr lang="en-US" u="sng" dirty="0"/>
              <a:t>Presentation</a:t>
            </a:r>
            <a:r>
              <a:rPr lang="en-US" dirty="0"/>
              <a:t> via recorded video (with slides, you cannot go through the notebooks)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672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8026-6FCC-0175-917A-745B56D1C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4A952-5046-A065-FB90-6067A871E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  <a:p>
            <a:pPr lvl="1"/>
            <a:r>
              <a:rPr lang="en-US" dirty="0"/>
              <a:t>Performance on the test set</a:t>
            </a:r>
          </a:p>
          <a:p>
            <a:pPr lvl="1"/>
            <a:r>
              <a:rPr lang="en-US" dirty="0"/>
              <a:t>Quality of the deliverables</a:t>
            </a:r>
          </a:p>
          <a:p>
            <a:pPr lvl="1"/>
            <a:r>
              <a:rPr lang="en-US" dirty="0"/>
              <a:t>Methodology employed</a:t>
            </a:r>
          </a:p>
          <a:p>
            <a:pPr lvl="2"/>
            <a:r>
              <a:rPr lang="en-US" dirty="0"/>
              <a:t>Analysis of the dataset</a:t>
            </a:r>
          </a:p>
          <a:p>
            <a:pPr lvl="2"/>
            <a:r>
              <a:rPr lang="en-US" dirty="0"/>
              <a:t>Use of appropriate metrics</a:t>
            </a:r>
          </a:p>
          <a:p>
            <a:pPr lvl="2"/>
            <a:r>
              <a:rPr lang="en-US" dirty="0"/>
              <a:t>Use of different techniques -&gt; potentially not covered in class</a:t>
            </a:r>
          </a:p>
          <a:p>
            <a:pPr lvl="2"/>
            <a:r>
              <a:rPr lang="en-US" dirty="0"/>
              <a:t>Encounter problems and how they were solved (if any)</a:t>
            </a:r>
          </a:p>
          <a:p>
            <a:pPr lvl="2"/>
            <a:r>
              <a:rPr lang="en-US" dirty="0"/>
              <a:t>Understanding the datasets and the obtained results</a:t>
            </a:r>
          </a:p>
          <a:p>
            <a:pPr lvl="2"/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69299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ED98E-1281-57D2-A6D7-FEEDDDD90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part of the course</a:t>
            </a:r>
          </a:p>
        </p:txBody>
      </p:sp>
    </p:spTree>
    <p:extLst>
      <p:ext uri="{BB962C8B-B14F-4D97-AF65-F5344CB8AC3E}">
        <p14:creationId xmlns:p14="http://schemas.microsoft.com/office/powerpoint/2010/main" val="20032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0E7D9-BBD7-3336-29B1-466B59185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(all count the same)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29898-63F4-127C-8609-CAC2E554A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Assignment 1:</a:t>
            </a:r>
            <a:r>
              <a:rPr lang="en-US" dirty="0"/>
              <a:t> Linear models</a:t>
            </a:r>
          </a:p>
          <a:p>
            <a:r>
              <a:rPr lang="en-US" u="sng" dirty="0"/>
              <a:t>Assignment 2:</a:t>
            </a:r>
            <a:r>
              <a:rPr lang="en-US" dirty="0"/>
              <a:t> Decision Trees and Ensemble models</a:t>
            </a:r>
          </a:p>
          <a:p>
            <a:r>
              <a:rPr lang="en-US" u="sng" dirty="0"/>
              <a:t>Assignment 3:</a:t>
            </a:r>
            <a:r>
              <a:rPr lang="en-US" dirty="0"/>
              <a:t> Present a paper that uses ML to solve a problem</a:t>
            </a:r>
          </a:p>
        </p:txBody>
      </p:sp>
    </p:spTree>
    <p:extLst>
      <p:ext uri="{BB962C8B-B14F-4D97-AF65-F5344CB8AC3E}">
        <p14:creationId xmlns:p14="http://schemas.microsoft.com/office/powerpoint/2010/main" val="634197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B935D-1A49-5621-E670-6F95C043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53E53-8649-6A8B-DE9D-9FA9E3070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Look for a paper/publication where they solve a problem using machine learning (but NOT deep learning). You can use </a:t>
            </a:r>
            <a:r>
              <a:rPr lang="en-US" u="sng" dirty="0"/>
              <a:t>Google Scholar</a:t>
            </a:r>
            <a:r>
              <a:rPr lang="en-US" dirty="0"/>
              <a:t>.</a:t>
            </a:r>
          </a:p>
          <a:p>
            <a:r>
              <a:rPr lang="en-US" dirty="0"/>
              <a:t>In pairs</a:t>
            </a:r>
          </a:p>
          <a:p>
            <a:r>
              <a:rPr lang="en-US" dirty="0"/>
              <a:t>Paper presentation (10 minutes approx. followed by Q&amp;A)</a:t>
            </a:r>
          </a:p>
          <a:p>
            <a:pPr lvl="1"/>
            <a:r>
              <a:rPr lang="en-US" dirty="0"/>
              <a:t>Problem statement</a:t>
            </a:r>
          </a:p>
          <a:p>
            <a:pPr lvl="1"/>
            <a:r>
              <a:rPr lang="en-US" dirty="0"/>
              <a:t>Motivation</a:t>
            </a:r>
          </a:p>
          <a:p>
            <a:pPr lvl="1"/>
            <a:r>
              <a:rPr lang="en-US" dirty="0"/>
              <a:t>Methodology</a:t>
            </a:r>
          </a:p>
          <a:p>
            <a:pPr lvl="1"/>
            <a:r>
              <a:rPr lang="en-US" dirty="0"/>
              <a:t>Results</a:t>
            </a:r>
          </a:p>
          <a:p>
            <a:pPr lvl="1"/>
            <a:r>
              <a:rPr lang="en-US" dirty="0"/>
              <a:t>Discussion/Questions</a:t>
            </a:r>
          </a:p>
          <a:p>
            <a:r>
              <a:rPr lang="en-US" dirty="0"/>
              <a:t>Due in class on </a:t>
            </a:r>
            <a:r>
              <a:rPr lang="en-US" dirty="0">
                <a:highlight>
                  <a:srgbClr val="FFFF00"/>
                </a:highlight>
              </a:rPr>
              <a:t>Thursday October 23</a:t>
            </a:r>
            <a:r>
              <a:rPr lang="en-US" baseline="30000" dirty="0">
                <a:highlight>
                  <a:srgbClr val="FFFF00"/>
                </a:highlight>
              </a:rPr>
              <a:t>rd</a:t>
            </a:r>
            <a:r>
              <a:rPr lang="en-US" baseline="30000" dirty="0"/>
              <a:t> </a:t>
            </a:r>
            <a:r>
              <a:rPr lang="en-US" dirty="0"/>
              <a:t>(send me the slides before 9am)</a:t>
            </a:r>
          </a:p>
        </p:txBody>
      </p:sp>
    </p:spTree>
    <p:extLst>
      <p:ext uri="{BB962C8B-B14F-4D97-AF65-F5344CB8AC3E}">
        <p14:creationId xmlns:p14="http://schemas.microsoft.com/office/powerpoint/2010/main" val="314555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F788-CDFA-9441-A501-9E04AFF0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CA691-DE39-B84A-88F9-6A95FE14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Introduction to ML</a:t>
            </a:r>
          </a:p>
          <a:p>
            <a:pPr lvl="1"/>
            <a:r>
              <a:rPr lang="en-US" dirty="0"/>
              <a:t>Types of ML systems</a:t>
            </a:r>
          </a:p>
          <a:p>
            <a:pPr lvl="1"/>
            <a:r>
              <a:rPr lang="en-US" dirty="0"/>
              <a:t>Structured vs Unstructured data</a:t>
            </a:r>
          </a:p>
          <a:p>
            <a:pPr lvl="1"/>
            <a:r>
              <a:rPr lang="en-US" dirty="0"/>
              <a:t>Data cleaning and exploration</a:t>
            </a:r>
          </a:p>
          <a:p>
            <a:pPr lvl="1"/>
            <a:r>
              <a:rPr lang="en-US" dirty="0"/>
              <a:t>Evaluation metrics</a:t>
            </a:r>
          </a:p>
          <a:p>
            <a:pPr lvl="1"/>
            <a:r>
              <a:rPr lang="en-US" dirty="0"/>
              <a:t>Data splitting and cross-validation</a:t>
            </a:r>
          </a:p>
          <a:p>
            <a:pPr lvl="1"/>
            <a:r>
              <a:rPr lang="en-US" dirty="0"/>
              <a:t>Bias variance trade-off</a:t>
            </a:r>
          </a:p>
          <a:p>
            <a:r>
              <a:rPr lang="en-US" dirty="0"/>
              <a:t>Linear Models</a:t>
            </a:r>
          </a:p>
          <a:p>
            <a:pPr lvl="1"/>
            <a:r>
              <a:rPr lang="en-US" dirty="0"/>
              <a:t>Linear Regression</a:t>
            </a:r>
          </a:p>
          <a:p>
            <a:pPr lvl="1"/>
            <a:r>
              <a:rPr lang="en-US" dirty="0"/>
              <a:t>Logistic Regression -&gt; Classification metrics</a:t>
            </a:r>
          </a:p>
          <a:p>
            <a:pPr lvl="1"/>
            <a:r>
              <a:rPr lang="en-US" dirty="0" err="1"/>
              <a:t>Softmax</a:t>
            </a:r>
            <a:r>
              <a:rPr lang="en-US" dirty="0"/>
              <a:t> Regression</a:t>
            </a:r>
          </a:p>
        </p:txBody>
      </p:sp>
    </p:spTree>
    <p:extLst>
      <p:ext uri="{BB962C8B-B14F-4D97-AF65-F5344CB8AC3E}">
        <p14:creationId xmlns:p14="http://schemas.microsoft.com/office/powerpoint/2010/main" val="1118639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F788-CDFA-9441-A501-9E04AFF0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CA691-DE39-B84A-88F9-6A95FE14C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Regularization</a:t>
            </a:r>
            <a:r>
              <a:rPr lang="en-US" sz="2200" dirty="0"/>
              <a:t>: </a:t>
            </a:r>
          </a:p>
          <a:p>
            <a:pPr lvl="1"/>
            <a:r>
              <a:rPr lang="en-US" dirty="0"/>
              <a:t>Lasso, Ridge, Elastic Net</a:t>
            </a:r>
          </a:p>
          <a:p>
            <a:r>
              <a:rPr lang="en-US" sz="2600" dirty="0"/>
              <a:t>Decision Trees</a:t>
            </a:r>
          </a:p>
          <a:p>
            <a:r>
              <a:rPr lang="en-US" sz="2600" dirty="0"/>
              <a:t>Ensemble models</a:t>
            </a:r>
          </a:p>
          <a:p>
            <a:pPr lvl="1"/>
            <a:r>
              <a:rPr lang="en-US" dirty="0"/>
              <a:t>Bagging</a:t>
            </a:r>
          </a:p>
          <a:p>
            <a:pPr lvl="1"/>
            <a:r>
              <a:rPr lang="en-US" dirty="0"/>
              <a:t>Random Forest (RF)</a:t>
            </a:r>
          </a:p>
          <a:p>
            <a:pPr lvl="1"/>
            <a:r>
              <a:rPr lang="en-US" dirty="0"/>
              <a:t>Boosting</a:t>
            </a:r>
          </a:p>
          <a:p>
            <a:r>
              <a:rPr lang="en-US" dirty="0"/>
              <a:t>Feature selection vs Feature engineering </a:t>
            </a:r>
          </a:p>
          <a:p>
            <a:pPr lvl="1"/>
            <a:r>
              <a:rPr lang="en-US" dirty="0"/>
              <a:t>Forward and backward search</a:t>
            </a:r>
          </a:p>
          <a:p>
            <a:pPr lvl="1"/>
            <a:r>
              <a:rPr lang="en-US" dirty="0"/>
              <a:t>PCA</a:t>
            </a:r>
          </a:p>
        </p:txBody>
      </p:sp>
    </p:spTree>
    <p:extLst>
      <p:ext uri="{BB962C8B-B14F-4D97-AF65-F5344CB8AC3E}">
        <p14:creationId xmlns:p14="http://schemas.microsoft.com/office/powerpoint/2010/main" val="1633786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0C24-AFD9-E25F-8F22-8F3EA6B55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4BDE3-B687-9DC7-3568-92548684D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Material posted in ADI</a:t>
            </a:r>
          </a:p>
          <a:p>
            <a:r>
              <a:rPr lang="en-US" dirty="0"/>
              <a:t>Hands-On ML with Scikit-Learn, </a:t>
            </a:r>
            <a:r>
              <a:rPr lang="en-US" dirty="0" err="1"/>
              <a:t>Keras</a:t>
            </a:r>
            <a:r>
              <a:rPr lang="en-US" dirty="0"/>
              <a:t> &amp; TensorFlow: </a:t>
            </a:r>
            <a:r>
              <a:rPr lang="en-US" dirty="0">
                <a:hlinkClick r:id="rId2"/>
              </a:rPr>
              <a:t>https://www.amazon.es/Hands-Machine-Learning-Scikit-Learn-TensorFlow-ebook/dp/B07XGF2G87</a:t>
            </a:r>
            <a:r>
              <a:rPr lang="en-US" dirty="0"/>
              <a:t>  (</a:t>
            </a:r>
            <a:r>
              <a:rPr lang="en-US" dirty="0">
                <a:hlinkClick r:id="rId3"/>
              </a:rPr>
              <a:t>PDF</a:t>
            </a:r>
            <a:r>
              <a:rPr lang="en-US" dirty="0"/>
              <a:t>)</a:t>
            </a:r>
          </a:p>
          <a:p>
            <a:r>
              <a:rPr lang="en-US" dirty="0"/>
              <a:t>Andrew Ng’s notes on ML (CS229 – Stanford): </a:t>
            </a:r>
            <a:r>
              <a:rPr lang="en-US" dirty="0">
                <a:hlinkClick r:id="rId4"/>
              </a:rPr>
              <a:t>https://cs229.stanford.edu/</a:t>
            </a:r>
            <a:endParaRPr lang="en-US" dirty="0"/>
          </a:p>
          <a:p>
            <a:r>
              <a:rPr lang="en-US" dirty="0"/>
              <a:t>An introduction to statistical learning:    </a:t>
            </a:r>
            <a:r>
              <a:rPr lang="en-US" dirty="0">
                <a:hlinkClick r:id="rId5"/>
              </a:rPr>
              <a:t>https://www.statlearning.com/</a:t>
            </a:r>
            <a:r>
              <a:rPr lang="en-US" dirty="0"/>
              <a:t> (</a:t>
            </a:r>
            <a:r>
              <a:rPr lang="en-US" dirty="0">
                <a:hlinkClick r:id="rId6"/>
              </a:rPr>
              <a:t>PDF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2540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39218-A733-0B97-CF3C-E596FCB6B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9232B-18B7-0C1D-49EF-D28F7D355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Thursday October 23</a:t>
            </a:r>
            <a:r>
              <a:rPr lang="en-US" baseline="30000" dirty="0"/>
              <a:t>rd</a:t>
            </a:r>
          </a:p>
          <a:p>
            <a:pPr lvl="1"/>
            <a:r>
              <a:rPr lang="en-US" dirty="0"/>
              <a:t>Paper presentation in class</a:t>
            </a:r>
          </a:p>
          <a:p>
            <a:r>
              <a:rPr lang="en-US" dirty="0"/>
              <a:t>Thursday November 6, 10am-1pm</a:t>
            </a:r>
          </a:p>
          <a:p>
            <a:pPr lvl="1"/>
            <a:r>
              <a:rPr lang="en-US" dirty="0"/>
              <a:t>EXAM</a:t>
            </a:r>
          </a:p>
          <a:p>
            <a:r>
              <a:rPr lang="en-US" dirty="0"/>
              <a:t>Monday November 10</a:t>
            </a:r>
            <a:r>
              <a:rPr lang="en-US" baseline="30000" dirty="0"/>
              <a:t>th</a:t>
            </a:r>
            <a:r>
              <a:rPr lang="en-US" dirty="0"/>
              <a:t> at 11.59pm</a:t>
            </a:r>
          </a:p>
          <a:p>
            <a:pPr lvl="1"/>
            <a:r>
              <a:rPr lang="en-US" dirty="0"/>
              <a:t>Course project due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620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5963</TotalTime>
  <Words>673</Words>
  <Application>Microsoft Macintosh PowerPoint</Application>
  <PresentationFormat>Widescreen</PresentationFormat>
  <Paragraphs>149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Machine Learning</vt:lpstr>
      <vt:lpstr>Course Syllabus</vt:lpstr>
      <vt:lpstr>Course grade</vt:lpstr>
      <vt:lpstr>Course project</vt:lpstr>
      <vt:lpstr>Course project</vt:lpstr>
      <vt:lpstr>My part of the course</vt:lpstr>
      <vt:lpstr>Assignments (all count the same)</vt:lpstr>
      <vt:lpstr>Assignment 3</vt:lpstr>
      <vt:lpstr>Syllabus</vt:lpstr>
      <vt:lpstr>Syllabus</vt:lpstr>
      <vt:lpstr>Recommended reading</vt:lpstr>
      <vt:lpstr>Important dates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Avanzados de Inteligencia Artificial (Machine Learning)</dc:title>
  <dc:creator>Idoia Ochoa Alvarez</dc:creator>
  <cp:lastModifiedBy>Idoia Ochoa Alvarez</cp:lastModifiedBy>
  <cp:revision>94</cp:revision>
  <dcterms:created xsi:type="dcterms:W3CDTF">2022-10-12T07:54:35Z</dcterms:created>
  <dcterms:modified xsi:type="dcterms:W3CDTF">2025-10-13T12:09:23Z</dcterms:modified>
</cp:coreProperties>
</file>